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7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 a </a:t>
            </a:r>
            <a:r>
              <a:rPr lang="en-US" dirty="0" err="1"/>
              <a:t>todos</a:t>
            </a:r>
            <a:r>
              <a:rPr lang="en-US" dirty="0"/>
              <a:t>, </a:t>
            </a:r>
            <a:r>
              <a:rPr lang="en-US" dirty="0" err="1"/>
              <a:t>bienvenidos</a:t>
            </a:r>
            <a:r>
              <a:rPr lang="en-US" dirty="0"/>
              <a:t> al Proyecto de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 de </a:t>
            </a:r>
            <a:r>
              <a:rPr lang="en-US" dirty="0" err="1"/>
              <a:t>Proveedores</a:t>
            </a:r>
            <a:r>
              <a:rPr lang="en-US" dirty="0"/>
              <a:t> de </a:t>
            </a:r>
            <a:r>
              <a:rPr lang="en-US" dirty="0" err="1"/>
              <a:t>Capacitación</a:t>
            </a:r>
            <a:r>
              <a:rPr lang="en-US" dirty="0"/>
              <a:t>. </a:t>
            </a:r>
            <a:r>
              <a:rPr lang="en-US" dirty="0" err="1"/>
              <a:t>Nosotros</a:t>
            </a:r>
            <a:r>
              <a:rPr lang="en-US" dirty="0"/>
              <a:t> </a:t>
            </a:r>
            <a:r>
              <a:rPr lang="en-US" dirty="0" err="1"/>
              <a:t>somos</a:t>
            </a:r>
            <a:r>
              <a:rPr lang="en-US" dirty="0"/>
              <a:t> G6 </a:t>
            </a:r>
            <a:r>
              <a:rPr lang="en-US" dirty="0" err="1"/>
              <a:t>consultores</a:t>
            </a:r>
            <a:r>
              <a:rPr lang="en-US" dirty="0"/>
              <a:t>. Este Proyecto </a:t>
            </a:r>
            <a:r>
              <a:rPr lang="en-US" dirty="0" err="1"/>
              <a:t>abordará</a:t>
            </a:r>
            <a:r>
              <a:rPr lang="en-US" dirty="0"/>
              <a:t> la </a:t>
            </a:r>
            <a:r>
              <a:rPr lang="en-US" dirty="0" err="1"/>
              <a:t>necesidad</a:t>
            </a:r>
            <a:r>
              <a:rPr lang="en-US" dirty="0"/>
              <a:t> de </a:t>
            </a:r>
            <a:r>
              <a:rPr lang="en-US" dirty="0" err="1"/>
              <a:t>cambiar</a:t>
            </a:r>
            <a:r>
              <a:rPr lang="en-US" dirty="0"/>
              <a:t> la </a:t>
            </a:r>
            <a:r>
              <a:rPr lang="en-US" dirty="0" err="1"/>
              <a:t>estrategía</a:t>
            </a:r>
            <a:r>
              <a:rPr lang="en-US" dirty="0"/>
              <a:t> de </a:t>
            </a:r>
            <a:r>
              <a:rPr lang="en-US" dirty="0" err="1"/>
              <a:t>capacitación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Seguridad</a:t>
            </a:r>
            <a:r>
              <a:rPr lang="en-US" dirty="0"/>
              <a:t> de la </a:t>
            </a:r>
            <a:r>
              <a:rPr lang="en-US" dirty="0" err="1"/>
              <a:t>información</a:t>
            </a:r>
            <a:r>
              <a:rPr lang="en-US" dirty="0"/>
              <a:t> para la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ficticia</a:t>
            </a:r>
            <a:r>
              <a:rPr lang="en-US" dirty="0"/>
              <a:t> FINTECH.S.A </a:t>
            </a:r>
            <a:r>
              <a:rPr lang="en-US" dirty="0" err="1"/>
              <a:t>que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pasarela</a:t>
            </a:r>
            <a:r>
              <a:rPr lang="en-US" dirty="0"/>
              <a:t>/</a:t>
            </a:r>
            <a:r>
              <a:rPr lang="en-US" dirty="0" err="1"/>
              <a:t>procesador</a:t>
            </a:r>
            <a:r>
              <a:rPr lang="en-US" dirty="0"/>
              <a:t> de </a:t>
            </a:r>
            <a:r>
              <a:rPr lang="en-US" dirty="0" err="1"/>
              <a:t>pagos</a:t>
            </a:r>
            <a:r>
              <a:rPr lang="en-US" dirty="0"/>
              <a:t> con </a:t>
            </a:r>
            <a:r>
              <a:rPr lang="en-US" dirty="0" err="1"/>
              <a:t>cerca</a:t>
            </a:r>
            <a:r>
              <a:rPr lang="en-US" dirty="0"/>
              <a:t> de 5.000 </a:t>
            </a:r>
            <a:r>
              <a:rPr lang="en-US" dirty="0" err="1"/>
              <a:t>colaboradores</a:t>
            </a:r>
            <a:r>
              <a:rPr lang="en-US" dirty="0"/>
              <a:t> 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actualemente</a:t>
            </a:r>
            <a:r>
              <a:rPr lang="en-US" dirty="0"/>
              <a:t> utilizer 3 </a:t>
            </a:r>
            <a:r>
              <a:rPr lang="en-US" dirty="0" err="1"/>
              <a:t>proveedores</a:t>
            </a:r>
            <a:r>
              <a:rPr lang="en-US" dirty="0"/>
              <a:t> de </a:t>
            </a:r>
            <a:r>
              <a:rPr lang="en-US" dirty="0" err="1"/>
              <a:t>capacitación</a:t>
            </a:r>
            <a:r>
              <a:rPr lang="en-US" dirty="0"/>
              <a:t> para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servicios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sigió</a:t>
            </a:r>
            <a:r>
              <a:rPr lang="en-US" dirty="0"/>
              <a:t> la </a:t>
            </a:r>
            <a:r>
              <a:rPr lang="en-US" dirty="0" err="1"/>
              <a:t>metodología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 de doble diamante,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primer diamante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enfocamos</a:t>
            </a:r>
            <a:r>
              <a:rPr lang="en-US" dirty="0"/>
              <a:t> </a:t>
            </a:r>
            <a:r>
              <a:rPr lang="en-US" dirty="0" err="1"/>
              <a:t>Entender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definición</a:t>
            </a:r>
            <a:r>
              <a:rPr lang="en-US" dirty="0"/>
              <a:t> </a:t>
            </a:r>
            <a:r>
              <a:rPr lang="en-US" dirty="0" err="1"/>
              <a:t>clara</a:t>
            </a:r>
            <a:r>
              <a:rPr lang="en-US" dirty="0"/>
              <a:t>, para luego </a:t>
            </a:r>
            <a:r>
              <a:rPr lang="en-US" dirty="0" err="1"/>
              <a:t>generar</a:t>
            </a:r>
            <a:r>
              <a:rPr lang="en-US" dirty="0"/>
              <a:t> un Desarrollo y </a:t>
            </a:r>
            <a:r>
              <a:rPr lang="en-US" dirty="0" err="1"/>
              <a:t>entregable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descubrimiento</a:t>
            </a:r>
            <a:r>
              <a:rPr lang="en-US" dirty="0"/>
              <a:t> lo 1ero </a:t>
            </a:r>
            <a:r>
              <a:rPr lang="en-US" dirty="0" err="1"/>
              <a:t>que</a:t>
            </a:r>
            <a:r>
              <a:rPr lang="en-US" dirty="0"/>
              <a:t> hay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entender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ecosistema</a:t>
            </a:r>
            <a:r>
              <a:rPr lang="en-US" dirty="0"/>
              <a:t> de </a:t>
            </a:r>
            <a:r>
              <a:rPr lang="en-US" dirty="0" err="1"/>
              <a:t>pagos</a:t>
            </a:r>
            <a:r>
              <a:rPr lang="en-US" dirty="0"/>
              <a:t> del </a:t>
            </a:r>
            <a:r>
              <a:rPr lang="en-US" dirty="0" err="1"/>
              <a:t>cual</a:t>
            </a:r>
            <a:r>
              <a:rPr lang="en-US" dirty="0"/>
              <a:t> FINTECH S.A es </a:t>
            </a:r>
            <a:r>
              <a:rPr lang="en-US" dirty="0" err="1"/>
              <a:t>miembro</a:t>
            </a:r>
            <a:r>
              <a:rPr lang="en-US" dirty="0"/>
              <a:t>. Este se </a:t>
            </a:r>
            <a:r>
              <a:rPr lang="en-US" dirty="0" err="1"/>
              <a:t>basa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llamado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cuatro partes. Como </a:t>
            </a:r>
            <a:r>
              <a:rPr lang="en-US" dirty="0" err="1"/>
              <a:t>ven</a:t>
            </a:r>
            <a:r>
              <a:rPr lang="en-US" dirty="0"/>
              <a:t> la </a:t>
            </a:r>
            <a:r>
              <a:rPr lang="en-US" dirty="0" err="1"/>
              <a:t>cantidad</a:t>
            </a:r>
            <a:r>
              <a:rPr lang="en-US" dirty="0"/>
              <a:t> de actors </a:t>
            </a:r>
            <a:r>
              <a:rPr lang="en-US" dirty="0" err="1"/>
              <a:t>involucra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improtante</a:t>
            </a:r>
            <a:r>
              <a:rPr lang="en-US" dirty="0"/>
              <a:t> de </a:t>
            </a:r>
            <a:r>
              <a:rPr lang="en-US" dirty="0" err="1"/>
              <a:t>integraciones</a:t>
            </a:r>
            <a:r>
              <a:rPr lang="en-US" dirty="0"/>
              <a:t> entre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empresas</a:t>
            </a:r>
            <a:r>
              <a:rPr lang="en-US" dirty="0"/>
              <a:t>.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involucrados</a:t>
            </a:r>
            <a:r>
              <a:rPr lang="en-US" dirty="0"/>
              <a:t> son de </a:t>
            </a:r>
            <a:r>
              <a:rPr lang="en-US" dirty="0" err="1"/>
              <a:t>altísima</a:t>
            </a:r>
            <a:r>
              <a:rPr lang="en-US" dirty="0"/>
              <a:t> </a:t>
            </a:r>
            <a:r>
              <a:rPr lang="en-US" dirty="0" err="1"/>
              <a:t>sensibilidad</a:t>
            </a:r>
            <a:r>
              <a:rPr lang="en-US" dirty="0"/>
              <a:t> (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tarjetas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y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mismos</a:t>
            </a:r>
            <a:r>
              <a:rPr lang="en-US" dirty="0"/>
              <a:t> </a:t>
            </a:r>
            <a:r>
              <a:rPr lang="en-US" dirty="0" err="1"/>
              <a:t>tarjetahabientes</a:t>
            </a:r>
            <a:r>
              <a:rPr lang="en-US" dirty="0"/>
              <a:t> o </a:t>
            </a:r>
            <a:r>
              <a:rPr lang="en-US" dirty="0" err="1"/>
              <a:t>comercios</a:t>
            </a:r>
            <a:r>
              <a:rPr lang="en-US" dirty="0"/>
              <a:t>)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es natural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definiera</a:t>
            </a:r>
            <a:r>
              <a:rPr lang="en-US" dirty="0"/>
              <a:t> un </a:t>
            </a:r>
            <a:r>
              <a:rPr lang="en-US" dirty="0" err="1"/>
              <a:t>estandar</a:t>
            </a:r>
            <a:r>
              <a:rPr lang="en-US" dirty="0"/>
              <a:t> cross-</a:t>
            </a:r>
            <a:r>
              <a:rPr lang="en-US" dirty="0" err="1"/>
              <a:t>industria</a:t>
            </a:r>
            <a:r>
              <a:rPr lang="en-US" dirty="0"/>
              <a:t> PCI DSS </a:t>
            </a:r>
            <a:r>
              <a:rPr lang="en-US" dirty="0" err="1"/>
              <a:t>que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de </a:t>
            </a:r>
            <a:r>
              <a:rPr lang="en-US" dirty="0" err="1"/>
              <a:t>seguridad</a:t>
            </a:r>
            <a:r>
              <a:rPr lang="en-US" dirty="0"/>
              <a:t> de </a:t>
            </a:r>
            <a:r>
              <a:rPr lang="en-US" dirty="0" err="1"/>
              <a:t>datros</a:t>
            </a:r>
            <a:r>
              <a:rPr lang="en-US" dirty="0"/>
              <a:t> para la </a:t>
            </a:r>
            <a:r>
              <a:rPr lang="en-US" dirty="0" err="1"/>
              <a:t>industria</a:t>
            </a:r>
            <a:r>
              <a:rPr lang="en-US" dirty="0"/>
              <a:t> de </a:t>
            </a:r>
            <a:r>
              <a:rPr lang="en-US" dirty="0" err="1"/>
              <a:t>medios</a:t>
            </a:r>
            <a:r>
              <a:rPr lang="en-US" dirty="0"/>
              <a:t> de </a:t>
            </a:r>
            <a:r>
              <a:rPr lang="en-US" dirty="0" err="1"/>
              <a:t>pago</a:t>
            </a:r>
            <a:r>
              <a:rPr lang="en-US" dirty="0"/>
              <a:t>, con </a:t>
            </a:r>
            <a:r>
              <a:rPr lang="en-US" dirty="0" err="1"/>
              <a:t>el</a:t>
            </a:r>
            <a:r>
              <a:rPr lang="en-US" dirty="0"/>
              <a:t> fin de </a:t>
            </a:r>
            <a:r>
              <a:rPr lang="en-US" dirty="0" err="1"/>
              <a:t>proteger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blindar</a:t>
            </a:r>
            <a:r>
              <a:rPr lang="en-US" dirty="0"/>
              <a:t> canales de </a:t>
            </a:r>
            <a:r>
              <a:rPr lang="en-US" dirty="0" err="1"/>
              <a:t>comunicación</a:t>
            </a:r>
            <a:r>
              <a:rPr lang="en-US" dirty="0"/>
              <a:t> </a:t>
            </a:r>
            <a:r>
              <a:rPr lang="en-US" dirty="0" err="1"/>
              <a:t>seguros</a:t>
            </a:r>
            <a:r>
              <a:rPr lang="en-US" dirty="0"/>
              <a:t>, </a:t>
            </a:r>
            <a:r>
              <a:rPr lang="en-US" dirty="0" err="1"/>
              <a:t>mantener</a:t>
            </a:r>
            <a:r>
              <a:rPr lang="en-US" dirty="0"/>
              <a:t> gestion de </a:t>
            </a:r>
            <a:r>
              <a:rPr lang="en-US" dirty="0" err="1"/>
              <a:t>vulnerabilidades</a:t>
            </a:r>
            <a:r>
              <a:rPr lang="en-US" dirty="0"/>
              <a:t> y </a:t>
            </a:r>
            <a:r>
              <a:rPr lang="en-US" dirty="0" err="1"/>
              <a:t>monitorear</a:t>
            </a:r>
            <a:r>
              <a:rPr lang="en-US" dirty="0"/>
              <a:t> y </a:t>
            </a:r>
            <a:r>
              <a:rPr lang="en-US" dirty="0" err="1"/>
              <a:t>testear</a:t>
            </a:r>
            <a:r>
              <a:rPr lang="en-US" dirty="0"/>
              <a:t> con </a:t>
            </a:r>
            <a:r>
              <a:rPr lang="en-US" dirty="0" err="1"/>
              <a:t>regularidad</a:t>
            </a:r>
            <a:r>
              <a:rPr lang="en-US" dirty="0"/>
              <a:t>.  Para FINTECH S.A La </a:t>
            </a:r>
            <a:r>
              <a:rPr lang="en-US" dirty="0" err="1"/>
              <a:t>seguridad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core 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negocio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allí</a:t>
            </a:r>
            <a:r>
              <a:rPr lang="en-US" dirty="0"/>
              <a:t> reside la confianza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ecosistema</a:t>
            </a:r>
            <a:r>
              <a:rPr lang="en-US" dirty="0"/>
              <a:t>. Y al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competencia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bancos</a:t>
            </a:r>
            <a:r>
              <a:rPr lang="en-US" dirty="0"/>
              <a:t> </a:t>
            </a:r>
            <a:r>
              <a:rPr lang="en-US" dirty="0" err="1"/>
              <a:t>emisores</a:t>
            </a:r>
            <a:r>
              <a:rPr lang="en-US" dirty="0"/>
              <a:t>,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cumplir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PCI </a:t>
            </a:r>
            <a:r>
              <a:rPr lang="en-US" dirty="0" err="1"/>
              <a:t>sino</a:t>
            </a:r>
            <a:r>
              <a:rPr lang="en-US" dirty="0"/>
              <a:t> se </a:t>
            </a:r>
            <a:r>
              <a:rPr lang="en-US" dirty="0" err="1"/>
              <a:t>exponen</a:t>
            </a:r>
            <a:r>
              <a:rPr lang="en-US" dirty="0"/>
              <a:t> a </a:t>
            </a:r>
            <a:r>
              <a:rPr lang="en-US" dirty="0" err="1"/>
              <a:t>fuertes</a:t>
            </a:r>
            <a:r>
              <a:rPr lang="en-US" dirty="0"/>
              <a:t> </a:t>
            </a:r>
            <a:r>
              <a:rPr lang="en-US" dirty="0" err="1"/>
              <a:t>multas</a:t>
            </a:r>
            <a:r>
              <a:rPr lang="en-US" dirty="0"/>
              <a:t>,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arriesgan</a:t>
            </a:r>
            <a:r>
              <a:rPr lang="en-US" dirty="0"/>
              <a:t> la suspension del </a:t>
            </a:r>
            <a:r>
              <a:rPr lang="en-US" dirty="0" err="1"/>
              <a:t>servicio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subsiguiente</a:t>
            </a:r>
            <a:r>
              <a:rPr lang="en-US" dirty="0"/>
              <a:t> Riesgo </a:t>
            </a:r>
            <a:r>
              <a:rPr lang="en-US" dirty="0" err="1"/>
              <a:t>reputacional</a:t>
            </a:r>
            <a:r>
              <a:rPr lang="en-US" dirty="0"/>
              <a:t> </a:t>
            </a:r>
            <a:r>
              <a:rPr lang="en-US" dirty="0" err="1"/>
              <a:t>invoilucrado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PCI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100%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colabordores</a:t>
            </a:r>
            <a:r>
              <a:rPr lang="en-US" dirty="0"/>
              <a:t> de las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FINTECH </a:t>
            </a:r>
            <a:r>
              <a:rPr lang="en-US" dirty="0" err="1"/>
              <a:t>estén</a:t>
            </a:r>
            <a:r>
              <a:rPr lang="en-US" dirty="0"/>
              <a:t> </a:t>
            </a:r>
            <a:r>
              <a:rPr lang="en-US" dirty="0" err="1"/>
              <a:t>capacitados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mantenga</a:t>
            </a:r>
            <a:r>
              <a:rPr lang="en-US" dirty="0"/>
              <a:t> la </a:t>
            </a:r>
            <a:r>
              <a:rPr lang="en-US" dirty="0" err="1"/>
              <a:t>certificación</a:t>
            </a:r>
            <a:r>
              <a:rPr lang="en-US" dirty="0"/>
              <a:t>, y dado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meta </a:t>
            </a:r>
            <a:r>
              <a:rPr lang="en-US" dirty="0" err="1"/>
              <a:t>estratégica</a:t>
            </a:r>
            <a:r>
              <a:rPr lang="en-US" dirty="0"/>
              <a:t> del </a:t>
            </a:r>
            <a:r>
              <a:rPr lang="en-US" dirty="0" err="1"/>
              <a:t>negocio</a:t>
            </a:r>
            <a:r>
              <a:rPr lang="en-US" dirty="0"/>
              <a:t> </a:t>
            </a:r>
            <a:r>
              <a:rPr lang="en-US" dirty="0" err="1"/>
              <a:t>mantener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certificación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 KPI (OKR) la </a:t>
            </a:r>
            <a:r>
              <a:rPr lang="en-US" dirty="0" err="1"/>
              <a:t>capacitación</a:t>
            </a:r>
            <a:r>
              <a:rPr lang="en-US" dirty="0"/>
              <a:t> completa del personal.  Fintech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empresa</a:t>
            </a:r>
            <a:r>
              <a:rPr lang="en-US" dirty="0"/>
              <a:t> PCI Nivel 1 </a:t>
            </a:r>
            <a:r>
              <a:rPr lang="en-US" dirty="0" err="1"/>
              <a:t>que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alto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para </a:t>
            </a:r>
            <a:r>
              <a:rPr lang="en-US" dirty="0" err="1"/>
              <a:t>adquirentes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procesan</a:t>
            </a:r>
            <a:r>
              <a:rPr lang="en-US" dirty="0"/>
              <a:t> mas de 6 </a:t>
            </a:r>
            <a:r>
              <a:rPr lang="en-US" dirty="0" err="1"/>
              <a:t>millones</a:t>
            </a:r>
            <a:r>
              <a:rPr lang="en-US" dirty="0"/>
              <a:t> de Tx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marca</a:t>
            </a:r>
            <a:r>
              <a:rPr lang="en-US" dirty="0"/>
              <a:t> al </a:t>
            </a:r>
            <a:r>
              <a:rPr lang="en-US" dirty="0" err="1"/>
              <a:t>año</a:t>
            </a:r>
            <a:r>
              <a:rPr lang="en-US" dirty="0"/>
              <a:t>. Este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mayores</a:t>
            </a:r>
            <a:r>
              <a:rPr lang="en-US" dirty="0"/>
              <a:t> exigencies y también </a:t>
            </a:r>
            <a:r>
              <a:rPr lang="en-US" dirty="0" err="1"/>
              <a:t>multas</a:t>
            </a:r>
            <a:r>
              <a:rPr lang="en-US" dirty="0"/>
              <a:t> mas </a:t>
            </a:r>
            <a:r>
              <a:rPr lang="en-US" dirty="0" err="1"/>
              <a:t>altas</a:t>
            </a:r>
            <a:r>
              <a:rPr lang="en-US" dirty="0"/>
              <a:t> </a:t>
            </a:r>
            <a:r>
              <a:rPr lang="en-US" dirty="0" err="1"/>
              <a:t>llegando</a:t>
            </a:r>
            <a:r>
              <a:rPr lang="en-US" dirty="0"/>
              <a:t> a las ~10.000 UF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extremos</a:t>
            </a:r>
            <a:r>
              <a:rPr lang="en-US" dirty="0"/>
              <a:t>.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Sistema </a:t>
            </a:r>
            <a:r>
              <a:rPr lang="en-US" dirty="0" err="1"/>
              <a:t>depende</a:t>
            </a:r>
            <a:r>
              <a:rPr lang="en-US" dirty="0"/>
              <a:t> de la </a:t>
            </a:r>
            <a:r>
              <a:rPr lang="en-US" dirty="0" err="1"/>
              <a:t>seguridaid</a:t>
            </a:r>
            <a:r>
              <a:rPr lang="en-US" dirty="0"/>
              <a:t> la Perdida de </a:t>
            </a:r>
            <a:r>
              <a:rPr lang="en-US" dirty="0" err="1"/>
              <a:t>reputación</a:t>
            </a:r>
            <a:r>
              <a:rPr lang="en-US" dirty="0"/>
              <a:t> </a:t>
            </a:r>
            <a:r>
              <a:rPr lang="en-US" dirty="0" err="1"/>
              <a:t>derivada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multa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catapultar</a:t>
            </a:r>
            <a:r>
              <a:rPr lang="en-US" dirty="0"/>
              <a:t> un Riesgo </a:t>
            </a:r>
            <a:r>
              <a:rPr lang="en-US" dirty="0" err="1"/>
              <a:t>reputacional</a:t>
            </a:r>
            <a:r>
              <a:rPr lang="en-US" dirty="0"/>
              <a:t>  </a:t>
            </a:r>
            <a:r>
              <a:rPr lang="en-US" dirty="0" err="1"/>
              <a:t>aún</a:t>
            </a:r>
            <a:r>
              <a:rPr lang="en-US" dirty="0"/>
              <a:t> mayor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actors del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las </a:t>
            </a:r>
            <a:r>
              <a:rPr lang="en-US" dirty="0" err="1"/>
              <a:t>marcas</a:t>
            </a:r>
            <a:r>
              <a:rPr lang="en-US" dirty="0"/>
              <a:t> de </a:t>
            </a:r>
            <a:r>
              <a:rPr lang="en-US" dirty="0" err="1"/>
              <a:t>tarjeta</a:t>
            </a:r>
            <a:r>
              <a:rPr lang="en-US" dirty="0"/>
              <a:t> o </a:t>
            </a:r>
            <a:r>
              <a:rPr lang="en-US" dirty="0" err="1"/>
              <a:t>algún</a:t>
            </a:r>
            <a:r>
              <a:rPr lang="en-US" dirty="0"/>
              <a:t> </a:t>
            </a:r>
            <a:r>
              <a:rPr lang="en-US" dirty="0" err="1"/>
              <a:t>emisor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decider no </a:t>
            </a:r>
            <a:r>
              <a:rPr lang="en-US" dirty="0" err="1"/>
              <a:t>trabajar</a:t>
            </a:r>
            <a:r>
              <a:rPr lang="en-US" dirty="0"/>
              <a:t> con FINTECH S.A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sería</a:t>
            </a:r>
            <a:r>
              <a:rPr lang="en-US" dirty="0"/>
              <a:t> </a:t>
            </a:r>
            <a:r>
              <a:rPr lang="en-US" dirty="0" err="1"/>
              <a:t>catastrófico</a:t>
            </a:r>
            <a:r>
              <a:rPr lang="en-US" dirty="0"/>
              <a:t> para la </a:t>
            </a:r>
            <a:r>
              <a:rPr lang="en-US" dirty="0" err="1"/>
              <a:t>oferta</a:t>
            </a:r>
            <a:r>
              <a:rPr lang="en-US" dirty="0"/>
              <a:t> de valor de la </a:t>
            </a:r>
            <a:r>
              <a:rPr lang="en-US" dirty="0" err="1"/>
              <a:t>compañía</a:t>
            </a:r>
            <a:r>
              <a:rPr lang="en-US" dirty="0"/>
              <a:t> (</a:t>
            </a:r>
            <a:r>
              <a:rPr lang="en-US" dirty="0" err="1"/>
              <a:t>acá</a:t>
            </a:r>
            <a:r>
              <a:rPr lang="en-US" dirty="0"/>
              <a:t> </a:t>
            </a:r>
            <a:r>
              <a:rPr lang="en-US" dirty="0" err="1"/>
              <a:t>evaluado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20.000 UF)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todo</a:t>
            </a:r>
            <a:r>
              <a:rPr lang="en-US" dirty="0"/>
              <a:t> lo anterior </a:t>
            </a:r>
            <a:r>
              <a:rPr lang="en-US" dirty="0" err="1"/>
              <a:t>vemos</a:t>
            </a:r>
            <a:r>
              <a:rPr lang="en-US" dirty="0"/>
              <a:t> 3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forma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evaluando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proveedores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empresa</a:t>
            </a:r>
            <a:r>
              <a:rPr lang="en-US" dirty="0"/>
              <a:t>. El KPI de </a:t>
            </a:r>
            <a:r>
              <a:rPr lang="en-US" dirty="0" err="1"/>
              <a:t>cobertura</a:t>
            </a:r>
            <a:r>
              <a:rPr lang="en-US" dirty="0"/>
              <a:t> al ser </a:t>
            </a:r>
            <a:r>
              <a:rPr lang="en-US" dirty="0" err="1"/>
              <a:t>exigido</a:t>
            </a:r>
            <a:r>
              <a:rPr lang="en-US" dirty="0"/>
              <a:t> y </a:t>
            </a:r>
            <a:r>
              <a:rPr lang="en-US" dirty="0" err="1"/>
              <a:t>asociado</a:t>
            </a:r>
            <a:r>
              <a:rPr lang="en-US" dirty="0"/>
              <a:t> a las </a:t>
            </a:r>
            <a:r>
              <a:rPr lang="en-US" dirty="0" err="1"/>
              <a:t>metas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constantementre</a:t>
            </a:r>
            <a:r>
              <a:rPr lang="en-US" dirty="0"/>
              <a:t> un 100% de </a:t>
            </a:r>
            <a:r>
              <a:rPr lang="en-US" dirty="0" err="1"/>
              <a:t>cumplimiento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alguien</a:t>
            </a:r>
            <a:r>
              <a:rPr lang="en-US" dirty="0"/>
              <a:t> se </a:t>
            </a:r>
            <a:r>
              <a:rPr lang="en-US" dirty="0" err="1"/>
              <a:t>pierde</a:t>
            </a:r>
            <a:r>
              <a:rPr lang="en-US" dirty="0"/>
              <a:t> un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capacitación</a:t>
            </a:r>
            <a:r>
              <a:rPr lang="en-US" dirty="0"/>
              <a:t> se </a:t>
            </a:r>
            <a:r>
              <a:rPr lang="en-US" dirty="0" err="1"/>
              <a:t>reagenda</a:t>
            </a:r>
            <a:r>
              <a:rPr lang="en-US" dirty="0"/>
              <a:t>,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incluye</a:t>
            </a:r>
            <a:r>
              <a:rPr lang="en-US" dirty="0"/>
              <a:t> </a:t>
            </a:r>
            <a:r>
              <a:rPr lang="en-US" dirty="0" err="1"/>
              <a:t>vacaciones</a:t>
            </a:r>
            <a:r>
              <a:rPr lang="en-US" dirty="0"/>
              <a:t>, </a:t>
            </a:r>
            <a:r>
              <a:rPr lang="en-US" dirty="0" err="1"/>
              <a:t>licencias</a:t>
            </a:r>
            <a:r>
              <a:rPr lang="en-US" dirty="0"/>
              <a:t> </a:t>
            </a:r>
            <a:r>
              <a:rPr lang="en-US" dirty="0" err="1"/>
              <a:t>médicas</a:t>
            </a:r>
            <a:r>
              <a:rPr lang="en-US" dirty="0"/>
              <a:t> etc.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cacso</a:t>
            </a:r>
            <a:r>
              <a:rPr lang="en-US" dirty="0"/>
              <a:t> </a:t>
            </a:r>
            <a:r>
              <a:rPr lang="en-US" dirty="0" err="1"/>
              <a:t>diferenciar</a:t>
            </a:r>
            <a:r>
              <a:rPr lang="en-US" dirty="0"/>
              <a:t> </a:t>
            </a:r>
            <a:r>
              <a:rPr lang="en-US" dirty="0" err="1"/>
              <a:t>proveedores</a:t>
            </a:r>
            <a:r>
              <a:rPr lang="en-US" dirty="0"/>
              <a:t>. Y </a:t>
            </a:r>
            <a:r>
              <a:rPr lang="en-US" dirty="0" err="1"/>
              <a:t>finalmente</a:t>
            </a:r>
            <a:r>
              <a:rPr lang="en-US" dirty="0"/>
              <a:t> y mas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aún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vimos</a:t>
            </a:r>
            <a:r>
              <a:rPr lang="en-US" dirty="0"/>
              <a:t> </a:t>
            </a:r>
            <a:r>
              <a:rPr lang="en-US" dirty="0" err="1"/>
              <a:t>anteriormente</a:t>
            </a:r>
            <a:r>
              <a:rPr lang="en-US" dirty="0"/>
              <a:t> completer </a:t>
            </a:r>
            <a:r>
              <a:rPr lang="en-US" dirty="0" err="1"/>
              <a:t>cursos</a:t>
            </a:r>
            <a:r>
              <a:rPr lang="en-US" dirty="0"/>
              <a:t> no es </a:t>
            </a:r>
            <a:r>
              <a:rPr lang="en-US" dirty="0" err="1"/>
              <a:t>el</a:t>
            </a:r>
            <a:r>
              <a:rPr lang="en-US" dirty="0"/>
              <a:t> core,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espíritu</a:t>
            </a:r>
            <a:r>
              <a:rPr lang="en-US" dirty="0"/>
              <a:t> de </a:t>
            </a:r>
            <a:r>
              <a:rPr lang="en-US" dirty="0" err="1"/>
              <a:t>porque</a:t>
            </a:r>
            <a:r>
              <a:rPr lang="en-US" dirty="0"/>
              <a:t> la </a:t>
            </a:r>
            <a:r>
              <a:rPr lang="en-US" dirty="0" err="1"/>
              <a:t>empresa</a:t>
            </a:r>
            <a:r>
              <a:rPr lang="en-US" dirty="0"/>
              <a:t> lo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 </a:t>
            </a:r>
            <a:r>
              <a:rPr lang="en-US" dirty="0" err="1"/>
              <a:t>objetivo</a:t>
            </a:r>
            <a:r>
              <a:rPr lang="en-US" dirty="0"/>
              <a:t> </a:t>
            </a:r>
            <a:r>
              <a:rPr lang="en-US" dirty="0" err="1"/>
              <a:t>estratégico</a:t>
            </a:r>
            <a:r>
              <a:rPr lang="en-US" dirty="0"/>
              <a:t>. La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colaboradores</a:t>
            </a:r>
            <a:r>
              <a:rPr lang="en-US" dirty="0"/>
              <a:t> </a:t>
            </a:r>
            <a:r>
              <a:rPr lang="en-US" dirty="0" err="1"/>
              <a:t>hagan</a:t>
            </a:r>
            <a:r>
              <a:rPr lang="en-US" dirty="0"/>
              <a:t> suya las </a:t>
            </a:r>
            <a:r>
              <a:rPr lang="en-US" dirty="0" err="1"/>
              <a:t>practicas</a:t>
            </a:r>
            <a:r>
              <a:rPr lang="en-US" dirty="0"/>
              <a:t> </a:t>
            </a:r>
            <a:r>
              <a:rPr lang="en-US" dirty="0" err="1"/>
              <a:t>enseñadas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cursos</a:t>
            </a:r>
            <a:r>
              <a:rPr lang="en-US" dirty="0"/>
              <a:t> con un </a:t>
            </a:r>
            <a:r>
              <a:rPr lang="en-US" dirty="0" err="1"/>
              <a:t>altísimo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compromise y </a:t>
            </a:r>
            <a:r>
              <a:rPr lang="en-US" dirty="0" err="1"/>
              <a:t>conocimiento</a:t>
            </a:r>
            <a:r>
              <a:rPr lang="en-US" dirty="0"/>
              <a:t>. Y completer no es lo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aprender</a:t>
            </a:r>
            <a:r>
              <a:rPr lang="en-US" dirty="0"/>
              <a:t>. Por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equipo</a:t>
            </a:r>
            <a:r>
              <a:rPr lang="en-US" dirty="0"/>
              <a:t>, </a:t>
            </a:r>
            <a:r>
              <a:rPr lang="en-US" dirty="0" err="1"/>
              <a:t>planteamos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necesitamos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forma de </a:t>
            </a:r>
            <a:r>
              <a:rPr lang="en-US" dirty="0" err="1"/>
              <a:t>medir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proveedores</a:t>
            </a:r>
            <a:r>
              <a:rPr lang="en-US" dirty="0"/>
              <a:t> de </a:t>
            </a:r>
            <a:r>
              <a:rPr lang="en-US" dirty="0" err="1"/>
              <a:t>capacitación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de capturer de Verdad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aprendizaje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concreter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y definer </a:t>
            </a:r>
            <a:r>
              <a:rPr lang="en-US" dirty="0" err="1"/>
              <a:t>el</a:t>
            </a:r>
            <a:r>
              <a:rPr lang="en-US" dirty="0"/>
              <a:t> quid del </a:t>
            </a:r>
            <a:r>
              <a:rPr lang="en-US" dirty="0" err="1"/>
              <a:t>asunto</a:t>
            </a:r>
            <a:r>
              <a:rPr lang="en-US" dirty="0"/>
              <a:t>,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planteamos</a:t>
            </a:r>
            <a:r>
              <a:rPr lang="en-US" dirty="0"/>
              <a:t> la </a:t>
            </a:r>
            <a:r>
              <a:rPr lang="en-US" dirty="0" err="1"/>
              <a:t>pregunta</a:t>
            </a:r>
            <a:r>
              <a:rPr lang="en-US" dirty="0"/>
              <a:t>. Para </a:t>
            </a:r>
            <a:r>
              <a:rPr lang="en-US" dirty="0" err="1"/>
              <a:t>ello</a:t>
            </a:r>
            <a:r>
              <a:rPr lang="en-US" dirty="0"/>
              <a:t> </a:t>
            </a:r>
            <a:r>
              <a:rPr lang="en-US" dirty="0" err="1"/>
              <a:t>fuimos</a:t>
            </a:r>
            <a:r>
              <a:rPr lang="en-US" dirty="0"/>
              <a:t> a comparer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costos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proveedores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desomponen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tasa</a:t>
            </a:r>
            <a:r>
              <a:rPr lang="en-US" dirty="0"/>
              <a:t> </a:t>
            </a:r>
            <a:r>
              <a:rPr lang="en-US" dirty="0" err="1"/>
              <a:t>fija</a:t>
            </a:r>
            <a:r>
              <a:rPr lang="en-US" dirty="0"/>
              <a:t> mas </a:t>
            </a:r>
            <a:r>
              <a:rPr lang="en-US" dirty="0" err="1"/>
              <a:t>una</a:t>
            </a:r>
            <a:r>
              <a:rPr lang="en-US" dirty="0"/>
              <a:t> variable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dan </a:t>
            </a:r>
            <a:r>
              <a:rPr lang="en-US" dirty="0" err="1"/>
              <a:t>montos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cercanos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llevamos</a:t>
            </a:r>
            <a:r>
              <a:rPr lang="en-US" dirty="0"/>
              <a:t> la inversion annual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ellos</a:t>
            </a:r>
            <a:r>
              <a:rPr lang="en-US" dirty="0"/>
              <a:t> a valor </a:t>
            </a:r>
            <a:r>
              <a:rPr lang="en-US" dirty="0" err="1"/>
              <a:t>presente</a:t>
            </a:r>
            <a:r>
              <a:rPr lang="en-US" dirty="0"/>
              <a:t> (solo 68 UF). Por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la </a:t>
            </a:r>
            <a:r>
              <a:rPr lang="en-US" dirty="0" err="1"/>
              <a:t>exposición</a:t>
            </a:r>
            <a:r>
              <a:rPr lang="en-US" dirty="0"/>
              <a:t> total al Riesgo de </a:t>
            </a:r>
            <a:r>
              <a:rPr lang="en-US" dirty="0" err="1"/>
              <a:t>incumpliento</a:t>
            </a:r>
            <a:r>
              <a:rPr lang="en-US" dirty="0"/>
              <a:t> es </a:t>
            </a:r>
            <a:r>
              <a:rPr lang="en-US" dirty="0" err="1"/>
              <a:t>enorme</a:t>
            </a:r>
            <a:r>
              <a:rPr lang="en-US" dirty="0"/>
              <a:t> de 30 mil </a:t>
            </a:r>
            <a:r>
              <a:rPr lang="en-US" dirty="0" err="1"/>
              <a:t>uf</a:t>
            </a:r>
            <a:r>
              <a:rPr lang="en-US" dirty="0"/>
              <a:t>. Por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hipótesis</a:t>
            </a:r>
            <a:r>
              <a:rPr lang="en-US" dirty="0"/>
              <a:t> es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no distingue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proveedores</a:t>
            </a:r>
            <a:r>
              <a:rPr lang="en-US" dirty="0"/>
              <a:t>, la decision 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basar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efectividad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Nuestro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propusimos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siguiente</a:t>
            </a:r>
            <a:r>
              <a:rPr lang="en-US" dirty="0"/>
              <a:t> plan de Desarrollo, 1ero: </a:t>
            </a:r>
            <a:r>
              <a:rPr lang="en-US" dirty="0" err="1"/>
              <a:t>Recolectar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las </a:t>
            </a:r>
            <a:r>
              <a:rPr lang="en-US" dirty="0" err="1"/>
              <a:t>fuentes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 de personas y </a:t>
            </a:r>
            <a:r>
              <a:rPr lang="en-US" dirty="0" err="1"/>
              <a:t>capacitación</a:t>
            </a:r>
            <a:r>
              <a:rPr lang="en-US" dirty="0"/>
              <a:t>. </a:t>
            </a:r>
            <a:r>
              <a:rPr lang="en-US" dirty="0" err="1"/>
              <a:t>Realizar</a:t>
            </a:r>
            <a:r>
              <a:rPr lang="en-US" dirty="0"/>
              <a:t> clustering con ML, para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homogeneous de </a:t>
            </a:r>
            <a:r>
              <a:rPr lang="en-US" dirty="0" err="1"/>
              <a:t>colaboradores</a:t>
            </a:r>
            <a:r>
              <a:rPr lang="en-US" dirty="0"/>
              <a:t> para </a:t>
            </a:r>
            <a:r>
              <a:rPr lang="en-US" dirty="0" err="1"/>
              <a:t>asignarselos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experimemento</a:t>
            </a:r>
            <a:r>
              <a:rPr lang="en-US" dirty="0"/>
              <a:t> de </a:t>
            </a:r>
            <a:r>
              <a:rPr lang="en-US" dirty="0" err="1"/>
              <a:t>tipo</a:t>
            </a:r>
            <a:r>
              <a:rPr lang="en-US" dirty="0"/>
              <a:t> AB a </a:t>
            </a:r>
            <a:r>
              <a:rPr lang="en-US" dirty="0" err="1"/>
              <a:t>los</a:t>
            </a:r>
            <a:r>
              <a:rPr lang="en-US" dirty="0"/>
              <a:t> 3 </a:t>
            </a:r>
            <a:r>
              <a:rPr lang="en-US" dirty="0" err="1"/>
              <a:t>proveedores</a:t>
            </a:r>
            <a:r>
              <a:rPr lang="en-US" dirty="0"/>
              <a:t>. Para </a:t>
            </a:r>
            <a:r>
              <a:rPr lang="en-US" dirty="0" err="1"/>
              <a:t>finalemente</a:t>
            </a:r>
            <a:r>
              <a:rPr lang="en-US" dirty="0"/>
              <a:t> </a:t>
            </a:r>
            <a:r>
              <a:rPr lang="en-US" dirty="0" err="1"/>
              <a:t>medir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términos</a:t>
            </a:r>
            <a:r>
              <a:rPr lang="en-US" dirty="0"/>
              <a:t> de la inversion </a:t>
            </a:r>
            <a:r>
              <a:rPr lang="en-US" dirty="0" err="1"/>
              <a:t>económica</a:t>
            </a:r>
            <a:r>
              <a:rPr lang="en-US" dirty="0"/>
              <a:t> real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proveedor</a:t>
            </a:r>
            <a:r>
              <a:rPr lang="en-US" dirty="0"/>
              <a:t>  </a:t>
            </a:r>
            <a:r>
              <a:rPr lang="en-US" dirty="0" err="1"/>
              <a:t>incluyendo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implementa</a:t>
            </a:r>
            <a:r>
              <a:rPr lang="en-US" dirty="0"/>
              <a:t> la base de Kaggle de RH y se </a:t>
            </a:r>
            <a:r>
              <a:rPr lang="en-US" dirty="0" err="1"/>
              <a:t>realiza</a:t>
            </a:r>
            <a:r>
              <a:rPr lang="en-US" dirty="0"/>
              <a:t> un pipeline de </a:t>
            </a:r>
            <a:r>
              <a:rPr lang="en-US" dirty="0" err="1"/>
              <a:t>entrenamiento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no </a:t>
            </a:r>
            <a:r>
              <a:rPr lang="en-US" dirty="0" err="1"/>
              <a:t>supervisados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CD8F-6CB1-B328-F59F-F8336A638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4E8A9-4287-2E1A-9C9B-6F3E011AE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615C4-26DB-80EF-1AF7-90AE6F677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0F214-6DE6-B33A-23EE-5491F2A34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81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06A3-4124-36DA-2E8A-98D63E99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EAA8C-C04E-C2E3-382D-D6A87BBD3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8078F-F9B0-2EB5-80A6-4FB5F8773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8E0BF-2A68-56D7-61F8-10A91BE12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0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A672-0597-9706-C7E4-532142EB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A335A-7E8E-12CB-9417-562374A50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F6C97-3993-D64D-6515-F27D75011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34C89-0C2B-7424-FF9B-D07D77B68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90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6FF5-D59C-1D7A-F5BD-E7B2B97E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E509F-1FB5-46A5-F60C-5F5444B9D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4508C-4FD9-3B6C-70FB-A9FBD7FB2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DBBDF-C4A2-69D0-2B98-69E114593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5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274320" y="0"/>
            <a:ext cx="8869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</a:rPr>
              <a:t>PROYECTO PEOPLE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Evaluación Inteligente de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Proveedores de Capacitación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5592" y="201884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Certificación PCI DSS · Metodología Doble Diamante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24144" y="3062072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724144" y="3062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</a:rPr>
              <a:t>5.000 colaboradores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307232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182112" y="3072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</a:rPr>
              <a:t>3 Proveedores de capacitación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7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" y="307237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CCCCC"/>
                </a:solidFill>
              </a:rPr>
              <a:t>Pasarela</a:t>
            </a:r>
            <a:r>
              <a:rPr lang="en-US" sz="900" dirty="0">
                <a:solidFill>
                  <a:srgbClr val="CCCCCC"/>
                </a:solidFill>
              </a:rPr>
              <a:t>/</a:t>
            </a:r>
            <a:r>
              <a:rPr lang="en-US" sz="900" dirty="0" err="1">
                <a:solidFill>
                  <a:srgbClr val="CCCCCC"/>
                </a:solidFill>
              </a:rPr>
              <a:t>Proecesador</a:t>
            </a:r>
            <a:r>
              <a:rPr lang="en-US" sz="900" dirty="0">
                <a:solidFill>
                  <a:srgbClr val="CCCCCC"/>
                </a:solidFill>
              </a:rPr>
              <a:t> de Pagos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5592" y="174416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FF0000"/>
                </a:solidFill>
              </a:rPr>
              <a:t>Autores</a:t>
            </a:r>
            <a:r>
              <a:rPr lang="en-US" sz="2000" dirty="0">
                <a:solidFill>
                  <a:srgbClr val="FF0000"/>
                </a:solidFill>
              </a:rPr>
              <a:t> G6: Osvaldo Ceballos · Yerko Fuentes · Paloma San Martin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800" dirty="0"/>
          </a:p>
        </p:txBody>
      </p:sp>
      <p:pic>
        <p:nvPicPr>
          <p:cNvPr id="17" name="Imagen 16" descr="Archivo:Logo Universidad Diego Portales.png">
            <a:extLst>
              <a:ext uri="{FF2B5EF4-FFF2-40B4-BE49-F238E27FC236}">
                <a16:creationId xmlns:a16="http://schemas.microsoft.com/office/drawing/2014/main" id="{10BC063A-3AE1-99B2-5D2B-96313C313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06" y="116944"/>
            <a:ext cx="2243846" cy="546254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C42E8FE8-0AB5-92B2-518D-4D1D9B2910E5}"/>
              </a:ext>
            </a:extLst>
          </p:cNvPr>
          <p:cNvSpPr/>
          <p:nvPr/>
        </p:nvSpPr>
        <p:spPr>
          <a:xfrm>
            <a:off x="640080" y="278169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Empresa: FINTECH S.A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42"/>
    </mc:Choice>
    <mc:Fallback>
      <p:transition spd="slow" advTm="3564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</a:rPr>
              <a:t>METODOLOGÍA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Modelo de Doble Diamante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rot="10800000">
            <a:off x="274320" y="2697480"/>
            <a:ext cx="2011680" cy="1554480"/>
          </a:xfrm>
          <a:prstGeom prst="rtTriangl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" name="Shape 5"/>
          <p:cNvSpPr/>
          <p:nvPr/>
        </p:nvSpPr>
        <p:spPr>
          <a:xfrm flipH="1">
            <a:off x="274320" y="1143000"/>
            <a:ext cx="2011680" cy="1554480"/>
          </a:xfrm>
          <a:prstGeom prst="rtTriangl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8" name="Shape 6"/>
          <p:cNvSpPr/>
          <p:nvPr/>
        </p:nvSpPr>
        <p:spPr>
          <a:xfrm>
            <a:off x="2286000" y="1143000"/>
            <a:ext cx="2011680" cy="1554480"/>
          </a:xfrm>
          <a:prstGeom prst="rtTriangl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0" name="Shape 8"/>
          <p:cNvSpPr/>
          <p:nvPr/>
        </p:nvSpPr>
        <p:spPr>
          <a:xfrm>
            <a:off x="4315968" y="2633472"/>
            <a:ext cx="347472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1" name="Shape 9"/>
          <p:cNvSpPr/>
          <p:nvPr/>
        </p:nvSpPr>
        <p:spPr>
          <a:xfrm rot="10800000">
            <a:off x="4672584" y="2737168"/>
            <a:ext cx="2011680" cy="1554480"/>
          </a:xfrm>
          <a:prstGeom prst="rtTriangle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683764"/>
            <a:ext cx="402336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6" name="Shape 14"/>
          <p:cNvSpPr/>
          <p:nvPr/>
        </p:nvSpPr>
        <p:spPr>
          <a:xfrm>
            <a:off x="4663440" y="2683764"/>
            <a:ext cx="402336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7" name="Text 15"/>
          <p:cNvSpPr/>
          <p:nvPr/>
        </p:nvSpPr>
        <p:spPr>
          <a:xfrm>
            <a:off x="274320" y="850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0392B"/>
                </a:solidFill>
              </a:rPr>
              <a:t>◆ DIAMANTE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10515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Entender el problema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850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bg1">
                    <a:lumMod val="85000"/>
                  </a:schemeClr>
                </a:solidFill>
              </a:rPr>
              <a:t>◆ DIAMANTE 2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39" y="1010737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</a:rPr>
              <a:t>Desarrollar la solución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</a:rPr>
              <a:t>DESCUBRIR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DEFINIR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>
                    <a:lumMod val="85000"/>
                  </a:schemeClr>
                </a:solidFill>
              </a:rPr>
              <a:t>DESARROLLAR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0664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>
                    <a:lumMod val="85000"/>
                  </a:schemeClr>
                </a:solidFill>
              </a:rPr>
              <a:t>ENTREGAR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645152"/>
            <a:ext cx="8686800" cy="15544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0" name="Text 28"/>
          <p:cNvSpPr/>
          <p:nvPr/>
        </p:nvSpPr>
        <p:spPr>
          <a:xfrm>
            <a:off x="274320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01 · Entorno PCI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62456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02 · Contexto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50592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03 · Problemas métrica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38728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74C3C"/>
                </a:solidFill>
              </a:rPr>
              <a:t>04 · Caso de negocio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26864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05 · Diseño ML</a:t>
            </a:r>
          </a:p>
        </p:txBody>
      </p:sp>
      <p:sp>
        <p:nvSpPr>
          <p:cNvPr id="35" name="Text 33"/>
          <p:cNvSpPr/>
          <p:nvPr/>
        </p:nvSpPr>
        <p:spPr>
          <a:xfrm>
            <a:off x="5715000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06 · EDA+Clustering</a:t>
            </a:r>
          </a:p>
        </p:txBody>
      </p:sp>
      <p:sp>
        <p:nvSpPr>
          <p:cNvPr id="36" name="Text 34"/>
          <p:cNvSpPr/>
          <p:nvPr/>
        </p:nvSpPr>
        <p:spPr>
          <a:xfrm>
            <a:off x="6803136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07 · A/B Testing</a:t>
            </a:r>
          </a:p>
        </p:txBody>
      </p:sp>
      <p:sp>
        <p:nvSpPr>
          <p:cNvPr id="37" name="Text 35"/>
          <p:cNvSpPr/>
          <p:nvPr/>
        </p:nvSpPr>
        <p:spPr>
          <a:xfrm>
            <a:off x="7891272" y="46542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08 · Recomendación</a:t>
            </a:r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9" name="Text 37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M / 9</a:t>
            </a:r>
            <a:endParaRPr lang="en-US" sz="900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8958543-D306-0E29-49D3-F9D2C7AED0F1}"/>
              </a:ext>
            </a:extLst>
          </p:cNvPr>
          <p:cNvSpPr/>
          <p:nvPr/>
        </p:nvSpPr>
        <p:spPr>
          <a:xfrm rot="10800000" flipH="1">
            <a:off x="2330196" y="2729969"/>
            <a:ext cx="2011680" cy="1554480"/>
          </a:xfrm>
          <a:prstGeom prst="rtTriangl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1F29FE9A-2123-6FEC-F1FF-35BCF6182FB5}"/>
              </a:ext>
            </a:extLst>
          </p:cNvPr>
          <p:cNvSpPr/>
          <p:nvPr/>
        </p:nvSpPr>
        <p:spPr>
          <a:xfrm rot="10800000" flipH="1">
            <a:off x="6714030" y="2732889"/>
            <a:ext cx="2011680" cy="1554480"/>
          </a:xfrm>
          <a:prstGeom prst="rtTriangle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C43B1B9A-FAE6-5CBF-36B1-D58041D4C08C}"/>
              </a:ext>
            </a:extLst>
          </p:cNvPr>
          <p:cNvSpPr/>
          <p:nvPr/>
        </p:nvSpPr>
        <p:spPr>
          <a:xfrm flipH="1">
            <a:off x="4682895" y="1147897"/>
            <a:ext cx="2011680" cy="1554480"/>
          </a:xfrm>
          <a:prstGeom prst="rtTriangl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D15B29F7-93EF-A2F8-8016-76A93BD7CFE9}"/>
              </a:ext>
            </a:extLst>
          </p:cNvPr>
          <p:cNvSpPr/>
          <p:nvPr/>
        </p:nvSpPr>
        <p:spPr>
          <a:xfrm>
            <a:off x="6694575" y="1147897"/>
            <a:ext cx="2011680" cy="1554480"/>
          </a:xfrm>
          <a:prstGeom prst="rtTriangl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14"/>
    </mc:Choice>
    <mc:Fallback>
      <p:transition spd="slow" advTm="128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5"/>
          <p:cNvSpPr/>
          <p:nvPr/>
        </p:nvSpPr>
        <p:spPr>
          <a:xfrm>
            <a:off x="3128933" y="2130552"/>
            <a:ext cx="94327" cy="11482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DIAMANTE 1 · DESCUBRIR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0392B"/>
                </a:solidFill>
              </a:rPr>
              <a:t>DESCUBRIR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694944"/>
            <a:ext cx="8641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</a:rPr>
              <a:t>El entorno de pagos y qué protege PCI DSS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TARJETAHABIENTE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</a:rPr>
              <a:t>Inicia el pago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6589" y="3278772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3" name="Text 11"/>
          <p:cNvSpPr/>
          <p:nvPr/>
        </p:nvSpPr>
        <p:spPr>
          <a:xfrm>
            <a:off x="376589" y="33702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COMERCIO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6589" y="36628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</a:rPr>
              <a:t>Acepta el pago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19789" y="3278772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6" name="Text 14"/>
          <p:cNvSpPr/>
          <p:nvPr/>
        </p:nvSpPr>
        <p:spPr>
          <a:xfrm>
            <a:off x="3119789" y="33702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PASARELA / ADQUIRENTE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19789" y="36628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</a:rPr>
              <a:t>Procesa para el comercio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141732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9" name="Text 17"/>
          <p:cNvSpPr/>
          <p:nvPr/>
        </p:nvSpPr>
        <p:spPr>
          <a:xfrm>
            <a:off x="31089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BANCO EMISOR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1801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</a:rPr>
              <a:t>Emite la tarjeta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2103120"/>
            <a:ext cx="10972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2" name="Text 20"/>
          <p:cNvSpPr/>
          <p:nvPr/>
        </p:nvSpPr>
        <p:spPr>
          <a:xfrm>
            <a:off x="210312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VISA/MC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34440" y="2130552"/>
            <a:ext cx="69164" cy="11299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4" name="Text 22"/>
          <p:cNvSpPr/>
          <p:nvPr/>
        </p:nvSpPr>
        <p:spPr>
          <a:xfrm>
            <a:off x="1316736" y="2286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1. Compra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05389" y="3598812"/>
            <a:ext cx="914400" cy="5486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6" name="Text 24"/>
          <p:cNvSpPr/>
          <p:nvPr/>
        </p:nvSpPr>
        <p:spPr>
          <a:xfrm>
            <a:off x="2205389" y="36628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2. Autorización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36976" y="229861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3. Aprobación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1719072"/>
            <a:ext cx="749808" cy="5486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1" name="Text 29"/>
          <p:cNvSpPr/>
          <p:nvPr/>
        </p:nvSpPr>
        <p:spPr>
          <a:xfrm>
            <a:off x="320040" y="12618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392B"/>
                </a:solidFill>
              </a:rPr>
              <a:t>MODELO 4 PARTES DEL PAGO CON TARJETA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1261872"/>
            <a:ext cx="3566160" cy="341985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3" name="Text 31"/>
          <p:cNvSpPr/>
          <p:nvPr/>
        </p:nvSpPr>
        <p:spPr>
          <a:xfrm>
            <a:off x="5486400" y="13533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¿Qué es PCI DSS?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0" y="1664208"/>
            <a:ext cx="324612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5" name="Text 33"/>
          <p:cNvSpPr/>
          <p:nvPr/>
        </p:nvSpPr>
        <p:spPr>
          <a:xfrm>
            <a:off x="5486400" y="1709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Payment Card Industry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Data Security Standard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2860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🔒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9788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Proteger datos del titular de tarjeta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6700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🌐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978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Asegurar redes y sistemas de transmisión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30540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🛡️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9788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Mantener un programa de gestión de vulnerabilidades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343814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📋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897880" y="3465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Monitorear y testear redes regularmente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0" y="3858768"/>
            <a:ext cx="324612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5" name="Text 43"/>
          <p:cNvSpPr/>
          <p:nvPr/>
        </p:nvSpPr>
        <p:spPr>
          <a:xfrm>
            <a:off x="5486400" y="3913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Incumplimiento: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29400" y="3913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Multas · Suspensión del servicio · Daño reputacional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" y="4709160"/>
            <a:ext cx="855878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9" name="Text 47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1 / 9</a:t>
            </a:r>
            <a:endParaRPr lang="en-US" sz="1000" dirty="0"/>
          </a:p>
        </p:txBody>
      </p:sp>
      <p:pic>
        <p:nvPicPr>
          <p:cNvPr id="52" name="Gráfico 51" descr="Banco contorno">
            <a:extLst>
              <a:ext uri="{FF2B5EF4-FFF2-40B4-BE49-F238E27FC236}">
                <a16:creationId xmlns:a16="http://schemas.microsoft.com/office/drawing/2014/main" id="{16B7E598-753A-6A2A-F761-51EFE3717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6260" y="1106424"/>
            <a:ext cx="914400" cy="914400"/>
          </a:xfrm>
          <a:prstGeom prst="rect">
            <a:avLst/>
          </a:prstGeom>
        </p:spPr>
      </p:pic>
      <p:pic>
        <p:nvPicPr>
          <p:cNvPr id="54" name="Gráfico 53" descr="Tienda contorno">
            <a:extLst>
              <a:ext uri="{FF2B5EF4-FFF2-40B4-BE49-F238E27FC236}">
                <a16:creationId xmlns:a16="http://schemas.microsoft.com/office/drawing/2014/main" id="{77A112DA-1465-9E03-3DBB-53173BAD52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69" y="3498228"/>
            <a:ext cx="914400" cy="914400"/>
          </a:xfrm>
          <a:prstGeom prst="rect">
            <a:avLst/>
          </a:prstGeom>
        </p:spPr>
      </p:pic>
      <p:pic>
        <p:nvPicPr>
          <p:cNvPr id="56" name="Gráfico 55" descr="Trabajadora de oficina contorno">
            <a:extLst>
              <a:ext uri="{FF2B5EF4-FFF2-40B4-BE49-F238E27FC236}">
                <a16:creationId xmlns:a16="http://schemas.microsoft.com/office/drawing/2014/main" id="{4D9CAB6D-1FDC-8D93-248D-081AE9D61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" y="1559700"/>
            <a:ext cx="914400" cy="914400"/>
          </a:xfrm>
          <a:prstGeom prst="rect">
            <a:avLst/>
          </a:prstGeom>
        </p:spPr>
      </p:pic>
      <p:pic>
        <p:nvPicPr>
          <p:cNvPr id="58" name="Gráfico 57" descr="Comercio electrónico con relleno sólido">
            <a:extLst>
              <a:ext uri="{FF2B5EF4-FFF2-40B4-BE49-F238E27FC236}">
                <a16:creationId xmlns:a16="http://schemas.microsoft.com/office/drawing/2014/main" id="{3DDEC339-3ADB-031B-7288-B411F6905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3612528"/>
            <a:ext cx="914400" cy="914400"/>
          </a:xfrm>
          <a:prstGeom prst="rect">
            <a:avLst/>
          </a:prstGeom>
        </p:spPr>
      </p:pic>
      <p:pic>
        <p:nvPicPr>
          <p:cNvPr id="60" name="Gráfico 59" descr="Tarjeta de crédito con relleno sólido">
            <a:extLst>
              <a:ext uri="{FF2B5EF4-FFF2-40B4-BE49-F238E27FC236}">
                <a16:creationId xmlns:a16="http://schemas.microsoft.com/office/drawing/2014/main" id="{C951D91C-8695-1CBD-9154-C7B3DB502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91656" y="2292858"/>
            <a:ext cx="621792" cy="621792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1A085DF4-8F0C-4222-7752-A7BEAB47386C}"/>
              </a:ext>
            </a:extLst>
          </p:cNvPr>
          <p:cNvSpPr txBox="1"/>
          <p:nvPr/>
        </p:nvSpPr>
        <p:spPr>
          <a:xfrm>
            <a:off x="3291840" y="3936492"/>
            <a:ext cx="1361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FINTECH S.A</a:t>
            </a:r>
            <a:endParaRPr lang="es-CL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B7DC33F5-0690-713D-4907-3114E352BB38}"/>
              </a:ext>
            </a:extLst>
          </p:cNvPr>
          <p:cNvSpPr/>
          <p:nvPr/>
        </p:nvSpPr>
        <p:spPr>
          <a:xfrm>
            <a:off x="2263140" y="1491639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0. Entrega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8439"/>
    </mc:Choice>
    <mc:Fallback>
      <p:transition spd="slow" advTm="158439"/>
    </mc:Fallback>
  </mc:AlternateContent>
  <p:extLst>
    <p:ext uri="{3A86A75C-4F4B-4683-9AE1-C65F6400EC91}">
      <p14:laserTraceLst xmlns:p14="http://schemas.microsoft.com/office/powerpoint/2010/main">
        <p14:tracePtLst>
          <p14:tracePt t="11198" x="3209925" y="4895850"/>
          <p14:tracePt t="11598" x="1430338" y="4740275"/>
          <p14:tracePt t="11606" x="1430338" y="4584700"/>
          <p14:tracePt t="11624" x="1419225" y="4338638"/>
          <p14:tracePt t="11640" x="1363663" y="4114800"/>
          <p14:tracePt t="11657" x="1319213" y="4014788"/>
          <p14:tracePt t="11674" x="1252538" y="3913188"/>
          <p14:tracePt t="11690" x="1150938" y="3768725"/>
          <p14:tracePt t="11708" x="1084263" y="3667125"/>
          <p14:tracePt t="11723" x="1050925" y="3633788"/>
          <p14:tracePt t="11741" x="1039813" y="3600450"/>
          <p14:tracePt t="11757" x="1028700" y="3578225"/>
          <p14:tracePt t="11774" x="1017588" y="3567113"/>
          <p14:tracePt t="12033" x="962025" y="3398838"/>
          <p14:tracePt t="12040" x="882650" y="3186113"/>
          <p14:tracePt t="12046" x="815975" y="3008313"/>
          <p14:tracePt t="12057" x="738188" y="2840038"/>
          <p14:tracePt t="12074" x="625475" y="2593975"/>
          <p14:tracePt t="12076" x="547688" y="2493963"/>
          <p14:tracePt t="12090" x="425450" y="2359025"/>
          <p14:tracePt t="12107" x="301625" y="2236788"/>
          <p14:tracePt t="12124" x="122238" y="2079625"/>
          <p14:tracePt t="12140" x="0" y="2024063"/>
          <p14:tracePt t="12488" x="179388" y="1833563"/>
          <p14:tracePt t="12495" x="357188" y="1800225"/>
          <p14:tracePt t="12507" x="514350" y="1766888"/>
          <p14:tracePt t="12523" x="984250" y="1643063"/>
          <p14:tracePt t="12540" x="1274763" y="1576388"/>
          <p14:tracePt t="12557" x="1620838" y="1520825"/>
          <p14:tracePt t="12574" x="2112963" y="1465263"/>
          <p14:tracePt t="12590" x="2414588" y="1431925"/>
          <p14:tracePt t="12607" x="2749550" y="1397000"/>
          <p14:tracePt t="12624" x="2940050" y="1363663"/>
          <p14:tracePt t="12641" x="3084513" y="1341438"/>
          <p14:tracePt t="12657" x="3365500" y="1308100"/>
          <p14:tracePt t="12690" x="3867150" y="1296988"/>
          <p14:tracePt t="12707" x="4057650" y="1308100"/>
          <p14:tracePt t="12723" x="4292600" y="1341438"/>
          <p14:tracePt t="12740" x="4414838" y="1385888"/>
          <p14:tracePt t="12756" x="4583113" y="1408113"/>
          <p14:tracePt t="12773" x="4795838" y="1498600"/>
          <p14:tracePt t="12790" x="4929188" y="1587500"/>
          <p14:tracePt t="12807" x="5119688" y="1689100"/>
          <p14:tracePt t="12823" x="5230813" y="1744663"/>
          <p14:tracePt t="12840" x="5310188" y="1789113"/>
          <p14:tracePt t="12857" x="5387975" y="1811338"/>
          <p14:tracePt t="12874" x="5432425" y="1822450"/>
          <p14:tracePt t="12891" x="5465763" y="1844675"/>
          <p14:tracePt t="12907" x="5487988" y="1844675"/>
          <p14:tracePt t="12923" x="5522913" y="1844675"/>
          <p14:tracePt t="12940" x="5534025" y="1844675"/>
          <p14:tracePt t="12974" x="5545138" y="1844675"/>
          <p14:tracePt t="13041" x="5534025" y="1844675"/>
          <p14:tracePt t="13056" x="5510213" y="1844675"/>
          <p14:tracePt t="13074" x="5465763" y="1833563"/>
          <p14:tracePt t="13090" x="5265738" y="1755775"/>
          <p14:tracePt t="13107" x="5064125" y="1665288"/>
          <p14:tracePt t="13124" x="4918075" y="1587500"/>
          <p14:tracePt t="13140" x="4729163" y="1520825"/>
          <p14:tracePt t="13158" x="4594225" y="1465263"/>
          <p14:tracePt t="13174" x="4370388" y="1374775"/>
          <p14:tracePt t="13191" x="4203700" y="1319213"/>
          <p14:tracePt t="13193" x="4124325" y="1296988"/>
          <p14:tracePt t="13207" x="4068763" y="1263650"/>
          <p14:tracePt t="13224" x="3946525" y="1230313"/>
          <p14:tracePt t="13241" x="3889375" y="1208088"/>
          <p14:tracePt t="13257" x="3789363" y="1185863"/>
          <p14:tracePt t="13274" x="3733800" y="1174750"/>
          <p14:tracePt t="13290" x="3621088" y="1150938"/>
          <p14:tracePt t="13308" x="3554413" y="1139825"/>
          <p14:tracePt t="13324" x="3476625" y="1139825"/>
          <p14:tracePt t="13340" x="3341688" y="1139825"/>
          <p14:tracePt t="13359" x="3275013" y="1139825"/>
          <p14:tracePt t="13361" x="3219450" y="1139825"/>
          <p14:tracePt t="13373" x="3097213" y="1139825"/>
          <p14:tracePt t="13391" x="3017838" y="1163638"/>
          <p14:tracePt t="13424" x="2816225" y="1208088"/>
          <p14:tracePt t="13441" x="2771775" y="1230313"/>
          <p14:tracePt t="13457" x="2727325" y="1252538"/>
          <p14:tracePt t="13474" x="2693988" y="1285875"/>
          <p14:tracePt t="13490" x="2671763" y="1319213"/>
          <p14:tracePt t="13507" x="2649538" y="1385888"/>
          <p14:tracePt t="13523" x="2605088" y="1454150"/>
          <p14:tracePt t="13540" x="2571750" y="1565275"/>
          <p14:tracePt t="13558" x="2560638" y="1643063"/>
          <p14:tracePt t="13574" x="2536825" y="1755775"/>
          <p14:tracePt t="13591" x="2536825" y="1822450"/>
          <p14:tracePt t="13607" x="2536825" y="1968500"/>
          <p14:tracePt t="13641" x="2560638" y="2135188"/>
          <p14:tracePt t="13657" x="2593975" y="2214563"/>
          <p14:tracePt t="13674" x="2616200" y="2259013"/>
          <p14:tracePt t="13690" x="2671763" y="2303463"/>
          <p14:tracePt t="13706" x="2705100" y="2325688"/>
          <p14:tracePt t="13724" x="2749550" y="2347913"/>
          <p14:tracePt t="13725" x="2771775" y="2347913"/>
          <p14:tracePt t="13740" x="2840038" y="2370138"/>
          <p14:tracePt t="13758" x="2917825" y="2392363"/>
          <p14:tracePt t="13773" x="3051175" y="2425700"/>
          <p14:tracePt t="13791" x="3152775" y="2436813"/>
          <p14:tracePt t="13807" x="3297238" y="2436813"/>
          <p14:tracePt t="13823" x="3376613" y="2436813"/>
          <p14:tracePt t="13841" x="3465513" y="2436813"/>
          <p14:tracePt t="13857" x="3621088" y="2403475"/>
          <p14:tracePt t="13873" x="3711575" y="2381250"/>
          <p14:tracePt t="13890" x="3867150" y="2325688"/>
          <p14:tracePt t="13907" x="3957638" y="2292350"/>
          <p14:tracePt t="13924" x="4057650" y="2247900"/>
          <p14:tracePt t="13940" x="4214813" y="2168525"/>
          <p14:tracePt t="13957" x="4303713" y="2112963"/>
          <p14:tracePt t="13974" x="4414838" y="2035175"/>
          <p14:tracePt t="13990" x="4494213" y="1979613"/>
          <p14:tracePt t="14007" x="4549775" y="1922463"/>
          <p14:tracePt t="14009" x="4572000" y="1889125"/>
          <p14:tracePt t="14023" x="4649788" y="1822450"/>
          <p14:tracePt t="14041" x="4705350" y="1766888"/>
          <p14:tracePt t="14057" x="4762500" y="1677988"/>
          <p14:tracePt t="14073" x="4795838" y="1620838"/>
          <p14:tracePt t="14090" x="4784725" y="1520825"/>
          <p14:tracePt t="14107" x="4751388" y="1454150"/>
          <p14:tracePt t="14124" x="4672013" y="1374775"/>
          <p14:tracePt t="14141" x="4494213" y="1208088"/>
          <p14:tracePt t="14158" x="4337050" y="1106488"/>
          <p14:tracePt t="14173" x="4024313" y="995363"/>
          <p14:tracePt t="14191" x="3744913" y="928688"/>
          <p14:tracePt t="14207" x="3509963" y="906463"/>
          <p14:tracePt t="14224" x="3297238" y="893763"/>
          <p14:tracePt t="14240" x="3208338" y="906463"/>
          <p14:tracePt t="14257" x="3130550" y="939800"/>
          <p14:tracePt t="14274" x="3097213" y="962025"/>
          <p14:tracePt t="14276" x="3073400" y="984250"/>
          <p14:tracePt t="14290" x="3040063" y="1039813"/>
          <p14:tracePt t="14307" x="2984500" y="1095375"/>
          <p14:tracePt t="14325" x="2951163" y="1174750"/>
          <p14:tracePt t="14340" x="2895600" y="1374775"/>
          <p14:tracePt t="14357" x="2862263" y="1543050"/>
          <p14:tracePt t="14374" x="2884488" y="1755775"/>
          <p14:tracePt t="14390" x="2928938" y="1878013"/>
          <p14:tracePt t="14407" x="2962275" y="1968500"/>
          <p14:tracePt t="14424" x="3062288" y="2046288"/>
          <p14:tracePt t="14441" x="3141663" y="2079625"/>
          <p14:tracePt t="14457" x="3319463" y="2101850"/>
          <p14:tracePt t="14473" x="3487738" y="2101850"/>
          <p14:tracePt t="14490" x="3656013" y="2068513"/>
          <p14:tracePt t="14507" x="3767138" y="2024063"/>
          <p14:tracePt t="14525" x="3867150" y="1957388"/>
          <p14:tracePt t="14526" x="3902075" y="1922463"/>
          <p14:tracePt t="14540" x="4002088" y="1822450"/>
          <p14:tracePt t="14558" x="4090988" y="1689100"/>
          <p14:tracePt t="14573" x="4170363" y="1454150"/>
          <p14:tracePt t="14590" x="4157663" y="1319213"/>
          <p14:tracePt t="14610" x="4002088" y="1073150"/>
          <p14:tracePt t="14623" x="3844925" y="928688"/>
          <p14:tracePt t="14640" x="3621088" y="849313"/>
          <p14:tracePt t="14657" x="3319463" y="793750"/>
          <p14:tracePt t="14674" x="3208338" y="793750"/>
          <p14:tracePt t="14690" x="3130550" y="793750"/>
          <p14:tracePt t="14707" x="3028950" y="860425"/>
          <p14:tracePt t="14725" x="2973388" y="939800"/>
          <p14:tracePt t="14726" x="2928938" y="995363"/>
          <p14:tracePt t="14740" x="2873375" y="1117600"/>
          <p14:tracePt t="14757" x="2816225" y="1230313"/>
          <p14:tracePt t="14773" x="2782888" y="1374775"/>
          <p14:tracePt t="14790" x="2782888" y="1465263"/>
          <p14:tracePt t="14808" x="2805113" y="1543050"/>
          <p14:tracePt t="14810" x="2828925" y="1587500"/>
          <p14:tracePt t="14824" x="2895600" y="1643063"/>
          <p14:tracePt t="14841" x="3051175" y="1744663"/>
          <p14:tracePt t="14857" x="3465513" y="1878013"/>
          <p14:tracePt t="14874" x="3722688" y="1911350"/>
          <p14:tracePt t="14890" x="3878263" y="1935163"/>
          <p14:tracePt t="14907" x="4068763" y="1889125"/>
          <p14:tracePt t="14924" x="4157663" y="1833563"/>
          <p14:tracePt t="14940" x="4270375" y="1733550"/>
          <p14:tracePt t="14957" x="4325938" y="1654175"/>
          <p14:tracePt t="14973" x="4359275" y="1565275"/>
          <p14:tracePt t="14990" x="4359275" y="1531938"/>
          <p14:tracePt t="15007" x="4337050" y="1509713"/>
          <p14:tracePt t="15008" x="4325938" y="1498600"/>
          <p14:tracePt t="15023" x="4248150" y="1465263"/>
          <p14:tracePt t="15040" x="4079875" y="1431925"/>
          <p14:tracePt t="15056" x="3667125" y="1443038"/>
          <p14:tracePt t="15073" x="3465513" y="1465263"/>
          <p14:tracePt t="15090" x="3286125" y="1531938"/>
          <p14:tracePt t="15107" x="3141663" y="1643063"/>
          <p14:tracePt t="15125" x="3051175" y="1744663"/>
          <p14:tracePt t="15126" x="3017838" y="1778000"/>
          <p14:tracePt t="15140" x="2973388" y="1866900"/>
          <p14:tracePt t="15156" x="2951163" y="1922463"/>
          <p14:tracePt t="15173" x="2951163" y="2012950"/>
          <p14:tracePt t="15190" x="2962275" y="2035175"/>
          <p14:tracePt t="15207" x="3006725" y="2079625"/>
          <p14:tracePt t="15210" x="3040063" y="2112963"/>
          <p14:tracePt t="15224" x="3130550" y="2146300"/>
          <p14:tracePt t="15241" x="3319463" y="2203450"/>
          <p14:tracePt t="15257" x="3565525" y="2225675"/>
          <p14:tracePt t="15274" x="3644900" y="2225675"/>
          <p14:tracePt t="15290" x="3689350" y="2225675"/>
          <p14:tracePt t="15307" x="3756025" y="2225675"/>
          <p14:tracePt t="15324" x="3789363" y="2214563"/>
          <p14:tracePt t="15341" x="3822700" y="2203450"/>
          <p14:tracePt t="15357" x="3833813" y="2203450"/>
          <p14:tracePt t="15374" x="3833813" y="2192338"/>
          <p14:tracePt t="15390" x="3844925" y="2192338"/>
          <p14:tracePt t="15424" x="3856038" y="2179638"/>
          <p14:tracePt t="18499" x="3822700" y="2179638"/>
          <p14:tracePt t="18509" x="3778250" y="2179638"/>
          <p14:tracePt t="18523" x="3656013" y="2168525"/>
          <p14:tracePt t="18541" x="3532188" y="2135188"/>
          <p14:tracePt t="18557" x="3387725" y="2124075"/>
          <p14:tracePt t="18573" x="3252788" y="2101850"/>
          <p14:tracePt t="18590" x="3152775" y="2079625"/>
          <p14:tracePt t="18607" x="2962275" y="2057400"/>
          <p14:tracePt t="18624" x="2862263" y="2046288"/>
          <p14:tracePt t="18626" x="2805113" y="2035175"/>
          <p14:tracePt t="18640" x="2682875" y="2001838"/>
          <p14:tracePt t="18657" x="2582863" y="1990725"/>
          <p14:tracePt t="18673" x="2425700" y="1957388"/>
          <p14:tracePt t="18690" x="2336800" y="1946275"/>
          <p14:tracePt t="18707" x="2268538" y="1922463"/>
          <p14:tracePt t="18723" x="2157413" y="1889125"/>
          <p14:tracePt t="18740" x="2101850" y="1878013"/>
          <p14:tracePt t="18757" x="2035175" y="1866900"/>
          <p14:tracePt t="18773" x="2000250" y="1855788"/>
          <p14:tracePt t="18789" x="1955800" y="1844675"/>
          <p14:tracePt t="18807" x="1922463" y="1833563"/>
          <p14:tracePt t="18824" x="1878013" y="1822450"/>
          <p14:tracePt t="18840" x="1833563" y="1811338"/>
          <p14:tracePt t="18858" x="1811338" y="1811338"/>
          <p14:tracePt t="18873" x="1755775" y="1800225"/>
          <p14:tracePt t="18891" x="1731963" y="1800225"/>
          <p14:tracePt t="18907" x="1709738" y="1789113"/>
          <p14:tracePt t="18923" x="1665288" y="1789113"/>
          <p14:tracePt t="18941" x="1654175" y="1789113"/>
          <p14:tracePt t="18957" x="1643063" y="1789113"/>
          <p14:tracePt t="18990" x="1643063" y="1778000"/>
          <p14:tracePt t="19007" x="1643063" y="1766888"/>
          <p14:tracePt t="19024" x="1654175" y="1766888"/>
          <p14:tracePt t="19040" x="1665288" y="1755775"/>
          <p14:tracePt t="22933" x="1587500" y="1755775"/>
          <p14:tracePt t="22939" x="1474788" y="1755775"/>
          <p14:tracePt t="22956" x="1274763" y="1755775"/>
          <p14:tracePt t="22974" x="1062038" y="1755775"/>
          <p14:tracePt t="22990" x="962025" y="1755775"/>
          <p14:tracePt t="23007" x="904875" y="1755775"/>
          <p14:tracePt t="23023" x="860425" y="1778000"/>
          <p14:tracePt t="23040" x="838200" y="1778000"/>
          <p14:tracePt t="23056" x="827088" y="1811338"/>
          <p14:tracePt t="23074" x="827088" y="1822450"/>
          <p14:tracePt t="23075" x="827088" y="1844675"/>
          <p14:tracePt t="23090" x="827088" y="1866900"/>
          <p14:tracePt t="23107" x="827088" y="1922463"/>
          <p14:tracePt t="23124" x="849313" y="1957388"/>
          <p14:tracePt t="23139" x="882650" y="2024063"/>
          <p14:tracePt t="23157" x="893763" y="2035175"/>
          <p14:tracePt t="23173" x="950913" y="2068513"/>
          <p14:tracePt t="23190" x="1006475" y="2079625"/>
          <p14:tracePt t="23207" x="1095375" y="2079625"/>
          <p14:tracePt t="23223" x="1308100" y="2057400"/>
          <p14:tracePt t="23240" x="1474788" y="2001838"/>
          <p14:tracePt t="23257" x="1665288" y="1911350"/>
          <p14:tracePt t="23274" x="1766888" y="1833563"/>
          <p14:tracePt t="23277" x="1789113" y="1811338"/>
          <p14:tracePt t="23289" x="1833563" y="1744663"/>
          <p14:tracePt t="23307" x="1844675" y="1700213"/>
          <p14:tracePt t="23324" x="1844675" y="1654175"/>
          <p14:tracePt t="23327" x="1822450" y="1631950"/>
          <p14:tracePt t="23340" x="1789113" y="1587500"/>
          <p14:tracePt t="23357" x="1709738" y="1543050"/>
          <p14:tracePt t="23373" x="1598613" y="1487488"/>
          <p14:tracePt t="23390" x="1498600" y="1476375"/>
          <p14:tracePt t="23407" x="1374775" y="1465263"/>
          <p14:tracePt t="23423" x="1230313" y="1465263"/>
          <p14:tracePt t="23440" x="1150938" y="1487488"/>
          <p14:tracePt t="23456" x="1039813" y="1565275"/>
          <p14:tracePt t="23473" x="984250" y="1643063"/>
          <p14:tracePt t="23489" x="915988" y="1722438"/>
          <p14:tracePt t="23506" x="860425" y="1855788"/>
          <p14:tracePt t="23524" x="827088" y="1946275"/>
          <p14:tracePt t="23525" x="827088" y="1990725"/>
          <p14:tracePt t="23539" x="827088" y="2046288"/>
          <p14:tracePt t="23556" x="838200" y="2101850"/>
          <p14:tracePt t="23573" x="893763" y="2168525"/>
          <p14:tracePt t="23590" x="984250" y="2203450"/>
          <p14:tracePt t="23607" x="1084263" y="2225675"/>
          <p14:tracePt t="23623" x="1308100" y="2203450"/>
          <p14:tracePt t="23640" x="1452563" y="2157413"/>
          <p14:tracePt t="23656" x="1654175" y="2068513"/>
          <p14:tracePt t="23673" x="1755775" y="2001838"/>
          <p14:tracePt t="23691" x="1866900" y="1922463"/>
          <p14:tracePt t="23707" x="1955800" y="1800225"/>
          <p14:tracePt t="23724" x="1989138" y="1755775"/>
          <p14:tracePt t="23740" x="1989138" y="1677988"/>
          <p14:tracePt t="23757" x="1966913" y="1643063"/>
          <p14:tracePt t="23759" x="1944688" y="1609725"/>
          <p14:tracePt t="23773" x="1833563" y="1531938"/>
          <p14:tracePt t="23790" x="1720850" y="1487488"/>
          <p14:tracePt t="23811" x="1463675" y="1420813"/>
          <p14:tracePt t="23823" x="1296988" y="1420813"/>
          <p14:tracePt t="23840" x="1150938" y="1443038"/>
          <p14:tracePt t="23856" x="950913" y="1509713"/>
          <p14:tracePt t="23873" x="860425" y="1565275"/>
          <p14:tracePt t="23877" x="815975" y="1598613"/>
          <p14:tracePt t="23890" x="782638" y="1643063"/>
          <p14:tracePt t="23907" x="625475" y="1833563"/>
          <p14:tracePt t="23923" x="569913" y="1990725"/>
          <p14:tracePt t="23940" x="514350" y="2192338"/>
          <p14:tracePt t="23956" x="503238" y="2281238"/>
          <p14:tracePt t="23973" x="503238" y="2347913"/>
          <p14:tracePt t="23990" x="536575" y="2449513"/>
          <p14:tracePt t="24007" x="581025" y="2482850"/>
          <p14:tracePt t="24023" x="738188" y="2516188"/>
          <p14:tracePt t="24040" x="950913" y="2516188"/>
          <p14:tracePt t="24057" x="1408113" y="2436813"/>
          <p14:tracePt t="24073" x="1687513" y="2370138"/>
          <p14:tracePt t="24092" x="1911350" y="2270125"/>
          <p14:tracePt t="24106" x="1989138" y="2214563"/>
          <p14:tracePt t="24124" x="2035175" y="2168525"/>
          <p14:tracePt t="24140" x="2079625" y="2079625"/>
          <p14:tracePt t="24156" x="2079625" y="2012950"/>
          <p14:tracePt t="24173" x="2046288" y="1935163"/>
          <p14:tracePt t="24190" x="1900238" y="1789113"/>
          <p14:tracePt t="24207" x="1720850" y="1677988"/>
          <p14:tracePt t="24223" x="1408113" y="1543050"/>
          <p14:tracePt t="24240" x="1230313" y="1476375"/>
          <p14:tracePt t="24258" x="1028700" y="1465263"/>
          <p14:tracePt t="24273" x="882650" y="1465263"/>
          <p14:tracePt t="24290" x="749300" y="1509713"/>
          <p14:tracePt t="24306" x="581025" y="1631950"/>
          <p14:tracePt t="24323" x="469900" y="1789113"/>
          <p14:tracePt t="24340" x="357188" y="1990725"/>
          <p14:tracePt t="24356" x="279400" y="2259013"/>
          <p14:tracePt t="24373" x="257175" y="2381250"/>
          <p14:tracePt t="24390" x="268288" y="2482850"/>
          <p14:tracePt t="24406" x="301625" y="2516188"/>
          <p14:tracePt t="24423" x="401638" y="2582863"/>
          <p14:tracePt t="24439" x="592138" y="2582863"/>
          <p14:tracePt t="24457" x="904875" y="2571750"/>
          <p14:tracePt t="24473" x="1452563" y="2425700"/>
          <p14:tracePt t="24489" x="1709738" y="2303463"/>
          <p14:tracePt t="24506" x="1922463" y="2112963"/>
          <p14:tracePt t="24523" x="1978025" y="2001838"/>
          <p14:tracePt t="24540" x="1989138" y="1878013"/>
          <p14:tracePt t="24556" x="1989138" y="1822450"/>
          <p14:tracePt t="24574" x="1955800" y="1766888"/>
          <p14:tracePt t="24590" x="1800225" y="1654175"/>
          <p14:tracePt t="24606" x="1676400" y="1609725"/>
          <p14:tracePt t="24623" x="1452563" y="1587500"/>
          <p14:tracePt t="24640" x="1319213" y="1587500"/>
          <p14:tracePt t="24657" x="1219200" y="1598613"/>
          <p14:tracePt t="24673" x="1084263" y="1677988"/>
          <p14:tracePt t="24690" x="1017588" y="1733550"/>
          <p14:tracePt t="24691" x="984250" y="1789113"/>
          <p14:tracePt t="24706" x="904875" y="1946275"/>
          <p14:tracePt t="24723" x="860425" y="2090738"/>
          <p14:tracePt t="24740" x="827088" y="2247900"/>
          <p14:tracePt t="24756" x="838200" y="2403475"/>
          <p14:tracePt t="24773" x="860425" y="2449513"/>
          <p14:tracePt t="24790" x="962025" y="2493963"/>
          <p14:tracePt t="24806" x="1128713" y="2505075"/>
          <p14:tracePt t="24822" x="1543050" y="2381250"/>
          <p14:tracePt t="24839" x="1855788" y="2203450"/>
          <p14:tracePt t="24856" x="2057400" y="2024063"/>
          <p14:tracePt t="24873" x="2190750" y="1755775"/>
          <p14:tracePt t="24890" x="2212975" y="1643063"/>
          <p14:tracePt t="24892" x="2212975" y="1609725"/>
          <p14:tracePt t="24906" x="2190750" y="1531938"/>
          <p14:tracePt t="24922" x="2090738" y="1454150"/>
          <p14:tracePt t="24939" x="1922463" y="1374775"/>
          <p14:tracePt t="24956" x="1463675" y="1308100"/>
          <p14:tracePt t="24973" x="1206500" y="1330325"/>
          <p14:tracePt t="24989" x="871538" y="1443038"/>
          <p14:tracePt t="25007" x="715963" y="1554163"/>
          <p14:tracePt t="25023" x="525463" y="1778000"/>
          <p14:tracePt t="25040" x="469900" y="1935163"/>
          <p14:tracePt t="25057" x="436563" y="2079625"/>
          <p14:tracePt t="25073" x="447675" y="2247900"/>
          <p14:tracePt t="25089" x="481013" y="2303463"/>
          <p14:tracePt t="25106" x="525463" y="2359025"/>
          <p14:tracePt t="25123" x="569913" y="2381250"/>
          <p14:tracePt t="25140" x="625475" y="2381250"/>
          <p14:tracePt t="25156" x="760413" y="2381250"/>
          <p14:tracePt t="25190" x="827088" y="2370138"/>
          <p14:tracePt t="28020" x="927100" y="2203450"/>
          <p14:tracePt t="28026" x="1050925" y="1990725"/>
          <p14:tracePt t="28039" x="1150938" y="1833563"/>
          <p14:tracePt t="28056" x="1341438" y="1531938"/>
          <p14:tracePt t="28073" x="1385888" y="1443038"/>
          <p14:tracePt t="28089" x="1419225" y="1397000"/>
          <p14:tracePt t="28106" x="1430338" y="1374775"/>
          <p14:tracePt t="28124" x="1441450" y="1363663"/>
          <p14:tracePt t="28125" x="1441450" y="1352550"/>
          <p14:tracePt t="28140" x="1452563" y="1341438"/>
          <p14:tracePt t="28193" x="1452563" y="1352550"/>
          <p14:tracePt t="28199" x="1452563" y="1363663"/>
          <p14:tracePt t="28213" x="1452563" y="1374775"/>
          <p14:tracePt t="28223" x="1452563" y="1385888"/>
          <p14:tracePt t="28240" x="1452563" y="1408113"/>
          <p14:tracePt t="28256" x="1452563" y="1476375"/>
          <p14:tracePt t="28273" x="1452563" y="1576388"/>
          <p14:tracePt t="28289" x="1452563" y="1755775"/>
          <p14:tracePt t="28306" x="1452563" y="1922463"/>
          <p14:tracePt t="28323" x="1430338" y="2090738"/>
          <p14:tracePt t="28339" x="1385888" y="2436813"/>
          <p14:tracePt t="28356" x="1308100" y="2817813"/>
          <p14:tracePt t="28373" x="1241425" y="3790950"/>
          <p14:tracePt t="28390" x="1241425" y="3957638"/>
          <p14:tracePt t="28407" x="1241425" y="4014788"/>
          <p14:tracePt t="28423" x="1241425" y="4048125"/>
          <p14:tracePt t="28442" x="1241425" y="4059238"/>
          <p14:tracePt t="28456" x="1241425" y="4070350"/>
          <p14:tracePt t="28476" x="1241425" y="4081463"/>
          <p14:tracePt t="28492" x="1241425" y="4092575"/>
          <p14:tracePt t="28523" x="1241425" y="4103688"/>
          <p14:tracePt t="28683" x="1241425" y="4092575"/>
          <p14:tracePt t="28707" x="1241425" y="4081463"/>
          <p14:tracePt t="28724" x="1241425" y="4014788"/>
          <p14:tracePt t="28740" x="1263650" y="3522663"/>
          <p14:tracePt t="28756" x="1296988" y="3208338"/>
          <p14:tracePt t="28759" x="1296988" y="3119438"/>
          <p14:tracePt t="28773" x="1308100" y="2974975"/>
          <p14:tracePt t="28790" x="1308100" y="2884488"/>
          <p14:tracePt t="28807" x="1319213" y="2817813"/>
          <p14:tracePt t="28809" x="1319213" y="2773363"/>
          <p14:tracePt t="28823" x="1330325" y="2717800"/>
          <p14:tracePt t="28839" x="1330325" y="2638425"/>
          <p14:tracePt t="28856" x="1352550" y="2493963"/>
          <p14:tracePt t="28873" x="1352550" y="2414588"/>
          <p14:tracePt t="28890" x="1352550" y="2325688"/>
          <p14:tracePt t="28906" x="1352550" y="2236788"/>
          <p14:tracePt t="28923" x="1363663" y="2192338"/>
          <p14:tracePt t="28940" x="1363663" y="2124075"/>
          <p14:tracePt t="28956" x="1374775" y="2079625"/>
          <p14:tracePt t="28972" x="1385888" y="2012950"/>
          <p14:tracePt t="28990" x="1385888" y="1979613"/>
          <p14:tracePt t="29007" x="1385888" y="1946275"/>
          <p14:tracePt t="29009" x="1385888" y="1935163"/>
          <p14:tracePt t="29022" x="1385888" y="1922463"/>
          <p14:tracePt t="29040" x="1385888" y="1911350"/>
          <p14:tracePt t="29056" x="1385888" y="1900238"/>
          <p14:tracePt t="29090" x="1397000" y="1900238"/>
          <p14:tracePt t="29110" x="1408113" y="1900238"/>
          <p14:tracePt t="29123" x="1408113" y="1911350"/>
          <p14:tracePt t="29139" x="1419225" y="1922463"/>
          <p14:tracePt t="29156" x="1430338" y="1935163"/>
          <p14:tracePt t="29173" x="1463675" y="1957388"/>
          <p14:tracePt t="29189" x="1531938" y="2001838"/>
          <p14:tracePt t="29206" x="1598613" y="2046288"/>
          <p14:tracePt t="29223" x="1766888" y="2124075"/>
          <p14:tracePt t="29239" x="1911350" y="2168525"/>
          <p14:tracePt t="29256" x="2079625" y="2225675"/>
          <p14:tracePt t="29273" x="2146300" y="2236788"/>
          <p14:tracePt t="29290" x="2235200" y="2236788"/>
          <p14:tracePt t="29306" x="2336800" y="2236788"/>
          <p14:tracePt t="29322" x="2414588" y="2236788"/>
          <p14:tracePt t="29339" x="2481263" y="2236788"/>
          <p14:tracePt t="29356" x="2503488" y="2236788"/>
          <p14:tracePt t="29373" x="2525713" y="2236788"/>
          <p14:tracePt t="29472" x="2514600" y="2247900"/>
          <p14:tracePt t="29490" x="2492375" y="2259013"/>
          <p14:tracePt t="29506" x="2459038" y="2281238"/>
          <p14:tracePt t="29523" x="2447925" y="2303463"/>
          <p14:tracePt t="29539" x="2425700" y="2336800"/>
          <p14:tracePt t="29556" x="2403475" y="2359025"/>
          <p14:tracePt t="29574" x="2359025" y="2414588"/>
          <p14:tracePt t="29589" x="2347913" y="2449513"/>
          <p14:tracePt t="29606" x="2325688" y="2471738"/>
          <p14:tracePt t="29608" x="2314575" y="2482850"/>
          <p14:tracePt t="29622" x="2314575" y="2505075"/>
          <p14:tracePt t="29639" x="2303463" y="2505075"/>
          <p14:tracePt t="29657" x="2303463" y="2516188"/>
          <p14:tracePt t="29672" x="2303463" y="2527300"/>
          <p14:tracePt t="29726" x="2325688" y="2527300"/>
          <p14:tracePt t="29739" x="2359025" y="2538413"/>
          <p14:tracePt t="29756" x="2414588" y="2538413"/>
          <p14:tracePt t="29773" x="2481263" y="2538413"/>
          <p14:tracePt t="29775" x="2525713" y="2538413"/>
          <p14:tracePt t="29789" x="2593975" y="2538413"/>
          <p14:tracePt t="29806" x="2660650" y="2538413"/>
          <p14:tracePt t="29823" x="2749550" y="2505075"/>
          <p14:tracePt t="29839" x="2782888" y="2471738"/>
          <p14:tracePt t="29857" x="2816225" y="2414588"/>
          <p14:tracePt t="29859" x="2816225" y="2381250"/>
          <p14:tracePt t="29873" x="2816225" y="2359025"/>
          <p14:tracePt t="29889" x="2794000" y="2303463"/>
          <p14:tracePt t="29906" x="2727325" y="2236788"/>
          <p14:tracePt t="29922" x="2649538" y="2203450"/>
          <p14:tracePt t="29939" x="2560638" y="2157413"/>
          <p14:tracePt t="29956" x="2414588" y="2124075"/>
          <p14:tracePt t="29973" x="2336800" y="2124075"/>
          <p14:tracePt t="29974" x="2292350" y="2124075"/>
          <p14:tracePt t="29989" x="2235200" y="2124075"/>
          <p14:tracePt t="30006" x="2179638" y="2135188"/>
          <p14:tracePt t="30022" x="2112963" y="2179638"/>
          <p14:tracePt t="30040" x="2068513" y="2214563"/>
          <p14:tracePt t="30056" x="2000250" y="2281238"/>
          <p14:tracePt t="30058" x="1989138" y="2314575"/>
          <p14:tracePt t="30072" x="1933575" y="2392363"/>
          <p14:tracePt t="30091" x="1889125" y="2482850"/>
          <p14:tracePt t="30092" x="1878013" y="2516188"/>
          <p14:tracePt t="30106" x="1855788" y="2571750"/>
          <p14:tracePt t="30123" x="1844675" y="2605088"/>
          <p14:tracePt t="30140" x="1844675" y="2627313"/>
          <p14:tracePt t="30156" x="1844675" y="2682875"/>
          <p14:tracePt t="30174" x="1878013" y="2717800"/>
          <p14:tracePt t="30176" x="1911350" y="2751138"/>
          <p14:tracePt t="30189" x="2024063" y="2817813"/>
          <p14:tracePt t="30206" x="2179638" y="2895600"/>
          <p14:tracePt t="30223" x="2325688" y="2928938"/>
          <p14:tracePt t="30241" x="2514600" y="2928938"/>
          <p14:tracePt t="30255" x="2616200" y="2917825"/>
          <p14:tracePt t="30272" x="2794000" y="2795588"/>
          <p14:tracePt t="30290" x="2884488" y="2717800"/>
          <p14:tracePt t="30306" x="2984500" y="2527300"/>
          <p14:tracePt t="30323" x="3028950" y="2425700"/>
          <p14:tracePt t="30340" x="3040063" y="2303463"/>
          <p14:tracePt t="30356" x="3028950" y="2179638"/>
          <p14:tracePt t="30373" x="2984500" y="2112963"/>
          <p14:tracePt t="30389" x="2884488" y="2012950"/>
          <p14:tracePt t="30406" x="2771775" y="1946275"/>
          <p14:tracePt t="30423" x="2627313" y="1878013"/>
          <p14:tracePt t="30439" x="2403475" y="1855788"/>
          <p14:tracePt t="30456" x="2303463" y="1855788"/>
          <p14:tracePt t="30473" x="2201863" y="1855788"/>
          <p14:tracePt t="30490" x="2146300" y="1878013"/>
          <p14:tracePt t="30506" x="2079625" y="1935163"/>
          <p14:tracePt t="30523" x="2035175" y="1979613"/>
          <p14:tracePt t="30541" x="1989138" y="2057400"/>
          <p14:tracePt t="30543" x="1978025" y="2112963"/>
          <p14:tracePt t="30556" x="1955800" y="2203450"/>
          <p14:tracePt t="30573" x="1933575" y="2303463"/>
          <p14:tracePt t="30589" x="1933575" y="2436813"/>
          <p14:tracePt t="30606" x="1955800" y="2482850"/>
          <p14:tracePt t="30623" x="1989138" y="2527300"/>
          <p14:tracePt t="30639" x="2090738" y="2582863"/>
          <p14:tracePt t="30656" x="2212975" y="2627313"/>
          <p14:tracePt t="30672" x="2447925" y="2649538"/>
          <p14:tracePt t="30690" x="2605088" y="2649538"/>
          <p14:tracePt t="30706" x="2705100" y="2649538"/>
          <p14:tracePt t="30722" x="2816225" y="2616200"/>
          <p14:tracePt t="30739" x="2884488" y="2560638"/>
          <p14:tracePt t="30756" x="2940050" y="2482850"/>
          <p14:tracePt t="30773" x="2973388" y="2392363"/>
          <p14:tracePt t="30789" x="2973388" y="2270125"/>
          <p14:tracePt t="30809" x="2940050" y="2192338"/>
          <p14:tracePt t="30811" x="2917825" y="2157413"/>
          <p14:tracePt t="30823" x="2873375" y="2124075"/>
          <p14:tracePt t="30839" x="2727325" y="2024063"/>
          <p14:tracePt t="30856" x="2582863" y="2001838"/>
          <p14:tracePt t="30873" x="2347913" y="1979613"/>
          <p14:tracePt t="30889" x="2212975" y="1990725"/>
          <p14:tracePt t="30906" x="2079625" y="2046288"/>
          <p14:tracePt t="30923" x="1878013" y="2214563"/>
          <p14:tracePt t="30940" x="1731963" y="2392363"/>
          <p14:tracePt t="30956" x="1565275" y="2649538"/>
          <p14:tracePt t="30973" x="1498600" y="2784475"/>
          <p14:tracePt t="30990" x="1441450" y="2951163"/>
          <p14:tracePt t="31006" x="1441450" y="3030538"/>
          <p14:tracePt t="31023" x="1452563" y="3108325"/>
          <p14:tracePt t="31039" x="1531938" y="3163888"/>
          <p14:tracePt t="31056" x="1598613" y="3197225"/>
          <p14:tracePt t="31072" x="1944688" y="3232150"/>
          <p14:tracePt t="31089" x="2246313" y="3208338"/>
          <p14:tracePt t="31107" x="2492375" y="3163888"/>
          <p14:tracePt t="31123" x="2682875" y="3074988"/>
          <p14:tracePt t="31139" x="2749550" y="2997200"/>
          <p14:tracePt t="31156" x="2805113" y="2884488"/>
          <p14:tracePt t="31173" x="2840038" y="2817813"/>
          <p14:tracePt t="31190" x="2816225" y="2706688"/>
          <p14:tracePt t="31206" x="2771775" y="2627313"/>
          <p14:tracePt t="31224" x="2705100" y="2549525"/>
          <p14:tracePt t="31240" x="2525713" y="2414588"/>
          <p14:tracePt t="31257" x="2392363" y="2347913"/>
          <p14:tracePt t="31273" x="2257425" y="2292350"/>
          <p14:tracePt t="31290" x="2168525" y="2292350"/>
          <p14:tracePt t="31306" x="2112963" y="2292350"/>
          <p14:tracePt t="31308" x="2079625" y="2292350"/>
          <p14:tracePt t="31322" x="2024063" y="2314575"/>
          <p14:tracePt t="31340" x="1955800" y="2370138"/>
          <p14:tracePt t="31342" x="1933575" y="2392363"/>
          <p14:tracePt t="31356" x="1866900" y="2471738"/>
          <p14:tracePt t="31373" x="1811338" y="2560638"/>
          <p14:tracePt t="31392" x="1778000" y="2638425"/>
          <p14:tracePt t="31395" x="1766888" y="2660650"/>
          <p14:tracePt t="31398" x="1755775" y="2693988"/>
          <p14:tracePt t="31405" x="1755775" y="2717800"/>
          <p14:tracePt t="31422" x="1755775" y="2762250"/>
          <p14:tracePt t="31439" x="1789113" y="2817813"/>
          <p14:tracePt t="31456" x="1844675" y="2840038"/>
          <p14:tracePt t="31473" x="2035175" y="2840038"/>
          <p14:tracePt t="31490" x="2179638" y="2806700"/>
          <p14:tracePt t="31506" x="2336800" y="2751138"/>
          <p14:tracePt t="31523" x="2481263" y="2638425"/>
          <p14:tracePt t="31539" x="2547938" y="2571750"/>
          <p14:tracePt t="31556" x="2605088" y="2516188"/>
          <p14:tracePt t="31573" x="2616200" y="2460625"/>
          <p14:tracePt t="31590" x="2616200" y="2425700"/>
          <p14:tracePt t="31592" x="2616200" y="2403475"/>
          <p14:tracePt t="31606" x="2571750" y="2370138"/>
          <p14:tracePt t="31624" x="2503488" y="2314575"/>
          <p14:tracePt t="31627" x="2459038" y="2303463"/>
          <p14:tracePt t="31640" x="2370138" y="2281238"/>
          <p14:tracePt t="31657" x="2292350" y="2270125"/>
          <p14:tracePt t="31673" x="2201863" y="2270125"/>
          <p14:tracePt t="31689" x="2146300" y="2292350"/>
          <p14:tracePt t="31707" x="2090738" y="2336800"/>
          <p14:tracePt t="31723" x="2000250" y="2471738"/>
          <p14:tracePt t="31739" x="1944688" y="2605088"/>
          <p14:tracePt t="31756" x="1900238" y="2806700"/>
          <p14:tracePt t="31773" x="1900238" y="2928938"/>
          <p14:tracePt t="31790" x="1955800" y="2997200"/>
          <p14:tracePt t="31808" x="2057400" y="3074988"/>
          <p14:tracePt t="31810" x="2101850" y="3086100"/>
          <p14:tracePt t="31822" x="2157413" y="3086100"/>
          <p14:tracePt t="31839" x="2381250" y="3030538"/>
          <p14:tracePt t="31856" x="2536825" y="2917825"/>
          <p14:tracePt t="31873" x="2660650" y="2795588"/>
          <p14:tracePt t="31874" x="2705100" y="2717800"/>
          <p14:tracePt t="31889" x="2760663" y="2605088"/>
          <p14:tracePt t="31907" x="2782888" y="2516188"/>
          <p14:tracePt t="31922" x="2782888" y="2425700"/>
          <p14:tracePt t="31939" x="2738438" y="2359025"/>
          <p14:tracePt t="31957" x="2560638" y="2247900"/>
          <p14:tracePt t="31973" x="2325688" y="2214563"/>
          <p14:tracePt t="31991" x="1989138" y="2203450"/>
          <p14:tracePt t="32006" x="1844675" y="2203450"/>
          <p14:tracePt t="32023" x="1778000" y="2225675"/>
          <p14:tracePt t="32039" x="1698625" y="2270125"/>
          <p14:tracePt t="32056" x="1665288" y="2325688"/>
          <p14:tracePt t="32072" x="1631950" y="2392363"/>
          <p14:tracePt t="32089" x="1620838" y="2493963"/>
          <p14:tracePt t="32107" x="1620838" y="2560638"/>
          <p14:tracePt t="32123" x="1665288" y="2660650"/>
          <p14:tracePt t="32140" x="1743075" y="2706688"/>
          <p14:tracePt t="32156" x="1900238" y="2751138"/>
          <p14:tracePt t="32173" x="2235200" y="2762250"/>
          <p14:tracePt t="32190" x="2436813" y="2693988"/>
          <p14:tracePt t="32206" x="2593975" y="2627313"/>
          <p14:tracePt t="32222" x="2649538" y="2582863"/>
          <p14:tracePt t="32239" x="2671763" y="2527300"/>
          <p14:tracePt t="32256" x="2671763" y="2505075"/>
          <p14:tracePt t="32272" x="2660650" y="2460625"/>
          <p14:tracePt t="32289" x="2560638" y="2381250"/>
          <p14:tracePt t="32307" x="2447925" y="2325688"/>
          <p14:tracePt t="32308" x="2370138" y="2314575"/>
          <p14:tracePt t="32322" x="2257425" y="2303463"/>
          <p14:tracePt t="32339" x="2168525" y="2303463"/>
          <p14:tracePt t="32356" x="2090738" y="2303463"/>
          <p14:tracePt t="32373" x="2011363" y="2359025"/>
          <p14:tracePt t="32390" x="1944688" y="2460625"/>
          <p14:tracePt t="32406" x="1833563" y="2728913"/>
          <p14:tracePt t="32422" x="1778000" y="3008313"/>
          <p14:tracePt t="32439" x="1866900" y="3522663"/>
          <p14:tracePt t="32456" x="2024063" y="3857625"/>
          <p14:tracePt t="32473" x="2235200" y="4025900"/>
          <p14:tracePt t="32489" x="2536825" y="4092575"/>
          <p14:tracePt t="32506" x="2727325" y="4025900"/>
          <p14:tracePt t="32524" x="3006725" y="3567113"/>
          <p14:tracePt t="32541" x="3073400" y="3376613"/>
          <p14:tracePt t="32556" x="3097213" y="3232150"/>
          <p14:tracePt t="32573" x="3108325" y="3086100"/>
          <p14:tracePt t="32590" x="3108325" y="3019425"/>
          <p14:tracePt t="32606" x="3108325" y="2928938"/>
          <p14:tracePt t="32623" x="3084513" y="2862263"/>
          <p14:tracePt t="32639" x="3051175" y="2806700"/>
          <p14:tracePt t="32656" x="2951163" y="2728913"/>
          <p14:tracePt t="32673" x="2816225" y="2638425"/>
          <p14:tracePt t="32674" x="2716213" y="2605088"/>
          <p14:tracePt t="32689" x="2571750" y="2560638"/>
          <p14:tracePt t="32706" x="2470150" y="2549525"/>
          <p14:tracePt t="32723" x="2381250" y="2549525"/>
          <p14:tracePt t="32739" x="2314575" y="2560638"/>
          <p14:tracePt t="32756" x="2268538" y="2605088"/>
          <p14:tracePt t="32772" x="2179638" y="2682875"/>
          <p14:tracePt t="32790" x="2146300" y="2751138"/>
          <p14:tracePt t="32806" x="2112963" y="2817813"/>
          <p14:tracePt t="32823" x="2101850" y="2851150"/>
          <p14:tracePt t="32840" x="2101850" y="2862263"/>
          <p14:tracePt t="32856" x="2124075" y="2884488"/>
          <p14:tracePt t="32874" x="2179638" y="2884488"/>
          <p14:tracePt t="32875" x="2224088" y="2884488"/>
          <p14:tracePt t="32890" x="2336800" y="2862263"/>
          <p14:tracePt t="32906" x="2436813" y="2806700"/>
          <p14:tracePt t="32922" x="2593975" y="2671763"/>
          <p14:tracePt t="32939" x="2649538" y="2616200"/>
          <p14:tracePt t="32957" x="2671763" y="2549525"/>
          <p14:tracePt t="32958" x="2671763" y="2516188"/>
          <p14:tracePt t="32972" x="2671763" y="2471738"/>
          <p14:tracePt t="32990" x="2671763" y="2449513"/>
          <p14:tracePt t="33006" x="2616200" y="2392363"/>
          <p14:tracePt t="33023" x="2536825" y="2336800"/>
          <p14:tracePt t="33040" x="2470150" y="2314575"/>
          <p14:tracePt t="33056" x="2325688" y="2303463"/>
          <p14:tracePt t="33074" x="2235200" y="2303463"/>
          <p14:tracePt t="33076" x="2201863" y="2314575"/>
          <p14:tracePt t="33089" x="2124075" y="2347913"/>
          <p14:tracePt t="33106" x="2057400" y="2414588"/>
          <p14:tracePt t="33123" x="1966913" y="2516188"/>
          <p14:tracePt t="33140" x="1866900" y="2682875"/>
          <p14:tracePt t="33157" x="1844675" y="2740025"/>
          <p14:tracePt t="33158" x="1833563" y="2762250"/>
          <p14:tracePt t="33173" x="1822450" y="2795588"/>
          <p14:tracePt t="33190" x="1822450" y="2817813"/>
          <p14:tracePt t="33206" x="1866900" y="2851150"/>
          <p14:tracePt t="33223" x="1922463" y="2862263"/>
          <p14:tracePt t="33239" x="2024063" y="2873375"/>
          <p14:tracePt t="33256" x="2235200" y="2840038"/>
          <p14:tracePt t="33273" x="2347913" y="2795588"/>
          <p14:tracePt t="33289" x="2470150" y="2693988"/>
          <p14:tracePt t="33307" x="2536825" y="2582863"/>
          <p14:tracePt t="33310" x="2547938" y="2527300"/>
          <p14:tracePt t="33322" x="2560638" y="2493963"/>
          <p14:tracePt t="33340" x="2571750" y="2403475"/>
          <p14:tracePt t="33358" x="2560638" y="2359025"/>
          <p14:tracePt t="33373" x="2514600" y="2325688"/>
          <p14:tracePt t="33389" x="2470150" y="2314575"/>
          <p14:tracePt t="33407" x="2403475" y="2303463"/>
          <p14:tracePt t="33413" x="2325688" y="2303463"/>
          <p14:tracePt t="33423" x="2292350" y="2314575"/>
          <p14:tracePt t="33440" x="2179638" y="2359025"/>
          <p14:tracePt t="33455" x="2079625" y="2460625"/>
          <p14:tracePt t="33473" x="1955800" y="2627313"/>
          <p14:tracePt t="33489" x="1743075" y="2951163"/>
          <p14:tracePt t="33506" x="1665288" y="3163888"/>
          <p14:tracePt t="33523" x="1598613" y="3332163"/>
          <p14:tracePt t="33539" x="1587500" y="3432175"/>
          <p14:tracePt t="33555" x="1587500" y="3443288"/>
          <p14:tracePt t="33572" x="1609725" y="3454400"/>
          <p14:tracePt t="33589" x="1665288" y="3454400"/>
          <p14:tracePt t="33606" x="1811338" y="3376613"/>
          <p14:tracePt t="33622" x="2224088" y="3074988"/>
          <p14:tracePt t="33640" x="2459038" y="2884488"/>
          <p14:tracePt t="33641" x="2536825" y="2773363"/>
          <p14:tracePt t="33656" x="2649538" y="2616200"/>
          <p14:tracePt t="33673" x="2727325" y="2460625"/>
          <p14:tracePt t="33690" x="2749550" y="2359025"/>
          <p14:tracePt t="33691" x="2749550" y="2336800"/>
          <p14:tracePt t="33706" x="2749550" y="2281238"/>
          <p14:tracePt t="33724" x="2738438" y="2247900"/>
          <p14:tracePt t="33725" x="2727325" y="2225675"/>
          <p14:tracePt t="33739" x="2693988" y="2214563"/>
          <p14:tracePt t="33755" x="2638425" y="2203450"/>
          <p14:tracePt t="33772" x="2536825" y="2203450"/>
          <p14:tracePt t="33789" x="2470150" y="2203450"/>
          <p14:tracePt t="33807" x="2392363" y="2203450"/>
          <p14:tracePt t="33808" x="2359025" y="2214563"/>
          <p14:tracePt t="33825" x="2303463" y="2247900"/>
          <p14:tracePt t="33827" x="2279650" y="2281238"/>
          <p14:tracePt t="33839" x="2246313" y="2314575"/>
          <p14:tracePt t="33856" x="2179638" y="2403475"/>
          <p14:tracePt t="33873" x="2135188" y="2482850"/>
          <p14:tracePt t="33889" x="2101850" y="2582863"/>
          <p14:tracePt t="33906" x="2101850" y="2627313"/>
          <p14:tracePt t="33922" x="2124075" y="2660650"/>
          <p14:tracePt t="33939" x="2201863" y="2693988"/>
          <p14:tracePt t="33956" x="2314575" y="2717800"/>
          <p14:tracePt t="33972" x="2560638" y="2717800"/>
          <p14:tracePt t="33989" x="2705100" y="2682875"/>
          <p14:tracePt t="34007" x="2805113" y="2638425"/>
          <p14:tracePt t="34022" x="2906713" y="2571750"/>
          <p14:tracePt t="34040" x="2951163" y="2505075"/>
          <p14:tracePt t="34041" x="2962275" y="2482850"/>
          <p14:tracePt t="34056" x="2973388" y="2436813"/>
          <p14:tracePt t="34073" x="2973388" y="2414588"/>
          <p14:tracePt t="34089" x="2951163" y="2392363"/>
          <p14:tracePt t="34106" x="2840038" y="2347913"/>
          <p14:tracePt t="34125" x="2605088" y="2336800"/>
          <p14:tracePt t="34139" x="2447925" y="2347913"/>
          <p14:tracePt t="34156" x="2336800" y="2381250"/>
          <p14:tracePt t="34173" x="2190750" y="2493963"/>
          <p14:tracePt t="34189" x="2101850" y="2605088"/>
          <p14:tracePt t="34207" x="2035175" y="2706688"/>
          <p14:tracePt t="34222" x="1989138" y="2806700"/>
          <p14:tracePt t="34239" x="1989138" y="2851150"/>
          <p14:tracePt t="34256" x="2024063" y="2895600"/>
          <p14:tracePt t="34273" x="2101850" y="2906713"/>
          <p14:tracePt t="34289" x="2325688" y="2884488"/>
          <p14:tracePt t="34306" x="2851150" y="2682875"/>
          <p14:tracePt t="34322" x="3163888" y="2482850"/>
          <p14:tracePt t="34339" x="3498850" y="2124075"/>
          <p14:tracePt t="34355" x="3689350" y="1911350"/>
          <p14:tracePt t="34372" x="3856038" y="1755775"/>
          <p14:tracePt t="34389" x="4079875" y="1520825"/>
          <p14:tracePt t="34407" x="4203700" y="1385888"/>
          <p14:tracePt t="34409" x="4248150" y="1341438"/>
          <p14:tracePt t="34422" x="4281488" y="1296988"/>
          <p14:tracePt t="34439" x="4314825" y="1274763"/>
          <p14:tracePt t="34456" x="4325938" y="1263650"/>
          <p14:tracePt t="34476" x="4314825" y="1263650"/>
          <p14:tracePt t="34490" x="4303713" y="1263650"/>
          <p14:tracePt t="34506" x="4270375" y="1285875"/>
          <p14:tracePt t="34523" x="4248150" y="1308100"/>
          <p14:tracePt t="34539" x="4192588" y="1341438"/>
          <p14:tracePt t="34557" x="4102100" y="1408113"/>
          <p14:tracePt t="34572" x="3946525" y="1543050"/>
          <p14:tracePt t="34589" x="3756025" y="1722438"/>
          <p14:tracePt t="34606" x="3700463" y="1778000"/>
          <p14:tracePt t="34622" x="3667125" y="1800225"/>
          <p14:tracePt t="34639" x="3656013" y="1811338"/>
          <p14:tracePt t="34662" x="3656013" y="1800225"/>
          <p14:tracePt t="34672" x="3667125" y="1789113"/>
          <p14:tracePt t="34689" x="3700463" y="1789113"/>
          <p14:tracePt t="34706" x="3733800" y="1744663"/>
          <p14:tracePt t="34724" x="3767138" y="1722438"/>
          <p14:tracePt t="34739" x="3811588" y="1677988"/>
          <p14:tracePt t="34755" x="3844925" y="1654175"/>
          <p14:tracePt t="34772" x="3867150" y="1631950"/>
          <p14:tracePt t="34789" x="3935413" y="1576388"/>
          <p14:tracePt t="34806" x="3957638" y="1554163"/>
          <p14:tracePt t="34822" x="3979863" y="1531938"/>
          <p14:tracePt t="34840" x="3990975" y="1520825"/>
          <p14:tracePt t="34856" x="4002088" y="1509713"/>
          <p14:tracePt t="35008" x="3990975" y="1509713"/>
          <p14:tracePt t="35028" x="3979863" y="1509713"/>
          <p14:tracePt t="35038" x="3979863" y="1520825"/>
          <p14:tracePt t="35056" x="3968750" y="1520825"/>
          <p14:tracePt t="35073" x="3957638" y="1520825"/>
          <p14:tracePt t="35089" x="3946525" y="1520825"/>
          <p14:tracePt t="35106" x="3935413" y="1531938"/>
          <p14:tracePt t="35123" x="3924300" y="1543050"/>
          <p14:tracePt t="35139" x="3902075" y="1554163"/>
          <p14:tracePt t="35156" x="3889375" y="1565275"/>
          <p14:tracePt t="35174" x="3856038" y="1565275"/>
          <p14:tracePt t="35189" x="3844925" y="1576388"/>
          <p14:tracePt t="35206" x="3833813" y="1587500"/>
          <p14:tracePt t="35222" x="3811588" y="1620838"/>
          <p14:tracePt t="35239" x="3778250" y="1631950"/>
          <p14:tracePt t="35257" x="3756025" y="1643063"/>
          <p14:tracePt t="35259" x="3756025" y="1654175"/>
          <p14:tracePt t="35273" x="3722688" y="1665288"/>
          <p14:tracePt t="35289" x="3711575" y="1677988"/>
          <p14:tracePt t="35306" x="3689350" y="1689100"/>
          <p14:tracePt t="35323" x="3678238" y="1689100"/>
          <p14:tracePt t="35416" x="3678238" y="1677988"/>
          <p14:tracePt t="35485" x="3689350" y="1677988"/>
          <p14:tracePt t="35512" x="3700463" y="1677988"/>
          <p14:tracePt t="35526" x="3711575" y="1665288"/>
          <p14:tracePt t="35547" x="3722688" y="1654175"/>
          <p14:tracePt t="35556" x="3733800" y="1654175"/>
          <p14:tracePt t="35572" x="3744913" y="1643063"/>
          <p14:tracePt t="35849" x="3722688" y="1654175"/>
          <p14:tracePt t="35857" x="3656013" y="1711325"/>
          <p14:tracePt t="35872" x="3454400" y="1844675"/>
          <p14:tracePt t="35889" x="3252788" y="1979613"/>
          <p14:tracePt t="35905" x="3028950" y="2112963"/>
          <p14:tracePt t="35922" x="2940050" y="2192338"/>
          <p14:tracePt t="35940" x="2862263" y="2247900"/>
          <p14:tracePt t="35941" x="2828925" y="2270125"/>
          <p14:tracePt t="35956" x="2760663" y="2314575"/>
          <p14:tracePt t="35972" x="2705100" y="2359025"/>
          <p14:tracePt t="35989" x="2605088" y="2403475"/>
          <p14:tracePt t="36005" x="2560638" y="2449513"/>
          <p14:tracePt t="36023" x="2514600" y="2482850"/>
          <p14:tracePt t="36039" x="2425700" y="2527300"/>
          <p14:tracePt t="36058" x="2370138" y="2560638"/>
          <p14:tracePt t="36059" x="2325688" y="2571750"/>
          <p14:tracePt t="36072" x="2268538" y="2605088"/>
          <p14:tracePt t="36090" x="2224088" y="2638425"/>
          <p14:tracePt t="36106" x="2190750" y="2649538"/>
          <p14:tracePt t="36109" x="2168525" y="2649538"/>
          <p14:tracePt t="36122" x="2146300" y="2671763"/>
          <p14:tracePt t="36140" x="2124075" y="2682875"/>
          <p14:tracePt t="36156" x="2079625" y="2717800"/>
          <p14:tracePt t="36172" x="2068513" y="2728913"/>
          <p14:tracePt t="36190" x="2024063" y="2740025"/>
          <p14:tracePt t="36206" x="2000250" y="2740025"/>
          <p14:tracePt t="36223" x="1989138" y="2751138"/>
          <p14:tracePt t="36256" x="1978025" y="2751138"/>
          <p14:tracePt t="36272" x="1955800" y="2751138"/>
          <p14:tracePt t="36289" x="1944688" y="2751138"/>
          <p14:tracePt t="36322" x="1933575" y="2751138"/>
          <p14:tracePt t="36348" x="1922463" y="2751138"/>
          <p14:tracePt t="36466" x="1933575" y="2751138"/>
          <p14:tracePt t="36486" x="1944688" y="2740025"/>
          <p14:tracePt t="36500" x="1955800" y="2740025"/>
          <p14:tracePt t="36507" x="1966913" y="2740025"/>
          <p14:tracePt t="36522" x="1978025" y="2740025"/>
          <p14:tracePt t="36540" x="1978025" y="2728913"/>
          <p14:tracePt t="36542" x="1989138" y="2717800"/>
          <p14:tracePt t="36555" x="2011363" y="2706688"/>
          <p14:tracePt t="36573" x="2024063" y="2693988"/>
          <p14:tracePt t="36574" x="2035175" y="2693988"/>
          <p14:tracePt t="36589" x="2046288" y="2693988"/>
          <p14:tracePt t="36609" x="2057400" y="2682875"/>
          <p14:tracePt t="36625" x="2068513" y="2682875"/>
          <p14:tracePt t="36639" x="2079625" y="2682875"/>
          <p14:tracePt t="36656" x="2090738" y="2682875"/>
          <p14:tracePt t="36672" x="2112963" y="2682875"/>
          <p14:tracePt t="36689" x="2124075" y="2671763"/>
          <p14:tracePt t="36706" x="2146300" y="2660650"/>
          <p14:tracePt t="36707" x="2157413" y="2660650"/>
          <p14:tracePt t="36722" x="2168525" y="2649538"/>
          <p14:tracePt t="36739" x="2190750" y="2638425"/>
          <p14:tracePt t="36756" x="2235200" y="2627313"/>
          <p14:tracePt t="36772" x="2246313" y="2616200"/>
          <p14:tracePt t="36789" x="2279650" y="2616200"/>
          <p14:tracePt t="36806" x="2325688" y="2605088"/>
          <p14:tracePt t="36823" x="2370138" y="2593975"/>
          <p14:tracePt t="36839" x="2403475" y="2582863"/>
          <p14:tracePt t="36856" x="2436813" y="2571750"/>
          <p14:tracePt t="36872" x="2459038" y="2560638"/>
          <p14:tracePt t="36893" x="2470150" y="2560638"/>
          <p14:tracePt t="36909" x="2481263" y="2560638"/>
          <p14:tracePt t="36940" x="2492375" y="2560638"/>
          <p14:tracePt t="36956" x="2514600" y="2560638"/>
          <p14:tracePt t="37777" x="2525713" y="2560638"/>
          <p14:tracePt t="37783" x="2536825" y="2549525"/>
          <p14:tracePt t="37790" x="2547938" y="2549525"/>
          <p14:tracePt t="37806" x="2571750" y="2538413"/>
          <p14:tracePt t="37823" x="2593975" y="2538413"/>
          <p14:tracePt t="37839" x="2605088" y="2538413"/>
          <p14:tracePt t="37889" x="2616200" y="2538413"/>
          <p14:tracePt t="37908" x="2627313" y="2538413"/>
          <p14:tracePt t="37922" x="2638425" y="2527300"/>
          <p14:tracePt t="37939" x="2660650" y="2516188"/>
          <p14:tracePt t="37957" x="2682875" y="2505075"/>
          <p14:tracePt t="37972" x="2738438" y="2493963"/>
          <p14:tracePt t="37990" x="2771775" y="2482850"/>
          <p14:tracePt t="38005" x="2828925" y="2460625"/>
          <p14:tracePt t="38023" x="2873375" y="2460625"/>
          <p14:tracePt t="38040" x="2884488" y="2449513"/>
          <p14:tracePt t="38056" x="2928938" y="2436813"/>
          <p14:tracePt t="38073" x="2940050" y="2425700"/>
          <p14:tracePt t="38089" x="2951163" y="2414588"/>
          <p14:tracePt t="38106" x="2962275" y="2403475"/>
          <p14:tracePt t="38122" x="2962275" y="2392363"/>
          <p14:tracePt t="38206" x="2962275" y="2381250"/>
          <p14:tracePt t="38222" x="2951163" y="2381250"/>
          <p14:tracePt t="38239" x="2928938" y="2370138"/>
          <p14:tracePt t="38256" x="2906713" y="2347913"/>
          <p14:tracePt t="38273" x="2895600" y="2336800"/>
          <p14:tracePt t="38275" x="2884488" y="2336800"/>
          <p14:tracePt t="38289" x="2851150" y="2325688"/>
          <p14:tracePt t="38306" x="2816225" y="2325688"/>
          <p14:tracePt t="38322" x="2738438" y="2292350"/>
          <p14:tracePt t="38339" x="2693988" y="2270125"/>
          <p14:tracePt t="38357" x="2649538" y="2247900"/>
          <p14:tracePt t="38372" x="2582863" y="2225675"/>
          <p14:tracePt t="38388" x="2503488" y="2203450"/>
          <p14:tracePt t="38405" x="2381250" y="2179638"/>
          <p14:tracePt t="38422" x="2279650" y="2157413"/>
          <p14:tracePt t="38440" x="2190750" y="2157413"/>
          <p14:tracePt t="38455" x="2101850" y="2124075"/>
          <p14:tracePt t="38472" x="2046288" y="2124075"/>
          <p14:tracePt t="38489" x="1978025" y="2124075"/>
          <p14:tracePt t="38506" x="1922463" y="2124075"/>
          <p14:tracePt t="38522" x="1822450" y="2135188"/>
          <p14:tracePt t="38539" x="1743075" y="2168525"/>
          <p14:tracePt t="38556" x="1687513" y="2192338"/>
          <p14:tracePt t="38572" x="1631950" y="2225675"/>
          <p14:tracePt t="38590" x="1598613" y="2236788"/>
          <p14:tracePt t="38605" x="1554163" y="2292350"/>
          <p14:tracePt t="38622" x="1543050" y="2325688"/>
          <p14:tracePt t="38640" x="1531938" y="2370138"/>
          <p14:tracePt t="38655" x="1520825" y="2449513"/>
          <p14:tracePt t="38674" x="1520825" y="2527300"/>
          <p14:tracePt t="38675" x="1520825" y="2549525"/>
          <p14:tracePt t="38688" x="1543050" y="2616200"/>
          <p14:tracePt t="38706" x="1565275" y="2660650"/>
          <p14:tracePt t="38722" x="1609725" y="2740025"/>
          <p14:tracePt t="38739" x="1643063" y="2751138"/>
          <p14:tracePt t="38756" x="1698625" y="2773363"/>
          <p14:tracePt t="38757" x="1720850" y="2784475"/>
          <p14:tracePt t="38772" x="1766888" y="2817813"/>
          <p14:tracePt t="38789" x="1844675" y="2828925"/>
          <p14:tracePt t="38805" x="1922463" y="2840038"/>
          <p14:tracePt t="38823" x="1989138" y="2840038"/>
          <p14:tracePt t="38840" x="2068513" y="2840038"/>
          <p14:tracePt t="38841" x="2101850" y="2840038"/>
          <p14:tracePt t="38855" x="2179638" y="2840038"/>
          <p14:tracePt t="38874" x="2268538" y="2840038"/>
          <p14:tracePt t="38875" x="2314575" y="2828925"/>
          <p14:tracePt t="38889" x="2381250" y="2806700"/>
          <p14:tracePt t="38906" x="2447925" y="2806700"/>
          <p14:tracePt t="38922" x="2560638" y="2773363"/>
          <p14:tracePt t="38939" x="2638425" y="2751138"/>
          <p14:tracePt t="38956" x="2716213" y="2728913"/>
          <p14:tracePt t="38972" x="2782888" y="2682875"/>
          <p14:tracePt t="38989" x="2816225" y="2649538"/>
          <p14:tracePt t="39006" x="2851150" y="2605088"/>
          <p14:tracePt t="39022" x="2873375" y="2571750"/>
          <p14:tracePt t="39039" x="2906713" y="2527300"/>
          <p14:tracePt t="39055" x="2962275" y="2449513"/>
          <p14:tracePt t="39072" x="2984500" y="2381250"/>
          <p14:tracePt t="39089" x="3028950" y="2281238"/>
          <p14:tracePt t="39106" x="3040063" y="2225675"/>
          <p14:tracePt t="39122" x="3040063" y="2203450"/>
          <p14:tracePt t="39139" x="3040063" y="2157413"/>
          <p14:tracePt t="39156" x="3017838" y="2135188"/>
          <p14:tracePt t="39172" x="2984500" y="2112963"/>
          <p14:tracePt t="39189" x="2928938" y="2090738"/>
          <p14:tracePt t="39205" x="2816225" y="2068513"/>
          <p14:tracePt t="39222" x="2749550" y="2068513"/>
          <p14:tracePt t="39240" x="2671763" y="2068513"/>
          <p14:tracePt t="39241" x="2638425" y="2068513"/>
          <p14:tracePt t="39256" x="2571750" y="2079625"/>
          <p14:tracePt t="39272" x="2492375" y="2079625"/>
          <p14:tracePt t="39289" x="2414588" y="2112963"/>
          <p14:tracePt t="39306" x="2370138" y="2135188"/>
          <p14:tracePt t="39323" x="2325688" y="2157413"/>
          <p14:tracePt t="39339" x="2268538" y="2203450"/>
          <p14:tracePt t="39356" x="2246313" y="2214563"/>
          <p14:tracePt t="39372" x="2212975" y="2259013"/>
          <p14:tracePt t="39390" x="2201863" y="2292350"/>
          <p14:tracePt t="39406" x="2190750" y="2303463"/>
          <p14:tracePt t="39423" x="2157413" y="2359025"/>
          <p14:tracePt t="39440" x="2146300" y="2392363"/>
          <p14:tracePt t="39457" x="2135188" y="2449513"/>
          <p14:tracePt t="39472" x="2135188" y="2471738"/>
          <p14:tracePt t="39488" x="2135188" y="2505075"/>
          <p14:tracePt t="39505" x="2146300" y="2516188"/>
          <p14:tracePt t="39523" x="2157413" y="2527300"/>
          <p14:tracePt t="39539" x="2201863" y="2549525"/>
          <p14:tracePt t="39556" x="2246313" y="2571750"/>
          <p14:tracePt t="39572" x="2325688" y="2593975"/>
          <p14:tracePt t="39589" x="2370138" y="2593975"/>
          <p14:tracePt t="39606" x="2414588" y="2593975"/>
          <p14:tracePt t="39622" x="2481263" y="2593975"/>
          <p14:tracePt t="39641" x="2547938" y="2593975"/>
          <p14:tracePt t="39655" x="2593975" y="2593975"/>
          <p14:tracePt t="39672" x="2605088" y="2593975"/>
          <p14:tracePt t="39690" x="2627313" y="2593975"/>
          <p14:tracePt t="39691" x="2638425" y="2593975"/>
          <p14:tracePt t="39706" x="2660650" y="2593975"/>
          <p14:tracePt t="39725" x="2660650" y="2571750"/>
          <p14:tracePt t="39738" x="2660650" y="2549525"/>
          <p14:tracePt t="39756" x="2660650" y="2538413"/>
          <p14:tracePt t="39772" x="2660650" y="2493963"/>
          <p14:tracePt t="39789" x="2660650" y="2460625"/>
          <p14:tracePt t="39805" x="2638425" y="2436813"/>
          <p14:tracePt t="39822" x="2582863" y="2392363"/>
          <p14:tracePt t="39839" x="2547938" y="2370138"/>
          <p14:tracePt t="39856" x="2492375" y="2347913"/>
          <p14:tracePt t="39874" x="2459038" y="2336800"/>
          <p14:tracePt t="39875" x="2425700" y="2325688"/>
          <p14:tracePt t="39889" x="2414588" y="2325688"/>
          <p14:tracePt t="39906" x="2314575" y="2325688"/>
          <p14:tracePt t="39923" x="2257425" y="2325688"/>
          <p14:tracePt t="39939" x="2168525" y="2336800"/>
          <p14:tracePt t="39955" x="2101850" y="2359025"/>
          <p14:tracePt t="39972" x="2024063" y="2392363"/>
          <p14:tracePt t="39989" x="1955800" y="2449513"/>
          <p14:tracePt t="40007" x="1889125" y="2493963"/>
          <p14:tracePt t="40008" x="1855788" y="2516188"/>
          <p14:tracePt t="40022" x="1811338" y="2571750"/>
          <p14:tracePt t="40038" x="1766888" y="2627313"/>
          <p14:tracePt t="40056" x="1720850" y="2682875"/>
          <p14:tracePt t="40073" x="1687513" y="2717800"/>
          <p14:tracePt t="40090" x="1665288" y="2762250"/>
          <p14:tracePt t="40106" x="1643063" y="2817813"/>
          <p14:tracePt t="40124" x="1631950" y="2851150"/>
          <p14:tracePt t="40125" x="1631950" y="2873375"/>
          <p14:tracePt t="40138" x="1631950" y="2884488"/>
          <p14:tracePt t="40155" x="1631950" y="2895600"/>
          <p14:tracePt t="40172" x="1631950" y="2917825"/>
          <p14:tracePt t="40189" x="1631950" y="2928938"/>
          <p14:tracePt t="40207" x="1654175" y="2928938"/>
          <p14:tracePt t="40208" x="1665288" y="2928938"/>
          <p14:tracePt t="40222" x="1676400" y="2928938"/>
          <p14:tracePt t="40239" x="1687513" y="2928938"/>
          <p14:tracePt t="40256" x="1709738" y="2917825"/>
          <p14:tracePt t="40272" x="1720850" y="2906713"/>
          <p14:tracePt t="40290" x="1731963" y="2906713"/>
          <p14:tracePt t="40291" x="1731963" y="2895600"/>
          <p14:tracePt t="40305" x="1755775" y="2884488"/>
          <p14:tracePt t="40324" x="1766888" y="2884488"/>
          <p14:tracePt t="40326" x="1778000" y="2884488"/>
          <p14:tracePt t="40338" x="1811338" y="2873375"/>
          <p14:tracePt t="40356" x="1833563" y="2862263"/>
          <p14:tracePt t="40372" x="1889125" y="2828925"/>
          <p14:tracePt t="40389" x="1911350" y="2817813"/>
          <p14:tracePt t="40406" x="1933575" y="2817813"/>
          <p14:tracePt t="40408" x="1933575" y="2806700"/>
          <p14:tracePt t="40422" x="1944688" y="2795588"/>
          <p14:tracePt t="40441" x="1955800" y="2784475"/>
          <p14:tracePt t="40472" x="1955800" y="2773363"/>
          <p14:tracePt t="40490" x="1955800" y="2762250"/>
          <p14:tracePt t="40628" x="1955800" y="2773363"/>
          <p14:tracePt t="44750" x="2000250" y="2762250"/>
          <p14:tracePt t="44756" x="2090738" y="2751138"/>
          <p14:tracePt t="44771" x="2279650" y="2706688"/>
          <p14:tracePt t="44789" x="2436813" y="2660650"/>
          <p14:tracePt t="44805" x="2593975" y="2616200"/>
          <p14:tracePt t="44822" x="2671763" y="2582863"/>
          <p14:tracePt t="44838" x="2727325" y="2560638"/>
          <p14:tracePt t="44855" x="2794000" y="2516188"/>
          <p14:tracePt t="44872" x="2840038" y="2482850"/>
          <p14:tracePt t="44888" x="2884488" y="2425700"/>
          <p14:tracePt t="44905" x="2906713" y="2392363"/>
          <p14:tracePt t="44922" x="2928938" y="2347913"/>
          <p14:tracePt t="44939" x="2928938" y="2325688"/>
          <p14:tracePt t="44957" x="2928938" y="2314575"/>
          <p14:tracePt t="44959" x="2917825" y="2303463"/>
          <p14:tracePt t="44972" x="2895600" y="2281238"/>
          <p14:tracePt t="44989" x="2851150" y="2259013"/>
          <p14:tracePt t="45005" x="2738438" y="2247900"/>
          <p14:tracePt t="45022" x="2660650" y="2236788"/>
          <p14:tracePt t="45042" x="2514600" y="2236788"/>
          <p14:tracePt t="45055" x="2414588" y="2236788"/>
          <p14:tracePt t="45072" x="2314575" y="2247900"/>
          <p14:tracePt t="45089" x="2179638" y="2281238"/>
          <p14:tracePt t="45106" x="2112963" y="2314575"/>
          <p14:tracePt t="45122" x="2035175" y="2370138"/>
          <p14:tracePt t="45139" x="2000250" y="2414588"/>
          <p14:tracePt t="45156" x="1978025" y="2460625"/>
          <p14:tracePt t="45158" x="1966913" y="2482850"/>
          <p14:tracePt t="45171" x="1955800" y="2527300"/>
          <p14:tracePt t="45188" x="1944688" y="2571750"/>
          <p14:tracePt t="45205" x="1955800" y="2627313"/>
          <p14:tracePt t="45222" x="1989138" y="2660650"/>
          <p14:tracePt t="45240" x="2046288" y="2706688"/>
          <p14:tracePt t="45255" x="2112963" y="2717800"/>
          <p14:tracePt t="45272" x="2212975" y="2728913"/>
          <p14:tracePt t="45289" x="2403475" y="2706688"/>
          <p14:tracePt t="45305" x="2492375" y="2682875"/>
          <p14:tracePt t="45322" x="2571750" y="2660650"/>
          <p14:tracePt t="45338" x="2638425" y="2593975"/>
          <p14:tracePt t="45356" x="2660650" y="2527300"/>
          <p14:tracePt t="45372" x="2660650" y="2425700"/>
          <p14:tracePt t="45389" x="2649538" y="2359025"/>
          <p14:tracePt t="45406" x="2582863" y="2292350"/>
          <p14:tracePt t="45423" x="2492375" y="2247900"/>
          <p14:tracePt t="45440" x="2314575" y="2225675"/>
          <p14:tracePt t="45455" x="2179638" y="2225675"/>
          <p14:tracePt t="45472" x="2068513" y="2259013"/>
          <p14:tracePt t="45489" x="1955800" y="2314575"/>
          <p14:tracePt t="45510" x="1889125" y="2370138"/>
          <p14:tracePt t="45510" x="1866900" y="2403475"/>
          <p14:tracePt t="45522" x="1855788" y="2425700"/>
          <p14:tracePt t="45539" x="1811338" y="2527300"/>
          <p14:tracePt t="45556" x="1822450" y="2593975"/>
          <p14:tracePt t="45572" x="1889125" y="2706688"/>
          <p14:tracePt t="45590" x="2000250" y="2784475"/>
          <p14:tracePt t="45605" x="2268538" y="2873375"/>
          <p14:tracePt t="45622" x="2436813" y="2873375"/>
          <p14:tracePt t="45639" x="2536825" y="2873375"/>
          <p14:tracePt t="45641" x="2571750" y="2862263"/>
          <p14:tracePt t="45655" x="2649538" y="2817813"/>
          <p14:tracePt t="45672" x="2693988" y="2751138"/>
          <p14:tracePt t="45690" x="2738438" y="2638425"/>
          <p14:tracePt t="45706" x="2738438" y="2593975"/>
          <p14:tracePt t="45723" x="2727325" y="2571750"/>
          <p14:tracePt t="45724" x="2716213" y="2549525"/>
          <p14:tracePt t="45739" x="2671763" y="2538413"/>
          <p14:tracePt t="45757" x="2638425" y="2516188"/>
          <p14:tracePt t="45758" x="2616200" y="2516188"/>
          <p14:tracePt t="45772" x="2571750" y="2516188"/>
          <p14:tracePt t="45789" x="2560638" y="2516188"/>
          <p14:tracePt t="45806" x="2547938" y="2516188"/>
          <p14:tracePt t="45822" x="2536825" y="2516188"/>
          <p14:tracePt t="46191" x="2503488" y="2414588"/>
          <p14:tracePt t="46198" x="2459038" y="2314575"/>
          <p14:tracePt t="46207" x="2403475" y="2214563"/>
          <p14:tracePt t="46222" x="2314575" y="2079625"/>
          <p14:tracePt t="46239" x="2246313" y="1979613"/>
          <p14:tracePt t="46255" x="2168525" y="1900238"/>
          <p14:tracePt t="46272" x="2124075" y="1844675"/>
          <p14:tracePt t="46288" x="2011363" y="1789113"/>
          <p14:tracePt t="46306" x="1955800" y="1744663"/>
          <p14:tracePt t="46322" x="1878013" y="1700213"/>
          <p14:tracePt t="46339" x="1778000" y="1643063"/>
          <p14:tracePt t="46355" x="1731963" y="1620838"/>
          <p14:tracePt t="46372" x="1654175" y="1598613"/>
          <p14:tracePt t="46388" x="1620838" y="1587500"/>
          <p14:tracePt t="46405" x="1587500" y="1576388"/>
          <p14:tracePt t="46422" x="1565275" y="1576388"/>
          <p14:tracePt t="46439" x="1554163" y="1576388"/>
          <p14:tracePt t="46455" x="1543050" y="1587500"/>
          <p14:tracePt t="46473" x="1543050" y="1598613"/>
          <p14:tracePt t="46475" x="1543050" y="1609725"/>
          <p14:tracePt t="46490" x="1543050" y="1620838"/>
          <p14:tracePt t="46492" x="1543050" y="1643063"/>
          <p14:tracePt t="46505" x="1531938" y="1677988"/>
          <p14:tracePt t="46521" x="1531938" y="1700213"/>
          <p14:tracePt t="46538" x="1531938" y="1755775"/>
          <p14:tracePt t="46555" x="1531938" y="1778000"/>
          <p14:tracePt t="46572" x="1531938" y="1878013"/>
          <p14:tracePt t="46589" x="1531938" y="1922463"/>
          <p14:tracePt t="46607" x="1531938" y="1957388"/>
          <p14:tracePt t="46609" x="1531938" y="1979613"/>
          <p14:tracePt t="46622" x="1531938" y="2046288"/>
          <p14:tracePt t="46640" x="1531938" y="2124075"/>
          <p14:tracePt t="46655" x="1531938" y="2192338"/>
          <p14:tracePt t="46672" x="1531938" y="2281238"/>
          <p14:tracePt t="46675" x="1531938" y="2314575"/>
          <p14:tracePt t="46690" x="1531938" y="2347913"/>
          <p14:tracePt t="46692" x="1531938" y="2381250"/>
          <p14:tracePt t="46706" x="1531938" y="2471738"/>
          <p14:tracePt t="46722" x="1531938" y="2538413"/>
          <p14:tracePt t="46739" x="1531938" y="2693988"/>
          <p14:tracePt t="46756" x="1531938" y="2795588"/>
          <p14:tracePt t="46772" x="1531938" y="2928938"/>
          <p14:tracePt t="46788" x="1531938" y="3019425"/>
          <p14:tracePt t="46806" x="1531938" y="3097213"/>
          <p14:tracePt t="46808" x="1531938" y="3141663"/>
          <p14:tracePt t="46822" x="1531938" y="3197225"/>
          <p14:tracePt t="46839" x="1531938" y="3243263"/>
          <p14:tracePt t="46855" x="1531938" y="3276600"/>
          <p14:tracePt t="46872" x="1531938" y="3287713"/>
          <p14:tracePt t="46889" x="1531938" y="3298825"/>
          <p14:tracePt t="46938" x="1531938" y="3287713"/>
          <p14:tracePt t="46955" x="1531938" y="3254375"/>
          <p14:tracePt t="46972" x="1543050" y="3175000"/>
          <p14:tracePt t="46989" x="1576388" y="2917825"/>
          <p14:tracePt t="47006" x="1587500" y="2627313"/>
          <p14:tracePt t="47021" x="1609725" y="2259013"/>
          <p14:tracePt t="47039" x="1609725" y="2079625"/>
          <p14:tracePt t="47058" x="1609725" y="1957388"/>
          <p14:tracePt t="47072" x="1609725" y="1900238"/>
          <p14:tracePt t="47089" x="1609725" y="1855788"/>
          <p14:tracePt t="47090" x="1598613" y="1833563"/>
          <p14:tracePt t="47105" x="1598613" y="1811338"/>
          <p14:tracePt t="47122" x="1598613" y="1800225"/>
          <p14:tracePt t="47138" x="1598613" y="1778000"/>
          <p14:tracePt t="47165" x="1587500" y="1778000"/>
          <p14:tracePt t="47180" x="1587500" y="1789113"/>
          <p14:tracePt t="47205" x="1587500" y="1800225"/>
          <p14:tracePt t="47222" x="1587500" y="1833563"/>
          <p14:tracePt t="47238" x="1587500" y="1855788"/>
          <p14:tracePt t="47255" x="1587500" y="1889125"/>
          <p14:tracePt t="47271" x="1565275" y="2057400"/>
          <p14:tracePt t="47288" x="1531938" y="2281238"/>
          <p14:tracePt t="47305" x="1452563" y="2717800"/>
          <p14:tracePt t="47322" x="1397000" y="3097213"/>
          <p14:tracePt t="47338" x="1341438" y="3824288"/>
          <p14:tracePt t="47355" x="1341438" y="3968750"/>
          <p14:tracePt t="47372" x="1341438" y="4014788"/>
          <p14:tracePt t="47388" x="1341438" y="4048125"/>
          <p14:tracePt t="47422" x="1341438" y="4059238"/>
          <p14:tracePt t="47469" x="1352550" y="4059238"/>
          <p14:tracePt t="47484" x="1352550" y="4070350"/>
          <p14:tracePt t="47725" x="1252538" y="4025900"/>
          <p14:tracePt t="47732" x="1106488" y="3957638"/>
          <p14:tracePt t="47739" x="973138" y="3902075"/>
          <p14:tracePt t="47755" x="838200" y="3857625"/>
          <p14:tracePt t="47772" x="771525" y="3835400"/>
          <p14:tracePt t="47789" x="715963" y="3824288"/>
          <p14:tracePt t="47805" x="704850" y="3824288"/>
          <p14:tracePt t="47851" x="727075" y="3824288"/>
          <p14:tracePt t="47871" x="782638" y="3824288"/>
          <p14:tracePt t="47889" x="849313" y="3824288"/>
          <p14:tracePt t="47890" x="882650" y="3824288"/>
          <p14:tracePt t="47905" x="1062038" y="3824288"/>
          <p14:tracePt t="47922" x="1285875" y="3824288"/>
          <p14:tracePt t="47939" x="1498600" y="3824288"/>
          <p14:tracePt t="47941" x="1609725" y="3846513"/>
          <p14:tracePt t="47955" x="1709738" y="3846513"/>
          <p14:tracePt t="47972" x="1766888" y="3846513"/>
          <p14:tracePt t="47988" x="1811338" y="3846513"/>
          <p14:tracePt t="48029" x="1800225" y="3846513"/>
          <p14:tracePt t="48038" x="1789113" y="3857625"/>
          <p14:tracePt t="48056" x="1731963" y="3857625"/>
          <p14:tracePt t="48072" x="1609725" y="3879850"/>
          <p14:tracePt t="48088" x="1487488" y="3890963"/>
          <p14:tracePt t="48105" x="1341438" y="3902075"/>
          <p14:tracePt t="48122" x="1184275" y="3946525"/>
          <p14:tracePt t="48138" x="1128713" y="3957638"/>
          <p14:tracePt t="48141" x="1117600" y="3957638"/>
          <p14:tracePt t="48155" x="1095375" y="3979863"/>
          <p14:tracePt t="48201" x="1117600" y="3979863"/>
          <p14:tracePt t="48207" x="1128713" y="3968750"/>
          <p14:tracePt t="48222" x="1162050" y="3968750"/>
          <p14:tracePt t="48239" x="1296988" y="3946525"/>
          <p14:tracePt t="48255" x="1419225" y="3924300"/>
          <p14:tracePt t="48271" x="1531938" y="3902075"/>
          <p14:tracePt t="48288" x="1565275" y="3879850"/>
          <p14:tracePt t="48306" x="1587500" y="3868738"/>
          <p14:tracePt t="48308" x="1587500" y="3857625"/>
          <p14:tracePt t="48322" x="1576388" y="3857625"/>
          <p14:tracePt t="48339" x="1520825" y="3846513"/>
          <p14:tracePt t="48355" x="1363663" y="3846513"/>
          <p14:tracePt t="48372" x="1252538" y="3868738"/>
          <p14:tracePt t="48389" x="1139825" y="3890963"/>
          <p14:tracePt t="48405" x="1117600" y="3902075"/>
          <p14:tracePt t="48422" x="1106488" y="3902075"/>
          <p14:tracePt t="48450" x="1117600" y="3924300"/>
          <p14:tracePt t="48457" x="1150938" y="3968750"/>
          <p14:tracePt t="48471" x="1173163" y="4125913"/>
          <p14:tracePt t="50886" x="1252538" y="4125913"/>
          <p14:tracePt t="50893" x="1341438" y="4125913"/>
          <p14:tracePt t="50905" x="1408113" y="4125913"/>
          <p14:tracePt t="50921" x="1554163" y="4103688"/>
          <p14:tracePt t="50939" x="1789113" y="4092575"/>
          <p14:tracePt t="50955" x="1911350" y="4081463"/>
          <p14:tracePt t="50971" x="2112963" y="4059238"/>
          <p14:tracePt t="50988" x="2235200" y="4048125"/>
          <p14:tracePt t="51005" x="2436813" y="4025900"/>
          <p14:tracePt t="51022" x="2560638" y="3992563"/>
          <p14:tracePt t="51039" x="2660650" y="3979863"/>
          <p14:tracePt t="51055" x="2771775" y="3946525"/>
          <p14:tracePt t="51071" x="2828925" y="3935413"/>
          <p14:tracePt t="51088" x="2884488" y="3924300"/>
          <p14:tracePt t="51105" x="2895600" y="3913188"/>
          <p14:tracePt t="51122" x="2895600" y="3902075"/>
          <p14:tracePt t="51138" x="2895600" y="3879850"/>
          <p14:tracePt t="51156" x="2873375" y="3879850"/>
          <p14:tracePt t="51157" x="2851150" y="3879850"/>
          <p14:tracePt t="51171" x="2805113" y="3868738"/>
          <p14:tracePt t="51188" x="2716213" y="3857625"/>
          <p14:tracePt t="51205" x="2503488" y="3846513"/>
          <p14:tracePt t="51221" x="2257425" y="3824288"/>
          <p14:tracePt t="51239" x="1989138" y="3813175"/>
          <p14:tracePt t="51255" x="1731963" y="3790950"/>
          <p14:tracePt t="51271" x="1631950" y="3779838"/>
          <p14:tracePt t="51288" x="1520825" y="3768725"/>
          <p14:tracePt t="51305" x="1474788" y="3757613"/>
          <p14:tracePt t="51322" x="1430338" y="3757613"/>
          <p14:tracePt t="51323" x="1408113" y="3757613"/>
          <p14:tracePt t="51338" x="1385888" y="3757613"/>
          <p14:tracePt t="51356" x="1374775" y="3757613"/>
          <p14:tracePt t="51372" x="1363663" y="3757613"/>
          <p14:tracePt t="51408" x="1374775" y="3757613"/>
          <p14:tracePt t="51412" x="1385888" y="3746500"/>
          <p14:tracePt t="51439" x="1419225" y="3735388"/>
          <p14:tracePt t="51440" x="1441450" y="3735388"/>
          <p14:tracePt t="51455" x="1509713" y="3735388"/>
          <p14:tracePt t="51471" x="1620838" y="3735388"/>
          <p14:tracePt t="51488" x="1911350" y="3768725"/>
          <p14:tracePt t="51505" x="2146300" y="3802063"/>
          <p14:tracePt t="51523" x="2470150" y="3835400"/>
          <p14:tracePt t="51538" x="2693988" y="3857625"/>
          <p14:tracePt t="51555" x="2951163" y="3868738"/>
          <p14:tracePt t="51571" x="3241675" y="3879850"/>
          <p14:tracePt t="51589" x="3387725" y="3879850"/>
          <p14:tracePt t="51605" x="3487738" y="3879850"/>
          <p14:tracePt t="51621" x="3598863" y="3879850"/>
          <p14:tracePt t="51638" x="3656013" y="3879850"/>
          <p14:tracePt t="51655" x="3689350" y="3879850"/>
          <p14:tracePt t="51671" x="3711575" y="3879850"/>
          <p14:tracePt t="51688" x="3733800" y="3879850"/>
          <p14:tracePt t="51705" x="3744913" y="3879850"/>
          <p14:tracePt t="51771" x="3733800" y="3879850"/>
          <p14:tracePt t="51785" x="3711575" y="3879850"/>
          <p14:tracePt t="51791" x="3700463" y="3879850"/>
          <p14:tracePt t="51805" x="3678238" y="3879850"/>
          <p14:tracePt t="51822" x="3598863" y="3879850"/>
          <p14:tracePt t="51839" x="3465513" y="3879850"/>
          <p14:tracePt t="51841" x="3376613" y="3879850"/>
          <p14:tracePt t="51854" x="3084513" y="3868738"/>
          <p14:tracePt t="51871" x="2727325" y="3846513"/>
          <p14:tracePt t="51888" x="2414588" y="3846513"/>
          <p14:tracePt t="51889" x="2279650" y="3846513"/>
          <p14:tracePt t="51905" x="2035175" y="3835400"/>
          <p14:tracePt t="51922" x="1844675" y="3835400"/>
          <p14:tracePt t="51938" x="1654175" y="3835400"/>
          <p14:tracePt t="51955" x="1520825" y="3835400"/>
          <p14:tracePt t="51972" x="1397000" y="3824288"/>
          <p14:tracePt t="51988" x="1330325" y="3824288"/>
          <p14:tracePt t="52005" x="1285875" y="3824288"/>
          <p14:tracePt t="52007" x="1263650" y="3824288"/>
          <p14:tracePt t="52022" x="1241425" y="3824288"/>
          <p14:tracePt t="52038" x="1230313" y="3824288"/>
          <p14:tracePt t="52055" x="1219200" y="3824288"/>
          <p14:tracePt t="52098" x="1230313" y="3824288"/>
          <p14:tracePt t="52102" x="1241425" y="3813175"/>
          <p14:tracePt t="52108" x="1252538" y="3813175"/>
          <p14:tracePt t="52121" x="1263650" y="3813175"/>
          <p14:tracePt t="52138" x="1341438" y="3813175"/>
          <p14:tracePt t="52155" x="1441450" y="3813175"/>
          <p14:tracePt t="52172" x="1778000" y="3835400"/>
          <p14:tracePt t="52188" x="2112963" y="3835400"/>
          <p14:tracePt t="52206" x="2470150" y="3835400"/>
          <p14:tracePt t="52208" x="2649538" y="3835400"/>
          <p14:tracePt t="52221" x="2917825" y="3835400"/>
          <p14:tracePt t="52239" x="3073400" y="3824288"/>
          <p14:tracePt t="52255" x="3230563" y="3813175"/>
          <p14:tracePt t="52271" x="3286125" y="3813175"/>
          <p14:tracePt t="52288" x="3330575" y="3813175"/>
          <p14:tracePt t="52304" x="3365500" y="3813175"/>
          <p14:tracePt t="52322" x="3398838" y="3813175"/>
          <p14:tracePt t="53979" x="3352800" y="3813175"/>
          <p14:tracePt t="53988" x="3319463" y="3813175"/>
          <p14:tracePt t="54005" x="3208338" y="3813175"/>
          <p14:tracePt t="54021" x="2917825" y="3813175"/>
          <p14:tracePt t="54038" x="2314575" y="3813175"/>
          <p14:tracePt t="54055" x="1911350" y="3813175"/>
          <p14:tracePt t="54057" x="1731963" y="3813175"/>
          <p14:tracePt t="54071" x="1441450" y="3813175"/>
          <p14:tracePt t="54089" x="1219200" y="3813175"/>
          <p14:tracePt t="54104" x="950913" y="3813175"/>
          <p14:tracePt t="54121" x="804863" y="3813175"/>
          <p14:tracePt t="54138" x="693738" y="3813175"/>
          <p14:tracePt t="54155" x="536575" y="3813175"/>
          <p14:tracePt t="54172" x="469900" y="3813175"/>
          <p14:tracePt t="54188" x="390525" y="3813175"/>
          <p14:tracePt t="54205" x="368300" y="3813175"/>
          <p14:tracePt t="54221" x="346075" y="3813175"/>
          <p14:tracePt t="54238" x="323850" y="3813175"/>
          <p14:tracePt t="54311" x="334963" y="3813175"/>
          <p14:tracePt t="54321" x="346075" y="3813175"/>
          <p14:tracePt t="54339" x="357188" y="3813175"/>
          <p14:tracePt t="54340" x="368300" y="3813175"/>
          <p14:tracePt t="54355" x="379413" y="3813175"/>
          <p14:tracePt t="54371" x="414338" y="3813175"/>
          <p14:tracePt t="54388" x="481013" y="3813175"/>
          <p14:tracePt t="54404" x="547688" y="3813175"/>
          <p14:tracePt t="54422" x="625475" y="3824288"/>
          <p14:tracePt t="54438" x="771525" y="3824288"/>
          <p14:tracePt t="54456" x="893763" y="3824288"/>
          <p14:tracePt t="54471" x="1162050" y="3824288"/>
          <p14:tracePt t="54489" x="1319213" y="3824288"/>
          <p14:tracePt t="54505" x="1487488" y="3824288"/>
          <p14:tracePt t="54521" x="1676400" y="3824288"/>
          <p14:tracePt t="54539" x="1811338" y="3824288"/>
          <p14:tracePt t="54540" x="1878013" y="3824288"/>
          <p14:tracePt t="54555" x="1989138" y="3824288"/>
          <p14:tracePt t="54572" x="2112963" y="3824288"/>
          <p14:tracePt t="54588" x="2224088" y="3824288"/>
          <p14:tracePt t="54605" x="2292350" y="3824288"/>
          <p14:tracePt t="54622" x="2359025" y="3824288"/>
          <p14:tracePt t="54638" x="2470150" y="3824288"/>
          <p14:tracePt t="54654" x="2547938" y="3824288"/>
          <p14:tracePt t="54671" x="2671763" y="3835400"/>
          <p14:tracePt t="54688" x="2771775" y="3846513"/>
          <p14:tracePt t="54705" x="2851150" y="3857625"/>
          <p14:tracePt t="54721" x="2951163" y="3868738"/>
          <p14:tracePt t="54739" x="2995613" y="3868738"/>
          <p14:tracePt t="54754" x="3017838" y="3868738"/>
          <p14:tracePt t="54772" x="3040063" y="3868738"/>
          <p14:tracePt t="57542" x="3028950" y="3868738"/>
          <p14:tracePt t="57555" x="3006725" y="3868738"/>
          <p14:tracePt t="57571" x="2951163" y="3846513"/>
          <p14:tracePt t="57588" x="2940050" y="3846513"/>
          <p14:tracePt t="57604" x="2928938" y="3846513"/>
          <p14:tracePt t="57621" x="2917825" y="3846513"/>
          <p14:tracePt t="57640" x="2928938" y="3846513"/>
          <p14:tracePt t="57654" x="2940050" y="3846513"/>
          <p14:tracePt t="57671" x="2973388" y="3846513"/>
          <p14:tracePt t="57688" x="3040063" y="3846513"/>
          <p14:tracePt t="57704" x="3108325" y="3846513"/>
          <p14:tracePt t="57722" x="3230563" y="3846513"/>
          <p14:tracePt t="57739" x="3454400" y="3846513"/>
          <p14:tracePt t="57756" x="3598863" y="3846513"/>
          <p14:tracePt t="57771" x="3744913" y="3846513"/>
          <p14:tracePt t="57789" x="3822700" y="3846513"/>
          <p14:tracePt t="57805" x="3889375" y="3846513"/>
          <p14:tracePt t="57821" x="4002088" y="3846513"/>
          <p14:tracePt t="57840" x="4079875" y="3846513"/>
          <p14:tracePt t="57854" x="4135438" y="3846513"/>
          <p14:tracePt t="57872" x="4181475" y="3846513"/>
          <p14:tracePt t="57873" x="4192588" y="3846513"/>
          <p14:tracePt t="57888" x="4225925" y="3846513"/>
          <p14:tracePt t="57904" x="4259263" y="3846513"/>
          <p14:tracePt t="57921" x="4281488" y="3846513"/>
          <p14:tracePt t="57938" x="4292600" y="3846513"/>
          <p14:tracePt t="57955" x="4303713" y="3846513"/>
          <p14:tracePt t="57971" x="4314825" y="3846513"/>
          <p14:tracePt t="58840" x="4225925" y="3846513"/>
          <p14:tracePt t="58847" x="4102100" y="3846513"/>
          <p14:tracePt t="58854" x="3968750" y="3868738"/>
          <p14:tracePt t="58871" x="3689350" y="3913188"/>
          <p14:tracePt t="58888" x="3465513" y="3935413"/>
          <p14:tracePt t="58904" x="3208338" y="3968750"/>
          <p14:tracePt t="58921" x="3073400" y="3968750"/>
          <p14:tracePt t="58938" x="2884488" y="3968750"/>
          <p14:tracePt t="58955" x="2794000" y="3968750"/>
          <p14:tracePt t="58971" x="2738438" y="3968750"/>
          <p14:tracePt t="58988" x="2660650" y="3968750"/>
          <p14:tracePt t="59005" x="2627313" y="3968750"/>
          <p14:tracePt t="59021" x="2582863" y="3968750"/>
          <p14:tracePt t="59038" x="2560638" y="3968750"/>
          <p14:tracePt t="59054" x="2525713" y="3968750"/>
          <p14:tracePt t="59071" x="2514600" y="3979863"/>
          <p14:tracePt t="59089" x="2503488" y="3979863"/>
          <p14:tracePt t="59151" x="2514600" y="3979863"/>
          <p14:tracePt t="59171" x="2536825" y="3979863"/>
          <p14:tracePt t="59188" x="2560638" y="3979863"/>
          <p14:tracePt t="59206" x="2582863" y="3979863"/>
          <p14:tracePt t="59221" x="2638425" y="3968750"/>
          <p14:tracePt t="59238" x="2727325" y="3968750"/>
          <p14:tracePt t="59254" x="2828925" y="3957638"/>
          <p14:tracePt t="59271" x="3006725" y="3957638"/>
          <p14:tracePt t="59287" x="3119438" y="3957638"/>
          <p14:tracePt t="59304" x="3252788" y="3957638"/>
          <p14:tracePt t="59321" x="3308350" y="3957638"/>
          <p14:tracePt t="59338" x="3421063" y="3946525"/>
          <p14:tracePt t="59354" x="3476625" y="3946525"/>
          <p14:tracePt t="59372" x="3521075" y="3946525"/>
          <p14:tracePt t="59388" x="3554413" y="3946525"/>
          <p14:tracePt t="59405" x="3587750" y="3946525"/>
          <p14:tracePt t="59421" x="3609975" y="3946525"/>
          <p14:tracePt t="59455" x="3621088" y="3946525"/>
          <p14:tracePt t="60414" x="3576638" y="3946525"/>
          <p14:tracePt t="60422" x="3487738" y="3946525"/>
          <p14:tracePt t="60428" x="3398838" y="3946525"/>
          <p14:tracePt t="60438" x="3286125" y="3946525"/>
          <p14:tracePt t="60455" x="3062288" y="3946525"/>
          <p14:tracePt t="60471" x="2760663" y="3946525"/>
          <p14:tracePt t="60488" x="2560638" y="3946525"/>
          <p14:tracePt t="60505" x="2336800" y="3946525"/>
          <p14:tracePt t="60521" x="2190750" y="3946525"/>
          <p14:tracePt t="60538" x="2057400" y="3946525"/>
          <p14:tracePt t="60555" x="1900238" y="3946525"/>
          <p14:tracePt t="60572" x="1833563" y="3946525"/>
          <p14:tracePt t="60574" x="1800225" y="3946525"/>
          <p14:tracePt t="60588" x="1720850" y="3946525"/>
          <p14:tracePt t="60605" x="1654175" y="3946525"/>
          <p14:tracePt t="60622" x="1609725" y="3946525"/>
          <p14:tracePt t="60638" x="1543050" y="3946525"/>
          <p14:tracePt t="60655" x="1520825" y="3946525"/>
          <p14:tracePt t="60671" x="1487488" y="3946525"/>
          <p14:tracePt t="60688" x="1463675" y="3946525"/>
          <p14:tracePt t="60746" x="1474788" y="3946525"/>
          <p14:tracePt t="60752" x="1487488" y="3946525"/>
          <p14:tracePt t="60759" x="1498600" y="3946525"/>
          <p14:tracePt t="60771" x="1509713" y="3946525"/>
          <p14:tracePt t="60787" x="1554163" y="3935413"/>
          <p14:tracePt t="60804" x="1609725" y="3935413"/>
          <p14:tracePt t="60821" x="1709738" y="3935413"/>
          <p14:tracePt t="60837" x="1878013" y="3935413"/>
          <p14:tracePt t="60854" x="2068513" y="3935413"/>
          <p14:tracePt t="60871" x="2381250" y="3935413"/>
          <p14:tracePt t="60888" x="2593975" y="3957638"/>
          <p14:tracePt t="60905" x="2749550" y="3957638"/>
          <p14:tracePt t="60921" x="2962275" y="3957638"/>
          <p14:tracePt t="60939" x="3062288" y="3957638"/>
          <p14:tracePt t="60941" x="3097213" y="3957638"/>
          <p14:tracePt t="60955" x="3175000" y="3957638"/>
          <p14:tracePt t="60971" x="3208338" y="3957638"/>
          <p14:tracePt t="60973" x="3219450" y="3957638"/>
          <p14:tracePt t="60988" x="3252788" y="3957638"/>
          <p14:tracePt t="61005" x="3263900" y="3957638"/>
          <p14:tracePt t="61022" x="3275013" y="3957638"/>
          <p14:tracePt t="61037" x="3275013" y="3968750"/>
          <p14:tracePt t="61939" x="3376613" y="3968750"/>
          <p14:tracePt t="61946" x="3509963" y="3957638"/>
          <p14:tracePt t="61954" x="3644900" y="3913188"/>
          <p14:tracePt t="61971" x="3946525" y="3846513"/>
          <p14:tracePt t="61988" x="4203700" y="3757613"/>
          <p14:tracePt t="61988" x="4325938" y="3722688"/>
          <p14:tracePt t="62004" x="4538663" y="3644900"/>
          <p14:tracePt t="62021" x="4672013" y="3567113"/>
          <p14:tracePt t="62037" x="4829175" y="3478213"/>
          <p14:tracePt t="62054" x="4884738" y="3409950"/>
          <p14:tracePt t="62070" x="4940300" y="3332163"/>
          <p14:tracePt t="62088" x="4951413" y="3265488"/>
          <p14:tracePt t="62104" x="4951413" y="3208338"/>
          <p14:tracePt t="62121" x="4895850" y="3108325"/>
          <p14:tracePt t="62138" x="4829175" y="3041650"/>
          <p14:tracePt t="62154" x="4705350" y="2940050"/>
          <p14:tracePt t="62171" x="4572000" y="2884488"/>
          <p14:tracePt t="62188" x="4381500" y="2840038"/>
          <p14:tracePt t="62191" x="4281488" y="2828925"/>
          <p14:tracePt t="62204" x="4057650" y="2806700"/>
          <p14:tracePt t="62221" x="3789363" y="2817813"/>
          <p14:tracePt t="62237" x="3465513" y="2862263"/>
          <p14:tracePt t="62254" x="3352800" y="2906713"/>
          <p14:tracePt t="62271" x="3275013" y="2928938"/>
          <p14:tracePt t="62287" x="3197225" y="2974975"/>
          <p14:tracePt t="62304" x="3163888" y="3008313"/>
          <p14:tracePt t="62321" x="3108325" y="3074988"/>
          <p14:tracePt t="62338" x="3062288" y="3141663"/>
          <p14:tracePt t="62354" x="2984500" y="3265488"/>
          <p14:tracePt t="62371" x="2962275" y="3354388"/>
          <p14:tracePt t="62387" x="2940050" y="3432175"/>
          <p14:tracePt t="62404" x="2917825" y="3589338"/>
          <p14:tracePt t="62422" x="2895600" y="3689350"/>
          <p14:tracePt t="62438" x="2906713" y="3835400"/>
          <p14:tracePt t="62454" x="2917825" y="3913188"/>
          <p14:tracePt t="62471" x="2940050" y="4014788"/>
          <p14:tracePt t="62488" x="3006725" y="4148138"/>
          <p14:tracePt t="62505" x="3051175" y="4225925"/>
          <p14:tracePt t="62521" x="3141663" y="4305300"/>
          <p14:tracePt t="62538" x="3219450" y="4383088"/>
          <p14:tracePt t="62554" x="3365500" y="4529138"/>
          <p14:tracePt t="62570" x="3656013" y="4786313"/>
          <p14:tracePt t="62588" x="3913188" y="4908550"/>
          <p14:tracePt t="62590" x="4057650" y="4941888"/>
          <p14:tracePt t="62604" x="4281488" y="4953000"/>
          <p14:tracePt t="62620" x="4494213" y="4919663"/>
          <p14:tracePt t="62639" x="4773613" y="4740275"/>
          <p14:tracePt t="62654" x="4940300" y="4606925"/>
          <p14:tracePt t="62671" x="5053013" y="4506913"/>
          <p14:tracePt t="62687" x="5241925" y="4316413"/>
          <p14:tracePt t="62704" x="5332413" y="4137025"/>
          <p14:tracePt t="62721" x="5443538" y="3868738"/>
          <p14:tracePt t="62737" x="5487988" y="3768725"/>
          <p14:tracePt t="62754" x="5499100" y="3689350"/>
          <p14:tracePt t="62771" x="5499100" y="3589338"/>
          <p14:tracePt t="62788" x="5487988" y="3556000"/>
          <p14:tracePt t="62804" x="5432425" y="3454400"/>
          <p14:tracePt t="62821" x="5354638" y="3387725"/>
          <p14:tracePt t="62837" x="5141913" y="3254375"/>
          <p14:tracePt t="62854" x="4962525" y="3152775"/>
          <p14:tracePt t="62872" x="4773613" y="3086100"/>
          <p14:tracePt t="62873" x="4672013" y="3052763"/>
          <p14:tracePt t="62887" x="4483100" y="3030538"/>
          <p14:tracePt t="62905" x="4303713" y="3030538"/>
          <p14:tracePt t="62920" x="4068763" y="3030538"/>
          <p14:tracePt t="62937" x="3957638" y="3030538"/>
          <p14:tracePt t="62954" x="3856038" y="3030538"/>
          <p14:tracePt t="62970" x="3722688" y="3063875"/>
          <p14:tracePt t="62988" x="3656013" y="3108325"/>
          <p14:tracePt t="63004" x="3554413" y="3175000"/>
          <p14:tracePt t="63021" x="3476625" y="3243263"/>
          <p14:tracePt t="63038" x="3376613" y="3354388"/>
          <p14:tracePt t="63054" x="3308350" y="3454400"/>
          <p14:tracePt t="63071" x="3263900" y="3544888"/>
          <p14:tracePt t="63088" x="3219450" y="3700463"/>
          <p14:tracePt t="63104" x="3197225" y="3790950"/>
          <p14:tracePt t="63120" x="3219450" y="3924300"/>
          <p14:tracePt t="63137" x="3252788" y="4003675"/>
          <p14:tracePt t="63155" x="3330575" y="4081463"/>
          <p14:tracePt t="63171" x="3565525" y="4203700"/>
          <p14:tracePt t="63188" x="3800475" y="4271963"/>
          <p14:tracePt t="63204" x="4337050" y="4283075"/>
          <p14:tracePt t="63221" x="4594225" y="4260850"/>
          <p14:tracePt t="63238" x="4806950" y="4214813"/>
          <p14:tracePt t="63255" x="4973638" y="4114800"/>
          <p14:tracePt t="63272" x="5041900" y="4037013"/>
          <p14:tracePt t="63287" x="5119688" y="3913188"/>
          <p14:tracePt t="63305" x="5141913" y="3835400"/>
          <p14:tracePt t="63308" x="5141913" y="3802063"/>
          <p14:tracePt t="63338" x="5053013" y="3611563"/>
          <p14:tracePt t="63354" x="4906963" y="3443288"/>
          <p14:tracePt t="63370" x="4583113" y="3208338"/>
          <p14:tracePt t="63387" x="4314825" y="3097213"/>
          <p14:tracePt t="63404" x="3946525" y="2997200"/>
          <p14:tracePt t="63421" x="3756025" y="2986088"/>
          <p14:tracePt t="63437" x="3656013" y="2986088"/>
          <p14:tracePt t="63454" x="3498850" y="3008313"/>
          <p14:tracePt t="63471" x="3432175" y="3041650"/>
          <p14:tracePt t="63487" x="3286125" y="3186113"/>
          <p14:tracePt t="63504" x="3175000" y="3387725"/>
          <p14:tracePt t="63522" x="3040063" y="3746500"/>
          <p14:tracePt t="63537" x="2984500" y="3957638"/>
          <p14:tracePt t="63555" x="2984500" y="4092575"/>
          <p14:tracePt t="63571" x="3017838" y="4225925"/>
          <p14:tracePt t="63588" x="3073400" y="4360863"/>
          <p14:tracePt t="63604" x="3297238" y="4551363"/>
          <p14:tracePt t="63621" x="3656013" y="4584700"/>
          <p14:tracePt t="63639" x="4090988" y="4471988"/>
          <p14:tracePt t="63640" x="4259263" y="4416425"/>
          <p14:tracePt t="63654" x="4494213" y="4316413"/>
          <p14:tracePt t="63671" x="4649788" y="4181475"/>
          <p14:tracePt t="63688" x="4795838" y="3924300"/>
          <p14:tracePt t="63705" x="4818063" y="3790950"/>
          <p14:tracePt t="63720" x="4806950" y="3678238"/>
          <p14:tracePt t="63737" x="4705350" y="3478213"/>
          <p14:tracePt t="63755" x="4560888" y="3343275"/>
          <p14:tracePt t="63771" x="4157663" y="3152775"/>
          <p14:tracePt t="63788" x="3902075" y="3097213"/>
          <p14:tracePt t="63805" x="3711575" y="3086100"/>
          <p14:tracePt t="63821" x="3656013" y="3086100"/>
          <p14:tracePt t="63839" x="3621088" y="3097213"/>
          <p14:tracePt t="63840" x="3609975" y="3097213"/>
          <p14:tracePt t="63854" x="3609975" y="3108325"/>
          <p14:tracePt t="63908" x="3621088" y="3108325"/>
          <p14:tracePt t="63923" x="3621088" y="3119438"/>
          <p14:tracePt t="63937" x="3633788" y="3119438"/>
          <p14:tracePt t="64240" x="3633788" y="3008313"/>
          <p14:tracePt t="64245" x="3656013" y="2851150"/>
          <p14:tracePt t="64254" x="3667125" y="2693988"/>
          <p14:tracePt t="64271" x="3689350" y="2436813"/>
          <p14:tracePt t="64288" x="3700463" y="2179638"/>
          <p14:tracePt t="64304" x="3700463" y="2068513"/>
          <p14:tracePt t="64321" x="3711575" y="1979613"/>
          <p14:tracePt t="64338" x="3722688" y="1844675"/>
          <p14:tracePt t="64355" x="3733800" y="1744663"/>
          <p14:tracePt t="64371" x="3756025" y="1587500"/>
          <p14:tracePt t="64387" x="3756025" y="1520825"/>
          <p14:tracePt t="64404" x="3756025" y="1465263"/>
          <p14:tracePt t="64421" x="3756025" y="1420813"/>
          <p14:tracePt t="64438" x="3756025" y="1397000"/>
          <p14:tracePt t="64440" x="3756025" y="1385888"/>
          <p14:tracePt t="64542" x="3756025" y="1397000"/>
          <p14:tracePt t="64556" x="3756025" y="1408113"/>
          <p14:tracePt t="64577" x="3756025" y="1420813"/>
          <p14:tracePt t="64588" x="3756025" y="1431925"/>
          <p14:tracePt t="64605" x="3756025" y="1443038"/>
          <p14:tracePt t="64607" x="3756025" y="1454150"/>
          <p14:tracePt t="64621" x="3756025" y="1465263"/>
          <p14:tracePt t="64638" x="3756025" y="1487488"/>
          <p14:tracePt t="64654" x="3756025" y="1509713"/>
          <p14:tracePt t="64675" x="3744913" y="1554163"/>
          <p14:tracePt t="64688" x="3733800" y="1631950"/>
          <p14:tracePt t="64704" x="3711575" y="1800225"/>
          <p14:tracePt t="64723" x="3689350" y="2057400"/>
          <p14:tracePt t="64737" x="3689350" y="2192338"/>
          <p14:tracePt t="64754" x="3667125" y="2292350"/>
          <p14:tracePt t="64771" x="3656013" y="2449513"/>
          <p14:tracePt t="64788" x="3656013" y="2538413"/>
          <p14:tracePt t="64805" x="3656013" y="2638425"/>
          <p14:tracePt t="64821" x="3656013" y="2784475"/>
          <p14:tracePt t="64838" x="3656013" y="3130550"/>
          <p14:tracePt t="64854" x="3656013" y="3644900"/>
          <p14:tracePt t="64871" x="3656013" y="3768725"/>
          <p14:tracePt t="64887" x="3656013" y="3813175"/>
          <p14:tracePt t="64904" x="3656013" y="3835400"/>
          <p14:tracePt t="64921" x="3656013" y="3846513"/>
          <p14:tracePt t="64998" x="3656013" y="3835400"/>
          <p14:tracePt t="65005" x="3656013" y="3802063"/>
          <p14:tracePt t="65012" x="3656013" y="3722688"/>
          <p14:tracePt t="65021" x="3678238" y="3500438"/>
          <p14:tracePt t="65037" x="3700463" y="3152775"/>
          <p14:tracePt t="65053" x="3744913" y="2828925"/>
          <p14:tracePt t="65071" x="3778250" y="2627313"/>
          <p14:tracePt t="65088" x="3811588" y="2460625"/>
          <p14:tracePt t="65106" x="3833813" y="2247900"/>
          <p14:tracePt t="65121" x="3844925" y="2124075"/>
          <p14:tracePt t="65137" x="3856038" y="1979613"/>
          <p14:tracePt t="65154" x="3867150" y="1922463"/>
          <p14:tracePt t="65170" x="3878263" y="1833563"/>
          <p14:tracePt t="65187" x="3878263" y="1789113"/>
          <p14:tracePt t="65205" x="3878263" y="1755775"/>
          <p14:tracePt t="65221" x="3878263" y="1711325"/>
          <p14:tracePt t="65240" x="3878263" y="1677988"/>
          <p14:tracePt t="65254" x="3878263" y="1665288"/>
          <p14:tracePt t="65271" x="3878263" y="1654175"/>
          <p14:tracePt t="65338" x="3878263" y="1665288"/>
          <p14:tracePt t="65351" x="3878263" y="1677988"/>
          <p14:tracePt t="65356" x="3878263" y="1689100"/>
          <p14:tracePt t="65371" x="3878263" y="1700213"/>
          <p14:tracePt t="65389" x="3867150" y="1733550"/>
          <p14:tracePt t="65405" x="3856038" y="1789113"/>
          <p14:tracePt t="65421" x="3822700" y="2001838"/>
          <p14:tracePt t="65438" x="3822700" y="2192338"/>
          <p14:tracePt t="65454" x="3811588" y="2436813"/>
          <p14:tracePt t="65470" x="3811588" y="2582863"/>
          <p14:tracePt t="65488" x="3811588" y="2717800"/>
          <p14:tracePt t="65504" x="3811588" y="2840038"/>
          <p14:tracePt t="65523" x="3833813" y="3108325"/>
          <p14:tracePt t="65537" x="3867150" y="3432175"/>
          <p14:tracePt t="65554" x="3867150" y="3567113"/>
          <p14:tracePt t="65571" x="3878263" y="3611563"/>
          <p14:tracePt t="65588" x="3878263" y="3644900"/>
          <p14:tracePt t="65607" x="3878263" y="3667125"/>
          <p14:tracePt t="65647" x="3889375" y="3644900"/>
          <p14:tracePt t="65653" x="3889375" y="3511550"/>
          <p14:tracePt t="65660" x="3902075" y="3321050"/>
          <p14:tracePt t="65670" x="3902075" y="3108325"/>
          <p14:tracePt t="65688" x="3957638" y="2717800"/>
          <p14:tracePt t="65690" x="4002088" y="2538413"/>
          <p14:tracePt t="65704" x="4035425" y="2281238"/>
          <p14:tracePt t="65721" x="4057650" y="2079625"/>
          <p14:tracePt t="65738" x="4090988" y="1878013"/>
          <p14:tracePt t="65754" x="4102100" y="1811338"/>
          <p14:tracePt t="65771" x="4102100" y="1755775"/>
          <p14:tracePt t="65787" x="4102100" y="1689100"/>
          <p14:tracePt t="65805" x="4102100" y="1654175"/>
          <p14:tracePt t="65820" x="4102100" y="1609725"/>
          <p14:tracePt t="65847" x="4102100" y="1598613"/>
          <p14:tracePt t="65882" x="4090988" y="1598613"/>
          <p14:tracePt t="65910" x="4090988" y="1609725"/>
          <p14:tracePt t="65921" x="4090988" y="1620838"/>
          <p14:tracePt t="65938" x="4079875" y="1643063"/>
          <p14:tracePt t="65954" x="4068763" y="1677988"/>
          <p14:tracePt t="65971" x="4057650" y="1733550"/>
          <p14:tracePt t="65988" x="4035425" y="1878013"/>
          <p14:tracePt t="66006" x="3979863" y="2146300"/>
          <p14:tracePt t="66021" x="3968750" y="2347913"/>
          <p14:tracePt t="66038" x="3935413" y="2560638"/>
          <p14:tracePt t="66055" x="3924300" y="2773363"/>
          <p14:tracePt t="66071" x="3924300" y="3108325"/>
          <p14:tracePt t="66089" x="3924300" y="3175000"/>
          <p14:tracePt t="66090" x="3924300" y="3186113"/>
          <p14:tracePt t="66104" x="3924300" y="3208338"/>
          <p14:tracePt t="66121" x="3924300" y="3232150"/>
          <p14:tracePt t="66161" x="3924300" y="3221038"/>
          <p14:tracePt t="66165" x="3924300" y="3197225"/>
          <p14:tracePt t="66647" x="3924300" y="3108325"/>
          <p14:tracePt t="66655" x="3924300" y="2974975"/>
          <p14:tracePt t="66661" x="3946525" y="2862263"/>
          <p14:tracePt t="66670" x="3957638" y="2728913"/>
          <p14:tracePt t="66689" x="3979863" y="2493963"/>
          <p14:tracePt t="66690" x="3979863" y="2381250"/>
          <p14:tracePt t="66704" x="3990975" y="2225675"/>
          <p14:tracePt t="66721" x="4013200" y="2124075"/>
          <p14:tracePt t="66738" x="4013200" y="2035175"/>
          <p14:tracePt t="66740" x="4013200" y="2001838"/>
          <p14:tracePt t="66754" x="4013200" y="1946275"/>
          <p14:tracePt t="66770" x="4013200" y="1900238"/>
          <p14:tracePt t="66787" x="4013200" y="1855788"/>
          <p14:tracePt t="66804" x="4013200" y="1822450"/>
          <p14:tracePt t="66871" x="4002088" y="1822450"/>
          <p14:tracePt t="66883" x="4002088" y="1833563"/>
          <p14:tracePt t="66889" x="3990975" y="1844675"/>
          <p14:tracePt t="66904" x="3990975" y="1866900"/>
          <p14:tracePt t="66921" x="3979863" y="1911350"/>
          <p14:tracePt t="66938" x="3968750" y="1979613"/>
          <p14:tracePt t="66954" x="3924300" y="2168525"/>
          <p14:tracePt t="66971" x="3878263" y="2381250"/>
          <p14:tracePt t="66987" x="3822700" y="2773363"/>
          <p14:tracePt t="67004" x="3789363" y="3052763"/>
          <p14:tracePt t="67022" x="3789363" y="3232150"/>
          <p14:tracePt t="67023" x="3789363" y="3276600"/>
          <p14:tracePt t="67037" x="3789363" y="3398838"/>
          <p14:tracePt t="67054" x="3789363" y="3465513"/>
          <p14:tracePt t="67071" x="3789363" y="3544888"/>
          <p14:tracePt t="67088" x="3789363" y="3578225"/>
          <p14:tracePt t="67106" x="3789363" y="3611563"/>
          <p14:tracePt t="67179" x="3800475" y="3611563"/>
          <p14:tracePt t="67187" x="3800475" y="3589338"/>
          <p14:tracePt t="67204" x="3811588" y="3511550"/>
          <p14:tracePt t="67221" x="3833813" y="3376613"/>
          <p14:tracePt t="67238" x="3889375" y="2986088"/>
          <p14:tracePt t="67254" x="3946525" y="2682875"/>
          <p14:tracePt t="67271" x="3946525" y="2370138"/>
          <p14:tracePt t="67288" x="3957638" y="2225675"/>
          <p14:tracePt t="67304" x="3968750" y="2090738"/>
          <p14:tracePt t="67321" x="3979863" y="1935163"/>
          <p14:tracePt t="67339" x="4013200" y="1811338"/>
          <p14:tracePt t="67354" x="4013200" y="1755775"/>
          <p14:tracePt t="67372" x="4013200" y="1711325"/>
          <p14:tracePt t="67388" x="4013200" y="1677988"/>
          <p14:tracePt t="67404" x="4013200" y="1665288"/>
          <p14:tracePt t="67421" x="4013200" y="1654175"/>
          <p14:tracePt t="67497" x="4013200" y="1665288"/>
          <p14:tracePt t="67505" x="4013200" y="1677988"/>
          <p14:tracePt t="67520" x="4013200" y="1700213"/>
          <p14:tracePt t="67539" x="4013200" y="1711325"/>
          <p14:tracePt t="67554" x="4013200" y="1744663"/>
          <p14:tracePt t="67571" x="4013200" y="1778000"/>
          <p14:tracePt t="67573" x="4013200" y="1800225"/>
          <p14:tracePt t="67587" x="4013200" y="1866900"/>
          <p14:tracePt t="67604" x="4013200" y="1957388"/>
          <p14:tracePt t="67621" x="4013200" y="2090738"/>
          <p14:tracePt t="67638" x="4013200" y="2336800"/>
          <p14:tracePt t="67655" x="4013200" y="2482850"/>
          <p14:tracePt t="67671" x="4013200" y="2638425"/>
          <p14:tracePt t="67687" x="4013200" y="2693988"/>
          <p14:tracePt t="67704" x="4013200" y="2751138"/>
          <p14:tracePt t="67721" x="4013200" y="2840038"/>
          <p14:tracePt t="67738" x="4013200" y="2884488"/>
          <p14:tracePt t="67754" x="4013200" y="2951163"/>
          <p14:tracePt t="67772" x="4013200" y="2963863"/>
          <p14:tracePt t="67774" x="4013200" y="2974975"/>
          <p14:tracePt t="67787" x="4013200" y="2986088"/>
          <p14:tracePt t="67804" x="4013200" y="3019425"/>
          <p14:tracePt t="67821" x="4013200" y="3030538"/>
          <p14:tracePt t="67854" x="4013200" y="3041650"/>
          <p14:tracePt t="67870" x="4013200" y="3052763"/>
          <p14:tracePt t="68023" x="4013200" y="3041650"/>
          <p14:tracePt t="68037" x="4013200" y="3030538"/>
          <p14:tracePt t="68054" x="4013200" y="2974975"/>
          <p14:tracePt t="68071" x="4046538" y="2728913"/>
          <p14:tracePt t="68087" x="4079875" y="2414588"/>
          <p14:tracePt t="68105" x="4113213" y="2068513"/>
          <p14:tracePt t="68107" x="4135438" y="1935163"/>
          <p14:tracePt t="68120" x="4170363" y="1711325"/>
          <p14:tracePt t="68137" x="4181475" y="1598613"/>
          <p14:tracePt t="68154" x="4181475" y="1520825"/>
          <p14:tracePt t="68172" x="4181475" y="1498600"/>
          <p14:tracePt t="68187" x="4181475" y="1476375"/>
          <p14:tracePt t="68208" x="4170363" y="1476375"/>
          <p14:tracePt t="68224" x="4157663" y="1476375"/>
          <p14:tracePt t="68237" x="4157663" y="1487488"/>
          <p14:tracePt t="68255" x="4146550" y="1520825"/>
          <p14:tracePt t="68271" x="4135438" y="1554163"/>
          <p14:tracePt t="68288" x="4113213" y="1654175"/>
          <p14:tracePt t="68304" x="4079875" y="1844675"/>
          <p14:tracePt t="68306" x="4046538" y="1990725"/>
          <p14:tracePt t="68320" x="3979863" y="2392363"/>
          <p14:tracePt t="68338" x="3902075" y="2795588"/>
          <p14:tracePt t="68354" x="3800475" y="3197225"/>
          <p14:tracePt t="68370" x="3756025" y="3343275"/>
          <p14:tracePt t="68389" x="3722688" y="3454400"/>
          <p14:tracePt t="68404" x="3711575" y="3489325"/>
          <p14:tracePt t="68421" x="3711575" y="3511550"/>
          <p14:tracePt t="68809" x="3644900" y="3522663"/>
          <p14:tracePt t="68816" x="3521075" y="3556000"/>
          <p14:tracePt t="68822" x="3387725" y="3567113"/>
          <p14:tracePt t="68837" x="3130550" y="3600450"/>
          <p14:tracePt t="68853" x="2906713" y="3622675"/>
          <p14:tracePt t="68870" x="2705100" y="3633788"/>
          <p14:tracePt t="68887" x="2403475" y="3633788"/>
          <p14:tracePt t="68904" x="2224088" y="3633788"/>
          <p14:tracePt t="68907" x="2157413" y="3633788"/>
          <p14:tracePt t="68920" x="2011363" y="3633788"/>
          <p14:tracePt t="68938" x="1889125" y="3633788"/>
          <p14:tracePt t="68954" x="1811338" y="3622675"/>
          <p14:tracePt t="68971" x="1709738" y="3622675"/>
          <p14:tracePt t="68989" x="1665288" y="3622675"/>
          <p14:tracePt t="69004" x="1643063" y="3622675"/>
          <p14:tracePt t="69021" x="1620838" y="3622675"/>
          <p14:tracePt t="69078" x="1631950" y="3622675"/>
          <p14:tracePt t="69085" x="1643063" y="3622675"/>
          <p14:tracePt t="69092" x="1654175" y="3622675"/>
          <p14:tracePt t="69107" x="1676400" y="3622675"/>
          <p14:tracePt t="69122" x="1720850" y="3622675"/>
          <p14:tracePt t="69137" x="1844675" y="3622675"/>
          <p14:tracePt t="69154" x="2090738" y="3622675"/>
          <p14:tracePt t="69171" x="2649538" y="3678238"/>
          <p14:tracePt t="69187" x="2951163" y="3735388"/>
          <p14:tracePt t="69204" x="3141663" y="3768725"/>
          <p14:tracePt t="69220" x="3186113" y="3768725"/>
          <p14:tracePt t="69238" x="3219450" y="3768725"/>
          <p14:tracePt t="69254" x="3230563" y="3768725"/>
          <p14:tracePt t="69271" x="3241675" y="3768725"/>
          <p14:tracePt t="69288" x="3252788" y="3768725"/>
          <p14:tracePt t="69305" x="3263900" y="3768725"/>
          <p14:tracePt t="69321" x="3286125" y="3768725"/>
          <p14:tracePt t="71025" x="3219450" y="3768725"/>
          <p14:tracePt t="71032" x="3130550" y="3768725"/>
          <p14:tracePt t="71039" x="2995613" y="3768725"/>
          <p14:tracePt t="71053" x="2738438" y="3779838"/>
          <p14:tracePt t="71070" x="2425700" y="3779838"/>
          <p14:tracePt t="71087" x="2135188" y="3779838"/>
          <p14:tracePt t="71104" x="1844675" y="3779838"/>
          <p14:tracePt t="71121" x="1687513" y="3779838"/>
          <p14:tracePt t="71137" x="1498600" y="3779838"/>
          <p14:tracePt t="71154" x="1397000" y="3779838"/>
          <p14:tracePt t="71170" x="1285875" y="3779838"/>
          <p14:tracePt t="71187" x="1230313" y="3779838"/>
          <p14:tracePt t="71204" x="1162050" y="3779838"/>
          <p14:tracePt t="71220" x="1095375" y="3779838"/>
          <p14:tracePt t="71237" x="1062038" y="3779838"/>
          <p14:tracePt t="71254" x="1028700" y="3779838"/>
          <p14:tracePt t="71270" x="1017588" y="3779838"/>
          <p14:tracePt t="71308" x="1028700" y="3779838"/>
          <p14:tracePt t="71315" x="1039813" y="3779838"/>
          <p14:tracePt t="71323" x="1050925" y="3779838"/>
          <p14:tracePt t="71337" x="1073150" y="3768725"/>
          <p14:tracePt t="71354" x="1139825" y="3768725"/>
          <p14:tracePt t="71371" x="1219200" y="3768725"/>
          <p14:tracePt t="71388" x="1430338" y="3757613"/>
          <p14:tracePt t="71404" x="1587500" y="3757613"/>
          <p14:tracePt t="71406" x="1676400" y="3757613"/>
          <p14:tracePt t="71420" x="1889125" y="3757613"/>
          <p14:tracePt t="71437" x="2157413" y="3779838"/>
          <p14:tracePt t="71454" x="2470150" y="3779838"/>
          <p14:tracePt t="71470" x="2616200" y="3779838"/>
          <p14:tracePt t="71488" x="2716213" y="3779838"/>
          <p14:tracePt t="71504" x="2828925" y="3779838"/>
          <p14:tracePt t="71521" x="2884488" y="3790950"/>
          <p14:tracePt t="71537" x="2951163" y="3790950"/>
          <p14:tracePt t="71554" x="2973388" y="3802063"/>
          <p14:tracePt t="71570" x="3051175" y="3835400"/>
          <p14:tracePt t="71587" x="3108325" y="3846513"/>
          <p14:tracePt t="72257" x="2917825" y="3846513"/>
          <p14:tracePt t="72261" x="2738438" y="3846513"/>
          <p14:tracePt t="72272" x="2536825" y="3846513"/>
          <p14:tracePt t="72287" x="2201863" y="3835400"/>
          <p14:tracePt t="72304" x="1866900" y="3824288"/>
          <p14:tracePt t="72320" x="1698625" y="3813175"/>
          <p14:tracePt t="72337" x="1576388" y="3813175"/>
          <p14:tracePt t="72353" x="1430338" y="3790950"/>
          <p14:tracePt t="72371" x="1341438" y="3790950"/>
          <p14:tracePt t="72387" x="1274763" y="3790950"/>
          <p14:tracePt t="72404" x="1252538" y="3790950"/>
          <p14:tracePt t="72422" x="1241425" y="3790950"/>
          <p14:tracePt t="72437" x="1230313" y="3790950"/>
          <p14:tracePt t="72470" x="1241425" y="3790950"/>
          <p14:tracePt t="72487" x="1252538" y="3790950"/>
          <p14:tracePt t="72504" x="1330325" y="3790950"/>
          <p14:tracePt t="72520" x="1587500" y="3802063"/>
          <p14:tracePt t="72538" x="1878013" y="3802063"/>
          <p14:tracePt t="72540" x="2057400" y="3802063"/>
          <p14:tracePt t="72553" x="2436813" y="3813175"/>
          <p14:tracePt t="72571" x="2794000" y="3835400"/>
          <p14:tracePt t="72573" x="2928938" y="3846513"/>
          <p14:tracePt t="72587" x="3197225" y="3846513"/>
          <p14:tracePt t="72604" x="3398838" y="3846513"/>
          <p14:tracePt t="72620" x="3644900" y="3846513"/>
          <p14:tracePt t="72637" x="3924300" y="3846513"/>
          <p14:tracePt t="72654" x="4046538" y="3835400"/>
          <p14:tracePt t="72671" x="4157663" y="3813175"/>
          <p14:tracePt t="72704" x="4259263" y="3779838"/>
          <p14:tracePt t="72720" x="4337050" y="3735388"/>
          <p14:tracePt t="72737" x="4381500" y="3722688"/>
          <p14:tracePt t="72753" x="4425950" y="3700463"/>
          <p14:tracePt t="72770" x="4449763" y="3700463"/>
          <p14:tracePt t="72787" x="4471988" y="3678238"/>
          <p14:tracePt t="72804" x="4471988" y="3667125"/>
          <p14:tracePt t="72821" x="4483100" y="3667125"/>
          <p14:tracePt t="72837" x="4494213" y="3644900"/>
          <p14:tracePt t="72855" x="4505325" y="3611563"/>
          <p14:tracePt t="72857" x="4516438" y="3589338"/>
          <p14:tracePt t="72870" x="4516438" y="3511550"/>
          <p14:tracePt t="72886" x="4460875" y="3421063"/>
          <p14:tracePt t="72904" x="4314825" y="3243263"/>
          <p14:tracePt t="72920" x="3957638" y="2974975"/>
          <p14:tracePt t="72938" x="3744913" y="2873375"/>
          <p14:tracePt t="72954" x="3521075" y="2828925"/>
          <p14:tracePt t="72971" x="3421063" y="2817813"/>
          <p14:tracePt t="72973" x="3365500" y="2817813"/>
          <p14:tracePt t="72987" x="3297238" y="2817813"/>
          <p14:tracePt t="73004" x="3219450" y="2817813"/>
          <p14:tracePt t="73021" x="3152775" y="2828925"/>
          <p14:tracePt t="73023" x="3130550" y="2840038"/>
          <p14:tracePt t="73037" x="3051175" y="2873375"/>
          <p14:tracePt t="73054" x="2984500" y="2906713"/>
          <p14:tracePt t="73070" x="2862263" y="2963863"/>
          <p14:tracePt t="73087" x="2805113" y="3030538"/>
          <p14:tracePt t="73104" x="2738438" y="3074988"/>
          <p14:tracePt t="73120" x="2671763" y="3163888"/>
          <p14:tracePt t="73138" x="2616200" y="3232150"/>
          <p14:tracePt t="73153" x="2571750" y="3321050"/>
          <p14:tracePt t="73170" x="2536825" y="3398838"/>
          <p14:tracePt t="73187" x="2503488" y="3500438"/>
          <p14:tracePt t="73204" x="2503488" y="3656013"/>
          <p14:tracePt t="73220" x="2503488" y="3722688"/>
          <p14:tracePt t="73236" x="2547938" y="3924300"/>
          <p14:tracePt t="73253" x="2627313" y="4203700"/>
          <p14:tracePt t="73270" x="2794000" y="4506913"/>
          <p14:tracePt t="73286" x="2895600" y="4606925"/>
          <p14:tracePt t="73304" x="3006725" y="4797425"/>
          <p14:tracePt t="73320" x="3130550" y="4797425"/>
          <p14:tracePt t="73338" x="3252788" y="4797425"/>
          <p14:tracePt t="73353" x="3454400" y="4797425"/>
          <p14:tracePt t="73370" x="3609975" y="4797425"/>
          <p14:tracePt t="73388" x="3778250" y="4797425"/>
          <p14:tracePt t="73390" x="3844925" y="4797425"/>
          <p14:tracePt t="73403" x="3968750" y="4797425"/>
          <p14:tracePt t="73421" x="4102100" y="4797425"/>
          <p14:tracePt t="73424" x="4146550" y="4797425"/>
          <p14:tracePt t="73437" x="4303713" y="4797425"/>
          <p14:tracePt t="73454" x="4414838" y="4797425"/>
          <p14:tracePt t="73471" x="4605338" y="4786313"/>
          <p14:tracePt t="73487" x="4795838" y="4618038"/>
          <p14:tracePt t="73504" x="5141913" y="3857625"/>
          <p14:tracePt t="73520" x="5299075" y="3432175"/>
          <p14:tracePt t="73537" x="5321300" y="3309938"/>
          <p14:tracePt t="73554" x="5354638" y="3130550"/>
          <p14:tracePt t="73570" x="5354638" y="3030538"/>
          <p14:tracePt t="73587" x="5343525" y="2928938"/>
          <p14:tracePt t="73589" x="5321300" y="2873375"/>
          <p14:tracePt t="73604" x="5265738" y="2773363"/>
          <p14:tracePt t="73620" x="5186363" y="2649538"/>
          <p14:tracePt t="73637" x="4986338" y="2516188"/>
          <p14:tracePt t="73653" x="4840288" y="2460625"/>
          <p14:tracePt t="73670" x="4594225" y="2381250"/>
          <p14:tracePt t="73687" x="4471988" y="2347913"/>
          <p14:tracePt t="73704" x="4359275" y="2325688"/>
          <p14:tracePt t="73720" x="4214813" y="2314575"/>
          <p14:tracePt t="73737" x="4113213" y="2314575"/>
          <p14:tracePt t="73754" x="3856038" y="2381250"/>
          <p14:tracePt t="73770" x="3565525" y="2505075"/>
          <p14:tracePt t="73788" x="3286125" y="2682875"/>
          <p14:tracePt t="73789" x="3186113" y="2751138"/>
          <p14:tracePt t="73804" x="3028950" y="2851150"/>
          <p14:tracePt t="73820" x="2951163" y="2906713"/>
          <p14:tracePt t="73838" x="2862263" y="2986088"/>
          <p14:tracePt t="73854" x="2816225" y="3041650"/>
          <p14:tracePt t="73870" x="2760663" y="3119438"/>
          <p14:tracePt t="73888" x="2693988" y="3276600"/>
          <p14:tracePt t="73904" x="2671763" y="3365500"/>
          <p14:tracePt t="73920" x="2660650" y="3924300"/>
          <p14:tracePt t="73937" x="2705100" y="4349750"/>
          <p14:tracePt t="73954" x="2840038" y="4740275"/>
          <p14:tracePt t="73970" x="2984500" y="4740275"/>
          <p14:tracePt t="73988" x="3175000" y="4740275"/>
          <p14:tracePt t="74004" x="3398838" y="4740275"/>
          <p14:tracePt t="74022" x="3565525" y="4740275"/>
          <p14:tracePt t="74037" x="3644900" y="4740275"/>
          <p14:tracePt t="74053" x="3711575" y="4718050"/>
          <p14:tracePt t="74071" x="3800475" y="4584700"/>
          <p14:tracePt t="74087" x="4002088" y="3802063"/>
          <p14:tracePt t="74104" x="4046538" y="3489325"/>
          <p14:tracePt t="74120" x="4057650" y="3208338"/>
          <p14:tracePt t="74138" x="4057650" y="3097213"/>
          <p14:tracePt t="74154" x="4057650" y="3008313"/>
          <p14:tracePt t="74171" x="4024313" y="2906713"/>
          <p14:tracePt t="74187" x="3979863" y="2840038"/>
          <p14:tracePt t="74204" x="3902075" y="2740025"/>
          <p14:tracePt t="74220" x="3833813" y="2660650"/>
          <p14:tracePt t="74237" x="3744913" y="2582863"/>
          <p14:tracePt t="74254" x="3689350" y="2549525"/>
          <p14:tracePt t="74270" x="3609975" y="2527300"/>
          <p14:tracePt t="74289" x="3454400" y="2493963"/>
          <p14:tracePt t="74292" x="3421063" y="2493963"/>
          <p14:tracePt t="74303" x="3376613" y="2471738"/>
          <p14:tracePt t="74321" x="3252788" y="2460625"/>
          <p14:tracePt t="74337" x="3175000" y="2460625"/>
          <p14:tracePt t="74354" x="3119438" y="2460625"/>
          <p14:tracePt t="74370" x="3017838" y="2471738"/>
          <p14:tracePt t="74387" x="2973388" y="2482850"/>
          <p14:tracePt t="74404" x="2940050" y="2505075"/>
          <p14:tracePt t="74421" x="2917825" y="2516188"/>
          <p14:tracePt t="74422" x="2906713" y="2516188"/>
          <p14:tracePt t="74437" x="2895600" y="2516188"/>
          <p14:tracePt t="74457" x="2895600" y="2527300"/>
          <p14:tracePt t="74470" x="2884488" y="2527300"/>
          <p14:tracePt t="77247" x="2906713" y="2471738"/>
          <p14:tracePt t="77254" x="2984500" y="2336800"/>
          <p14:tracePt t="77270" x="3163888" y="2024063"/>
          <p14:tracePt t="77286" x="3341688" y="1711325"/>
          <p14:tracePt t="77303" x="3554413" y="1308100"/>
          <p14:tracePt t="77321" x="3656013" y="1084263"/>
          <p14:tracePt t="77337" x="3711575" y="882650"/>
          <p14:tracePt t="77353" x="3711575" y="827088"/>
          <p14:tracePt t="77371" x="3711575" y="782638"/>
          <p14:tracePt t="77387" x="3689350" y="760413"/>
          <p14:tracePt t="77405" x="3678238" y="749300"/>
          <p14:tracePt t="77407" x="3667125" y="738188"/>
          <p14:tracePt t="77420" x="3644900" y="738188"/>
          <p14:tracePt t="77436" x="3598863" y="738188"/>
          <p14:tracePt t="77454" x="3565525" y="738188"/>
          <p14:tracePt t="77470" x="3498850" y="738188"/>
          <p14:tracePt t="77486" x="3454400" y="749300"/>
          <p14:tracePt t="77488" x="3432175" y="749300"/>
          <p14:tracePt t="77503" x="3376613" y="771525"/>
          <p14:tracePt t="77520" x="3308350" y="804863"/>
          <p14:tracePt t="77536" x="3230563" y="882650"/>
          <p14:tracePt t="77553" x="3175000" y="962025"/>
          <p14:tracePt t="77570" x="3141663" y="1028700"/>
          <p14:tracePt t="77572" x="3130550" y="1062038"/>
          <p14:tracePt t="77586" x="3084513" y="1174750"/>
          <p14:tracePt t="77605" x="3051175" y="1308100"/>
          <p14:tracePt t="77620" x="3028950" y="1420813"/>
          <p14:tracePt t="77636" x="3017838" y="1487488"/>
          <p14:tracePt t="77653" x="3006725" y="1576388"/>
          <p14:tracePt t="77670" x="2995613" y="1722438"/>
          <p14:tracePt t="77688" x="2995613" y="1811338"/>
          <p14:tracePt t="77689" x="2995613" y="1866900"/>
          <p14:tracePt t="77703" x="2995613" y="1946275"/>
          <p14:tracePt t="77721" x="2995613" y="2001838"/>
          <p14:tracePt t="77737" x="2995613" y="2057400"/>
          <p14:tracePt t="77754" x="2995613" y="2090738"/>
          <p14:tracePt t="77771" x="3006725" y="2146300"/>
          <p14:tracePt t="77788" x="3017838" y="2270125"/>
          <p14:tracePt t="77804" x="3028950" y="2359025"/>
          <p14:tracePt t="77820" x="3051175" y="2436813"/>
          <p14:tracePt t="77837" x="3051175" y="2471738"/>
          <p14:tracePt t="77855" x="3051175" y="2493963"/>
          <p14:tracePt t="77859" x="3062288" y="2493963"/>
          <p14:tracePt t="77887" x="3073400" y="2505075"/>
          <p14:tracePt t="79621" x="3051175" y="2516188"/>
          <p14:tracePt t="79636" x="2906713" y="2560638"/>
          <p14:tracePt t="79654" x="2760663" y="2627313"/>
          <p14:tracePt t="79670" x="2560638" y="2682875"/>
          <p14:tracePt t="79686" x="2459038" y="2717800"/>
          <p14:tracePt t="79703" x="2381250" y="2751138"/>
          <p14:tracePt t="79720" x="2279650" y="2795588"/>
          <p14:tracePt t="79737" x="2224088" y="2817813"/>
          <p14:tracePt t="79753" x="2179638" y="2840038"/>
          <p14:tracePt t="79770" x="2168525" y="2851150"/>
          <p14:tracePt t="79787" x="2157413" y="2862263"/>
          <p14:tracePt t="79835" x="2168525" y="2862263"/>
          <p14:tracePt t="79842" x="2179638" y="2862263"/>
          <p14:tracePt t="79853" x="2190750" y="2862263"/>
          <p14:tracePt t="79870" x="2212975" y="2884488"/>
          <p14:tracePt t="79886" x="2279650" y="2906713"/>
          <p14:tracePt t="79904" x="2325688" y="2928938"/>
          <p14:tracePt t="79920" x="2392363" y="2951163"/>
          <p14:tracePt t="79937" x="2459038" y="2974975"/>
          <p14:tracePt t="79953" x="2547938" y="3019425"/>
          <p14:tracePt t="79970" x="2616200" y="3030538"/>
          <p14:tracePt t="79987" x="2682875" y="3063875"/>
          <p14:tracePt t="80003" x="2805113" y="3097213"/>
          <p14:tracePt t="80020" x="2917825" y="3141663"/>
          <p14:tracePt t="80036" x="3028950" y="3175000"/>
          <p14:tracePt t="80054" x="3097213" y="3197225"/>
          <p14:tracePt t="80070" x="3141663" y="3197225"/>
          <p14:tracePt t="80087" x="3197225" y="3221038"/>
          <p14:tracePt t="80103" x="3230563" y="3232150"/>
          <p14:tracePt t="80120" x="3241675" y="3232150"/>
          <p14:tracePt t="80137" x="3263900" y="3232150"/>
          <p14:tracePt t="80139" x="3275013" y="3232150"/>
          <p14:tracePt t="80153" x="3286125" y="3232150"/>
          <p14:tracePt t="89183" x="3376613" y="3221038"/>
          <p14:tracePt t="89204" x="3576638" y="3141663"/>
          <p14:tracePt t="89220" x="3889375" y="3019425"/>
          <p14:tracePt t="89236" x="4079875" y="2974975"/>
          <p14:tracePt t="89253" x="4370388" y="2873375"/>
          <p14:tracePt t="89269" x="4538663" y="2795588"/>
          <p14:tracePt t="89286" x="4694238" y="2740025"/>
          <p14:tracePt t="89303" x="4873625" y="2660650"/>
          <p14:tracePt t="89319" x="5030788" y="2616200"/>
          <p14:tracePt t="89336" x="5230813" y="2538413"/>
          <p14:tracePt t="89353" x="5387975" y="2471738"/>
          <p14:tracePt t="89369" x="5611813" y="2381250"/>
          <p14:tracePt t="89386" x="5745163" y="2303463"/>
          <p14:tracePt t="89404" x="5846763" y="2270125"/>
          <p14:tracePt t="89420" x="5980113" y="2214563"/>
          <p14:tracePt t="89436" x="6024563" y="2192338"/>
          <p14:tracePt t="89453" x="6103938" y="2168525"/>
          <p14:tracePt t="89469" x="6148388" y="2146300"/>
          <p14:tracePt t="89487" x="6226175" y="2112963"/>
          <p14:tracePt t="89488" x="6259513" y="2101850"/>
          <p14:tracePt t="89502" x="6338888" y="2057400"/>
          <p14:tracePt t="89521" x="6427788" y="2035175"/>
          <p14:tracePt t="89537" x="6561138" y="1979613"/>
          <p14:tracePt t="89553" x="6651625" y="1946275"/>
          <p14:tracePt t="89570" x="6740525" y="1935163"/>
          <p14:tracePt t="89586" x="6886575" y="1889125"/>
          <p14:tracePt t="89602" x="6975475" y="1878013"/>
          <p14:tracePt t="89620" x="7097713" y="1855788"/>
          <p14:tracePt t="89638" x="7188200" y="1833563"/>
          <p14:tracePt t="89653" x="7232650" y="1811338"/>
          <p14:tracePt t="89669" x="7265988" y="1800225"/>
          <p14:tracePt t="89687" x="7299325" y="1789113"/>
          <p14:tracePt t="89703" x="7310438" y="1778000"/>
          <p14:tracePt t="89720" x="7332663" y="1778000"/>
          <p14:tracePt t="89737" x="7343775" y="1778000"/>
          <p14:tracePt t="89785" x="7343775" y="1766888"/>
          <p14:tracePt t="89853" x="7343775" y="1755775"/>
          <p14:tracePt t="89880" x="7332663" y="1755775"/>
          <p14:tracePt t="89894" x="7321550" y="1755775"/>
          <p14:tracePt t="89921" x="7310438" y="1755775"/>
          <p14:tracePt t="89941" x="7299325" y="1755775"/>
          <p14:tracePt t="89955" x="7288213" y="1755775"/>
          <p14:tracePt t="89969" x="7277100" y="1755775"/>
          <p14:tracePt t="89986" x="7254875" y="1755775"/>
          <p14:tracePt t="90011" x="7243763" y="1755775"/>
          <p14:tracePt t="90039" x="7232650" y="1755775"/>
          <p14:tracePt t="91130" x="7210425" y="1755775"/>
          <p14:tracePt t="91137" x="7188200" y="1766888"/>
          <p14:tracePt t="91152" x="7143750" y="1800225"/>
          <p14:tracePt t="91169" x="7064375" y="1822450"/>
          <p14:tracePt t="91186" x="6942138" y="1866900"/>
          <p14:tracePt t="91203" x="6864350" y="1922463"/>
          <p14:tracePt t="91220" x="6707188" y="1990725"/>
          <p14:tracePt t="91236" x="6596063" y="2024063"/>
          <p14:tracePt t="91253" x="6505575" y="2068513"/>
          <p14:tracePt t="91269" x="6383338" y="2135188"/>
          <p14:tracePt t="91286" x="6292850" y="2168525"/>
          <p14:tracePt t="91302" x="6159500" y="2236788"/>
          <p14:tracePt t="91319" x="6059488" y="2292350"/>
          <p14:tracePt t="91336" x="5969000" y="2336800"/>
          <p14:tracePt t="91337" x="5924550" y="2359025"/>
          <p14:tracePt t="91353" x="5835650" y="2414588"/>
          <p14:tracePt t="91370" x="5745163" y="2471738"/>
          <p14:tracePt t="91371" x="5711825" y="2493963"/>
          <p14:tracePt t="91386" x="5634038" y="2571750"/>
          <p14:tracePt t="91403" x="5534025" y="2638425"/>
          <p14:tracePt t="91420" x="5465763" y="2706688"/>
          <p14:tracePt t="91436" x="5310188" y="2828925"/>
          <p14:tracePt t="91452" x="5208588" y="2906713"/>
          <p14:tracePt t="91469" x="5075238" y="3019425"/>
          <p14:tracePt t="91486" x="4997450" y="3074988"/>
          <p14:tracePt t="91502" x="4851400" y="3186113"/>
          <p14:tracePt t="91519" x="4751388" y="3287713"/>
          <p14:tracePt t="91536" x="4649788" y="3387725"/>
          <p14:tracePt t="91538" x="4605338" y="3443288"/>
          <p14:tracePt t="91552" x="4516438" y="3511550"/>
          <p14:tracePt t="91569" x="4403725" y="3622675"/>
          <p14:tracePt t="91586" x="4292600" y="3757613"/>
          <p14:tracePt t="91602" x="4214813" y="3835400"/>
          <p14:tracePt t="91619" x="4135438" y="3913188"/>
          <p14:tracePt t="91636" x="3990975" y="4125913"/>
          <p14:tracePt t="91653" x="3913188" y="4283075"/>
          <p14:tracePt t="91669" x="3856038" y="4394200"/>
          <p14:tracePt t="91687" x="3833813" y="4438650"/>
          <p14:tracePt t="91688" x="3811588" y="4460875"/>
          <p14:tracePt t="91704" x="3811588" y="4483100"/>
          <p14:tracePt t="91719" x="3789363" y="4494213"/>
          <p14:tracePt t="91736" x="3778250" y="4506913"/>
          <p14:tracePt t="91753" x="3767138" y="4518025"/>
          <p14:tracePt t="91772" x="3733800" y="4518025"/>
          <p14:tracePt t="91786" x="3689350" y="4518025"/>
          <p14:tracePt t="91803" x="3644900" y="4518025"/>
          <p14:tracePt t="91821" x="3587750" y="4518025"/>
          <p14:tracePt t="91824" x="3565525" y="4494213"/>
          <p14:tracePt t="91836" x="3498850" y="4460875"/>
          <p14:tracePt t="91853" x="3465513" y="4383088"/>
          <p14:tracePt t="91870" x="3409950" y="4192588"/>
          <p14:tracePt t="91886" x="3398838" y="4081463"/>
          <p14:tracePt t="91902" x="3398838" y="3946525"/>
          <p14:tracePt t="91919" x="3398838" y="3746500"/>
          <p14:tracePt t="91936" x="3398838" y="3622675"/>
          <p14:tracePt t="91952" x="3432175" y="3465513"/>
          <p14:tracePt t="91969" x="3465513" y="3343275"/>
          <p14:tracePt t="91986" x="3532188" y="3175000"/>
          <p14:tracePt t="92003" x="3576638" y="3097213"/>
          <p14:tracePt t="92020" x="3609975" y="2997200"/>
          <p14:tracePt t="92037" x="3667125" y="2862263"/>
          <p14:tracePt t="92052" x="3722688" y="2762250"/>
          <p14:tracePt t="92069" x="3856038" y="2549525"/>
          <p14:tracePt t="92086" x="3957638" y="2392363"/>
          <p14:tracePt t="92103" x="4046538" y="2247900"/>
          <p14:tracePt t="92119" x="4146550" y="2135188"/>
          <p14:tracePt t="92137" x="4225925" y="2068513"/>
          <p14:tracePt t="92152" x="4337050" y="2001838"/>
          <p14:tracePt t="92170" x="4425950" y="1957388"/>
          <p14:tracePt t="92186" x="4549775" y="1889125"/>
          <p14:tracePt t="92203" x="4660900" y="1844675"/>
          <p14:tracePt t="92221" x="4784725" y="1789113"/>
          <p14:tracePt t="92236" x="4873625" y="1778000"/>
          <p14:tracePt t="92253" x="4940300" y="1755775"/>
          <p14:tracePt t="92269" x="5019675" y="1744663"/>
          <p14:tracePt t="92287" x="5075238" y="1744663"/>
          <p14:tracePt t="92302" x="5141913" y="1744663"/>
          <p14:tracePt t="92319" x="5287963" y="1778000"/>
          <p14:tracePt t="92336" x="5387975" y="1822450"/>
          <p14:tracePt t="92352" x="5556250" y="1878013"/>
          <p14:tracePt t="92370" x="5645150" y="1900238"/>
          <p14:tracePt t="92372" x="5678488" y="1911350"/>
          <p14:tracePt t="92385" x="5734050" y="1922463"/>
          <p14:tracePt t="92402" x="5802313" y="1935163"/>
          <p14:tracePt t="92419" x="5857875" y="1946275"/>
          <p14:tracePt t="92436" x="5935663" y="1990725"/>
          <p14:tracePt t="92454" x="5969000" y="1990725"/>
          <p14:tracePt t="92469" x="6013450" y="1990725"/>
          <p14:tracePt t="92486" x="6024563" y="1990725"/>
          <p14:tracePt t="92503" x="6035675" y="1990725"/>
          <p14:tracePt t="92519" x="6046788" y="1990725"/>
          <p14:tracePt t="92536" x="6059488" y="1990725"/>
          <p14:tracePt t="92553" x="6070600" y="1990725"/>
          <p14:tracePt t="92683" x="6059488" y="1990725"/>
          <p14:tracePt t="92705" x="6046788" y="1990725"/>
          <p14:tracePt t="92719" x="6035675" y="1990725"/>
          <p14:tracePt t="92736" x="6024563" y="1990725"/>
          <p14:tracePt t="92753" x="6002338" y="1990725"/>
          <p14:tracePt t="92769" x="5980113" y="1990725"/>
          <p14:tracePt t="92787" x="5969000" y="1990725"/>
          <p14:tracePt t="92803" x="5946775" y="1990725"/>
          <p14:tracePt t="92820" x="5913438" y="1990725"/>
          <p14:tracePt t="92835" x="5891213" y="1990725"/>
          <p14:tracePt t="92852" x="5868988" y="1990725"/>
          <p14:tracePt t="92869" x="5791200" y="1979613"/>
          <p14:tracePt t="92886" x="5745163" y="1968500"/>
          <p14:tracePt t="92903" x="5667375" y="1946275"/>
          <p14:tracePt t="92919" x="5545138" y="1911350"/>
          <p14:tracePt t="92936" x="5443538" y="1900238"/>
          <p14:tracePt t="92952" x="5287963" y="1844675"/>
          <p14:tracePt t="92969" x="5175250" y="1811338"/>
          <p14:tracePt t="92985" x="5075238" y="1766888"/>
          <p14:tracePt t="93002" x="4929188" y="1711325"/>
          <p14:tracePt t="93019" x="4840288" y="1677988"/>
          <p14:tracePt t="93036" x="4740275" y="1643063"/>
          <p14:tracePt t="93052" x="4683125" y="1609725"/>
          <p14:tracePt t="93069" x="4605338" y="1598613"/>
          <p14:tracePt t="93086" x="4538663" y="1576388"/>
          <p14:tracePt t="93103" x="4505325" y="1576388"/>
          <p14:tracePt t="93119" x="4471988" y="1565275"/>
          <p14:tracePt t="93136" x="4449763" y="1565275"/>
          <p14:tracePt t="93152" x="4438650" y="1565275"/>
          <p14:tracePt t="93169" x="4425950" y="1565275"/>
          <p14:tracePt t="93187" x="4425950" y="1576388"/>
          <p14:tracePt t="93202" x="4425950" y="1587500"/>
          <p14:tracePt t="93221" x="4425950" y="1598613"/>
          <p14:tracePt t="93235" x="4425950" y="1609725"/>
          <p14:tracePt t="93252" x="4425950" y="1620838"/>
          <p14:tracePt t="93269" x="4414838" y="1654175"/>
          <p14:tracePt t="93286" x="4403725" y="1733550"/>
          <p14:tracePt t="93303" x="4392613" y="1800225"/>
          <p14:tracePt t="93319" x="4381500" y="1878013"/>
          <p14:tracePt t="93336" x="4381500" y="1946275"/>
          <p14:tracePt t="93352" x="4381500" y="2046288"/>
          <p14:tracePt t="93369" x="4403725" y="2112963"/>
          <p14:tracePt t="93386" x="4414838" y="2203450"/>
          <p14:tracePt t="93402" x="4449763" y="2347913"/>
          <p14:tracePt t="93419" x="4471988" y="2505075"/>
          <p14:tracePt t="93436" x="4471988" y="2817813"/>
          <p14:tracePt t="93453" x="4471988" y="3030538"/>
          <p14:tracePt t="93469" x="4471988" y="3141663"/>
          <p14:tracePt t="93486" x="4471988" y="3265488"/>
          <p14:tracePt t="93503" x="4471988" y="3309938"/>
          <p14:tracePt t="93519" x="4471988" y="3365500"/>
          <p14:tracePt t="93536" x="4471988" y="3398838"/>
          <p14:tracePt t="93553" x="4460875" y="3443288"/>
          <p14:tracePt t="93569" x="4449763" y="3533775"/>
          <p14:tracePt t="93586" x="4438650" y="3556000"/>
          <p14:tracePt t="93602" x="4425950" y="3611563"/>
          <p14:tracePt t="93620" x="4414838" y="3633788"/>
          <p14:tracePt t="93635" x="4403725" y="3667125"/>
          <p14:tracePt t="93653" x="4403725" y="3678238"/>
          <p14:tracePt t="93669" x="4403725" y="3689350"/>
          <p14:tracePt t="93686" x="4403725" y="3700463"/>
          <p14:tracePt t="93821" x="4403725" y="3689350"/>
          <p14:tracePt t="93953" x="4403725" y="3678238"/>
          <p14:tracePt t="94098" x="4403725" y="3667125"/>
          <p14:tracePt t="94251" x="4392613" y="3667125"/>
          <p14:tracePt t="94269" x="4381500" y="3667125"/>
          <p14:tracePt t="94285" x="4370388" y="3667125"/>
          <p14:tracePt t="94302" x="4359275" y="3667125"/>
          <p14:tracePt t="94319" x="4348163" y="3667125"/>
          <p14:tracePt t="94335" x="4337050" y="3667125"/>
          <p14:tracePt t="94352" x="4314825" y="3667125"/>
          <p14:tracePt t="94369" x="4248150" y="3667125"/>
          <p14:tracePt t="94386" x="4192588" y="3667125"/>
          <p14:tracePt t="94402" x="4124325" y="3667125"/>
          <p14:tracePt t="94419" x="4079875" y="3667125"/>
          <p14:tracePt t="94436" x="4057650" y="3667125"/>
          <p14:tracePt t="94452" x="4002088" y="3667125"/>
          <p14:tracePt t="94469" x="3979863" y="3667125"/>
          <p14:tracePt t="94485" x="3968750" y="3667125"/>
          <p14:tracePt t="94503" x="3957638" y="3667125"/>
          <p14:tracePt t="94519" x="3946525" y="3667125"/>
          <p14:tracePt t="94658" x="3957638" y="3667125"/>
          <p14:tracePt t="94673" x="3968750" y="3667125"/>
          <p14:tracePt t="94698" x="3968750" y="3656013"/>
          <p14:tracePt t="100670" x="4024313" y="3578225"/>
          <p14:tracePt t="100677" x="4135438" y="3478213"/>
          <p14:tracePt t="100685" x="4237038" y="3376613"/>
          <p14:tracePt t="100703" x="4438650" y="3197225"/>
          <p14:tracePt t="100704" x="4527550" y="3141663"/>
          <p14:tracePt t="100718" x="4683125" y="3030538"/>
          <p14:tracePt t="100735" x="4806950" y="2917825"/>
          <p14:tracePt t="100752" x="4940300" y="2828925"/>
          <p14:tracePt t="100769" x="5108575" y="2728913"/>
          <p14:tracePt t="100786" x="5241925" y="2660650"/>
          <p14:tracePt t="100802" x="5432425" y="2538413"/>
          <p14:tracePt t="100819" x="5545138" y="2471738"/>
          <p14:tracePt t="100836" x="5656263" y="2392363"/>
          <p14:tracePt t="100852" x="5813425" y="2303463"/>
          <p14:tracePt t="100869" x="5946775" y="2214563"/>
          <p14:tracePt t="100885" x="6159500" y="2068513"/>
          <p14:tracePt t="100903" x="6303963" y="1968500"/>
          <p14:tracePt t="100919" x="6438900" y="1855788"/>
          <p14:tracePt t="100935" x="6572250" y="1778000"/>
          <p14:tracePt t="100952" x="6640513" y="1733550"/>
          <p14:tracePt t="100953" x="6684963" y="1700213"/>
          <p14:tracePt t="100968" x="6751638" y="1677988"/>
          <p14:tracePt t="100986" x="6829425" y="1643063"/>
          <p14:tracePt t="101003" x="6964363" y="1598613"/>
          <p14:tracePt t="101019" x="7053263" y="1576388"/>
          <p14:tracePt t="101036" x="7177088" y="1565275"/>
          <p14:tracePt t="101052" x="7332663" y="1554163"/>
          <p14:tracePt t="101069" x="7434263" y="1554163"/>
          <p14:tracePt t="101085" x="7556500" y="1554163"/>
          <p14:tracePt t="101102" x="7656513" y="1565275"/>
          <p14:tracePt t="101119" x="7724775" y="1576388"/>
          <p14:tracePt t="101121" x="7780338" y="1587500"/>
          <p14:tracePt t="101135" x="7835900" y="1631950"/>
          <p14:tracePt t="101153" x="7891463" y="1654175"/>
          <p14:tracePt t="101169" x="7937500" y="1665288"/>
          <p14:tracePt t="101186" x="7970838" y="1689100"/>
          <p14:tracePt t="101202" x="7981950" y="1711325"/>
          <p14:tracePt t="101218" x="8004175" y="1744663"/>
          <p14:tracePt t="101236" x="8026400" y="1766888"/>
          <p14:tracePt t="101252" x="8048625" y="1811338"/>
          <p14:tracePt t="101269" x="8059738" y="1833563"/>
          <p14:tracePt t="101285" x="8059738" y="1878013"/>
          <p14:tracePt t="101303" x="8059738" y="1889125"/>
          <p14:tracePt t="101305" x="8059738" y="1900238"/>
          <p14:tracePt t="101319" x="8059738" y="1911350"/>
          <p14:tracePt t="101335" x="8059738" y="1922463"/>
          <p14:tracePt t="101353" x="8059738" y="1935163"/>
          <p14:tracePt t="101369" x="8048625" y="1946275"/>
          <p14:tracePt t="101385" x="8026400" y="1957388"/>
          <p14:tracePt t="101403" x="7993063" y="1957388"/>
          <p14:tracePt t="101418" x="7937500" y="1957388"/>
          <p14:tracePt t="101435" x="7824788" y="1957388"/>
          <p14:tracePt t="101452" x="7600950" y="1957388"/>
          <p14:tracePt t="101469" x="7332663" y="1935163"/>
          <p14:tracePt t="101486" x="6875463" y="1900238"/>
          <p14:tracePt t="101502" x="6607175" y="1900238"/>
          <p14:tracePt t="101519" x="6361113" y="1900238"/>
          <p14:tracePt t="101535" x="6103938" y="1946275"/>
          <p14:tracePt t="101552" x="5991225" y="1979613"/>
          <p14:tracePt t="101568" x="5835650" y="2035175"/>
          <p14:tracePt t="101585" x="5745163" y="2068513"/>
          <p14:tracePt t="101602" x="5634038" y="2135188"/>
          <p14:tracePt t="101618" x="5578475" y="2179638"/>
          <p14:tracePt t="101635" x="5510213" y="2225675"/>
          <p14:tracePt t="101652" x="5465763" y="2292350"/>
          <p14:tracePt t="101669" x="5443538" y="2303463"/>
          <p14:tracePt t="101685" x="5421313" y="2347913"/>
          <p14:tracePt t="101702" x="5421313" y="2370138"/>
          <p14:tracePt t="101719" x="5421313" y="2381250"/>
          <p14:tracePt t="101735" x="5421313" y="2414588"/>
          <p14:tracePt t="101752" x="5432425" y="2436813"/>
          <p14:tracePt t="101769" x="5487988" y="2449513"/>
          <p14:tracePt t="101785" x="5556250" y="2482850"/>
          <p14:tracePt t="101802" x="5645150" y="2505075"/>
          <p14:tracePt t="101819" x="5868988" y="2571750"/>
          <p14:tracePt t="101836" x="6013450" y="2605088"/>
          <p14:tracePt t="101852" x="6181725" y="2627313"/>
          <p14:tracePt t="101869" x="6281738" y="2627313"/>
          <p14:tracePt t="101873" x="6338888" y="2627313"/>
          <p14:tracePt t="101885" x="6472238" y="2627313"/>
          <p14:tracePt t="101902" x="6596063" y="2627313"/>
          <p14:tracePt t="101919" x="6707188" y="2627313"/>
          <p14:tracePt t="101920" x="6773863" y="2627313"/>
          <p14:tracePt t="101935" x="6864350" y="2627313"/>
          <p14:tracePt t="101952" x="6931025" y="2627313"/>
          <p14:tracePt t="101985" x="7108825" y="2627313"/>
          <p14:tracePt t="102002" x="7165975" y="2627313"/>
          <p14:tracePt t="102019" x="7232650" y="2627313"/>
          <p14:tracePt t="102035" x="7277100" y="2627313"/>
          <p14:tracePt t="102052" x="7321550" y="2627313"/>
          <p14:tracePt t="102072" x="7332663" y="2627313"/>
          <p14:tracePt t="102085" x="7354888" y="2627313"/>
          <p14:tracePt t="102102" x="7388225" y="2627313"/>
          <p14:tracePt t="102119" x="7412038" y="2627313"/>
          <p14:tracePt t="102135" x="7456488" y="2627313"/>
          <p14:tracePt t="102152" x="7467600" y="2627313"/>
          <p14:tracePt t="102169" x="7489825" y="2627313"/>
          <p14:tracePt t="102185" x="7500938" y="2627313"/>
          <p14:tracePt t="102203" x="7523163" y="2627313"/>
          <p14:tracePt t="102218" x="7556500" y="2627313"/>
          <p14:tracePt t="102236" x="7578725" y="2627313"/>
          <p14:tracePt t="102252" x="7623175" y="2627313"/>
          <p14:tracePt t="102268" x="7645400" y="2627313"/>
          <p14:tracePt t="102286" x="7680325" y="2627313"/>
          <p14:tracePt t="103438" x="7545388" y="2627313"/>
          <p14:tracePt t="103445" x="7343775" y="2616200"/>
          <p14:tracePt t="103453" x="7097713" y="2593975"/>
          <p14:tracePt t="103468" x="6707188" y="2582863"/>
          <p14:tracePt t="103485" x="6327775" y="2582863"/>
          <p14:tracePt t="103502" x="5600700" y="2582863"/>
          <p14:tracePt t="103519" x="5019675" y="2627313"/>
          <p14:tracePt t="103535" x="4225925" y="2706688"/>
          <p14:tracePt t="103552" x="3789363" y="2762250"/>
          <p14:tracePt t="103569" x="3454400" y="2828925"/>
          <p14:tracePt t="103585" x="3119438" y="2951163"/>
          <p14:tracePt t="103602" x="2973388" y="2997200"/>
          <p14:tracePt t="103619" x="2828925" y="3052763"/>
          <p14:tracePt t="103635" x="2749550" y="3086100"/>
          <p14:tracePt t="103652" x="2693988" y="3108325"/>
          <p14:tracePt t="103669" x="2627313" y="3152775"/>
          <p14:tracePt t="103685" x="2593975" y="3186113"/>
          <p14:tracePt t="103701" x="2536825" y="3243263"/>
          <p14:tracePt t="103719" x="2514600" y="3276600"/>
          <p14:tracePt t="103735" x="2459038" y="3365500"/>
          <p14:tracePt t="103752" x="2436813" y="3421063"/>
          <p14:tracePt t="103768" x="2414588" y="3478213"/>
          <p14:tracePt t="103785" x="2403475" y="3544888"/>
          <p14:tracePt t="103802" x="2403475" y="3589338"/>
          <p14:tracePt t="103819" x="2403475" y="3667125"/>
          <p14:tracePt t="103835" x="2414588" y="3711575"/>
          <p14:tracePt t="103852" x="2436813" y="3757613"/>
          <p14:tracePt t="103869" x="2481263" y="3813175"/>
          <p14:tracePt t="103887" x="2525713" y="3835400"/>
          <p14:tracePt t="103889" x="2560638" y="3846513"/>
          <p14:tracePt t="103902" x="2605088" y="3890963"/>
          <p14:tracePt t="103919" x="2649538" y="3913188"/>
          <p14:tracePt t="103936" x="2705100" y="3935413"/>
          <p14:tracePt t="103951" x="2727325" y="3946525"/>
          <p14:tracePt t="103968" x="2771775" y="3957638"/>
          <p14:tracePt t="103985" x="2873375" y="3968750"/>
          <p14:tracePt t="104003" x="2951163" y="3968750"/>
          <p14:tracePt t="104004" x="2995613" y="3968750"/>
          <p14:tracePt t="104018" x="3073400" y="3968750"/>
          <p14:tracePt t="104036" x="3119438" y="3968750"/>
          <p14:tracePt t="117894" x="3208338" y="3924300"/>
          <p14:tracePt t="117900" x="3352800" y="3868738"/>
          <p14:tracePt t="117917" x="3587750" y="3779838"/>
          <p14:tracePt t="117935" x="3856038" y="3667125"/>
          <p14:tracePt t="117951" x="3990975" y="3611563"/>
          <p14:tracePt t="117968" x="4102100" y="3578225"/>
          <p14:tracePt t="117984" x="4225925" y="3533775"/>
          <p14:tracePt t="118001" x="4303713" y="3511550"/>
          <p14:tracePt t="118018" x="4392613" y="3478213"/>
          <p14:tracePt t="118034" x="4438650" y="3465513"/>
          <p14:tracePt t="118052" x="4494213" y="3454400"/>
          <p14:tracePt t="118067" x="4560888" y="3443288"/>
          <p14:tracePt t="118085" x="4605338" y="3443288"/>
          <p14:tracePt t="118101" x="4672013" y="3443288"/>
          <p14:tracePt t="118117" x="4740275" y="3443288"/>
          <p14:tracePt t="118134" x="4818063" y="3443288"/>
          <p14:tracePt t="118151" x="4986338" y="3465513"/>
          <p14:tracePt t="118168" x="5119688" y="3511550"/>
          <p14:tracePt t="118184" x="5321300" y="3578225"/>
          <p14:tracePt t="118201" x="5410200" y="3622675"/>
          <p14:tracePt t="118218" x="5578475" y="3700463"/>
          <p14:tracePt t="118234" x="5689600" y="3757613"/>
          <p14:tracePt t="118253" x="5902325" y="3868738"/>
          <p14:tracePt t="118267" x="6035675" y="3935413"/>
          <p14:tracePt t="118285" x="6159500" y="4003675"/>
          <p14:tracePt t="118301" x="6372225" y="4103688"/>
          <p14:tracePt t="118318" x="6527800" y="4159250"/>
          <p14:tracePt t="118334" x="6673850" y="4225925"/>
          <p14:tracePt t="118351" x="6829425" y="4260850"/>
          <p14:tracePt t="118368" x="6886575" y="4283075"/>
          <p14:tracePt t="118384" x="6975475" y="4305300"/>
          <p14:tracePt t="118402" x="6997700" y="4305300"/>
          <p14:tracePt t="118418" x="7053263" y="4316413"/>
          <p14:tracePt t="119170" x="6886575" y="4283075"/>
          <p14:tracePt t="119177" x="6596063" y="4225925"/>
          <p14:tracePt t="119184" x="6248400" y="4170363"/>
          <p14:tracePt t="119201" x="5678488" y="4070350"/>
          <p14:tracePt t="119218" x="5254625" y="4014788"/>
          <p14:tracePt t="119234" x="4806950" y="3957638"/>
          <p14:tracePt t="119251" x="4505325" y="3924300"/>
          <p14:tracePt t="119267" x="4146550" y="3913188"/>
          <p14:tracePt t="119284" x="3979863" y="3890963"/>
          <p14:tracePt t="119301" x="3856038" y="3879850"/>
          <p14:tracePt t="119318" x="3767138" y="3868738"/>
          <p14:tracePt t="119335" x="3733800" y="3857625"/>
          <p14:tracePt t="119351" x="3700463" y="3857625"/>
          <p14:tracePt t="119368" x="3678238" y="3857625"/>
          <p14:tracePt t="135575" x="3656013" y="3824288"/>
          <p14:tracePt t="135583" x="3609975" y="3768725"/>
          <p14:tracePt t="135601" x="3543300" y="3656013"/>
          <p14:tracePt t="135603" x="3498850" y="3600450"/>
          <p14:tracePt t="135618" x="3454400" y="3556000"/>
          <p14:tracePt t="135634" x="3263900" y="3343275"/>
          <p14:tracePt t="135650" x="3108325" y="3186113"/>
          <p14:tracePt t="135667" x="2840038" y="2997200"/>
          <p14:tracePt t="135684" x="2705100" y="2906713"/>
          <p14:tracePt t="135701" x="2616200" y="2840038"/>
          <p14:tracePt t="135717" x="2514600" y="2773363"/>
          <p14:tracePt t="135734" x="2470150" y="2740025"/>
          <p14:tracePt t="135750" x="2425700" y="2706688"/>
          <p14:tracePt t="135767" x="2403475" y="2693988"/>
          <p14:tracePt t="135783" x="2403475" y="2682875"/>
          <p14:tracePt t="135800" x="2392363" y="2671763"/>
          <p14:tracePt t="135817" x="2392363" y="2660650"/>
          <p14:tracePt t="135852" x="2403475" y="2660650"/>
          <p14:tracePt t="135867" x="2425700" y="2660650"/>
          <p14:tracePt t="135884" x="2447925" y="2660650"/>
          <p14:tracePt t="135901" x="2481263" y="2660650"/>
          <p14:tracePt t="135918" x="2593975" y="2660650"/>
          <p14:tracePt t="135935" x="2749550" y="2671763"/>
          <p14:tracePt t="135950" x="2840038" y="2693988"/>
          <p14:tracePt t="135967" x="2917825" y="2706688"/>
          <p14:tracePt t="135983" x="3017838" y="2717800"/>
          <p14:tracePt t="136001" x="3062288" y="2717800"/>
          <p14:tracePt t="136018" x="3084513" y="2717800"/>
          <p14:tracePt t="136020" x="3097213" y="2728913"/>
          <p14:tracePt t="136034" x="3108325" y="2740025"/>
          <p14:tracePt t="136051" x="3130550" y="2740025"/>
          <p14:tracePt t="144052" x="3263900" y="2717800"/>
          <p14:tracePt t="144066" x="3656013" y="2605088"/>
          <p14:tracePt t="144083" x="4002088" y="2516188"/>
          <p14:tracePt t="144100" x="4259263" y="2436813"/>
          <p14:tracePt t="144116" x="4560888" y="2392363"/>
          <p14:tracePt t="144133" x="4705350" y="2370138"/>
          <p14:tracePt t="144150" x="4884738" y="2336800"/>
          <p14:tracePt t="144166" x="4940300" y="2336800"/>
          <p14:tracePt t="144183" x="4973638" y="2325688"/>
          <p14:tracePt t="144200" x="4997450" y="2325688"/>
          <p14:tracePt t="144225" x="4986338" y="2325688"/>
          <p14:tracePt t="144233" x="4973638" y="2325688"/>
          <p14:tracePt t="144250" x="4906963" y="2347913"/>
          <p14:tracePt t="144266" x="4549775" y="2505075"/>
          <p14:tracePt t="144283" x="3924300" y="2828925"/>
          <p14:tracePt t="144300" x="3252788" y="3232150"/>
          <p14:tracePt t="144317" x="2605088" y="3768725"/>
          <p14:tracePt t="144333" x="2370138" y="4014788"/>
          <p14:tracePt t="144350" x="2235200" y="4237038"/>
          <p14:tracePt t="144367" x="2224088" y="4305300"/>
          <p14:tracePt t="144384" x="2257425" y="4405313"/>
          <p14:tracePt t="144386" x="2303463" y="4438650"/>
          <p14:tracePt t="144400" x="2571750" y="4595813"/>
          <p14:tracePt t="144418" x="3330575" y="4764088"/>
          <p14:tracePt t="144420" x="3722688" y="4808538"/>
          <p14:tracePt t="144433" x="4248150" y="4852988"/>
          <p14:tracePt t="144449" x="4560888" y="4852988"/>
          <p14:tracePt t="144466" x="4729163" y="4830763"/>
          <p14:tracePt t="144483" x="4862513" y="4797425"/>
          <p14:tracePt t="144500" x="4951413" y="4786313"/>
          <p14:tracePt t="144516" x="5019675" y="4751388"/>
          <p14:tracePt t="150156" x="5008563" y="4640263"/>
          <p14:tracePt t="150163" x="4997450" y="4529138"/>
          <p14:tracePt t="150169" x="4962525" y="4405313"/>
          <p14:tracePt t="150183" x="4929188" y="4338638"/>
          <p14:tracePt t="150199" x="4829175" y="4048125"/>
          <p14:tracePt t="150216" x="4751388" y="3846513"/>
          <p14:tracePt t="150233" x="4638675" y="3578225"/>
          <p14:tracePt t="150249" x="4572000" y="3409950"/>
          <p14:tracePt t="150267" x="4527550" y="3254375"/>
          <p14:tracePt t="150282" x="4460875" y="3030538"/>
          <p14:tracePt t="150299" x="4392613" y="2884488"/>
          <p14:tracePt t="150316" x="4337050" y="2682875"/>
          <p14:tracePt t="150333" x="4325938" y="2538413"/>
          <p14:tracePt t="150334" x="4314825" y="2482850"/>
          <p14:tracePt t="150349" x="4314825" y="2347913"/>
          <p14:tracePt t="150366" x="4314825" y="2247900"/>
          <p14:tracePt t="150383" x="4325938" y="2168525"/>
          <p14:tracePt t="150400" x="4370388" y="2057400"/>
          <p14:tracePt t="150417" x="4414838" y="2012950"/>
          <p14:tracePt t="150433" x="4471988" y="1935163"/>
          <p14:tracePt t="150450" x="4505325" y="1866900"/>
          <p14:tracePt t="150466" x="4538663" y="1822450"/>
          <p14:tracePt t="150483" x="4572000" y="1755775"/>
          <p14:tracePt t="150500" x="4583113" y="1722438"/>
          <p14:tracePt t="150516" x="4605338" y="1700213"/>
          <p14:tracePt t="150534" x="4616450" y="1700213"/>
          <p14:tracePt t="150566" x="4616450" y="1711325"/>
          <p14:tracePt t="150583" x="4616450" y="1744663"/>
          <p14:tracePt t="150585" x="4594225" y="1766888"/>
          <p14:tracePt t="150599" x="4527550" y="1822450"/>
          <p14:tracePt t="150616" x="4370388" y="1957388"/>
          <p14:tracePt t="150633" x="3979863" y="2259013"/>
          <p14:tracePt t="150649" x="3711575" y="2460625"/>
          <p14:tracePt t="150668" x="3465513" y="2638425"/>
          <p14:tracePt t="150669" x="3365500" y="2717800"/>
          <p14:tracePt t="150683" x="3175000" y="2873375"/>
          <p14:tracePt t="150700" x="3040063" y="2997200"/>
          <p14:tracePt t="150716" x="2884488" y="3175000"/>
          <p14:tracePt t="150733" x="2828925" y="3254375"/>
          <p14:tracePt t="150749" x="2760663" y="3343275"/>
          <p14:tracePt t="150766" x="2738438" y="3409950"/>
          <p14:tracePt t="150784" x="2716213" y="3443288"/>
          <p14:tracePt t="150799" x="2705100" y="3489325"/>
          <p14:tracePt t="150816" x="2705100" y="3522663"/>
          <p14:tracePt t="150833" x="2705100" y="3578225"/>
          <p14:tracePt t="155388" x="2536825" y="3589338"/>
          <p14:tracePt t="155395" x="2314575" y="3600450"/>
          <p14:tracePt t="155402" x="2057400" y="3644900"/>
          <p14:tracePt t="155415" x="1855788" y="3678238"/>
          <p14:tracePt t="155432" x="1397000" y="3824288"/>
          <p14:tracePt t="155449" x="1195388" y="3935413"/>
          <p14:tracePt t="155466" x="1028700" y="4037013"/>
          <p14:tracePt t="155483" x="973138" y="4070350"/>
          <p14:tracePt t="155499" x="950913" y="4114800"/>
          <p14:tracePt t="155516" x="938213" y="4170363"/>
          <p14:tracePt t="155533" x="915988" y="4271963"/>
          <p14:tracePt t="155534" x="915988" y="4338638"/>
          <p14:tracePt t="155549" x="904875" y="4551363"/>
          <p14:tracePt t="155566" x="904875" y="4751388"/>
          <p14:tracePt t="155583" x="904875" y="5008563"/>
          <p14:tracePt t="157245" x="234950" y="4494213"/>
          <p14:tracePt t="157251" x="346075" y="4460875"/>
          <p14:tracePt t="157266" x="492125" y="4438650"/>
          <p14:tracePt t="157282" x="915988" y="4371975"/>
          <p14:tracePt t="157299" x="1285875" y="4338638"/>
          <p14:tracePt t="157316" x="1778000" y="4249738"/>
          <p14:tracePt t="157333" x="2101850" y="4192588"/>
          <p14:tracePt t="157349" x="2560638" y="4103688"/>
          <p14:tracePt t="157366" x="2816225" y="4003675"/>
          <p14:tracePt t="157383" x="3062288" y="3879850"/>
          <p14:tracePt t="157399" x="3365500" y="3667125"/>
          <p14:tracePt t="157415" x="3554413" y="3489325"/>
          <p14:tracePt t="157432" x="3856038" y="3097213"/>
          <p14:tracePt t="157449" x="4225925" y="2381250"/>
          <p14:tracePt t="157466" x="4751388" y="1285875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◆ DIAMANTE 1 · DESCUBRIR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392B"/>
                </a:solidFill>
              </a:rPr>
              <a:t>DESCUBRIR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</a:rPr>
              <a:t>El contexto: certificación PCI DSS obligatoria al 100%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92608" y="1389888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0876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14630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5.000 colaboradores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" y="17739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Toda la organización debe certificarse en PCI DSS. Sin excepción.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82112" y="1389888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3182112" y="1389888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0876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77056" y="14630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3 Proveedores de e-learning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877056" y="17739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Coexisten simultáneamente. Asignación por cupos de área, no por efectividad.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71616" y="1389888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6071616" y="1389888"/>
            <a:ext cx="54864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50876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0" y="146304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Obligación normativa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766560" y="17739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Incumplir implica multas (10.000 UF) e impacto reputacional estimado de 20.000 UF.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92608" y="2724912"/>
            <a:ext cx="855878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411480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0392B"/>
                </a:solidFill>
              </a:rPr>
              <a:t>ACTORES Y FLUJO ACTUAL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02920" y="309067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2"/>
          <p:cNvSpPr/>
          <p:nvPr/>
        </p:nvSpPr>
        <p:spPr>
          <a:xfrm>
            <a:off x="50292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Área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Capacitación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0292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Asigna por cupos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1920240" y="3401568"/>
            <a:ext cx="237744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5"/>
          <p:cNvSpPr/>
          <p:nvPr/>
        </p:nvSpPr>
        <p:spPr>
          <a:xfrm>
            <a:off x="2331720" y="309067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6"/>
          <p:cNvSpPr/>
          <p:nvPr/>
        </p:nvSpPr>
        <p:spPr>
          <a:xfrm>
            <a:off x="233172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Área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Funcional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233172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Recibe cupos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3749040" y="3401568"/>
            <a:ext cx="237744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29"/>
          <p:cNvSpPr/>
          <p:nvPr/>
        </p:nvSpPr>
        <p:spPr>
          <a:xfrm>
            <a:off x="4160520" y="309067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0"/>
          <p:cNvSpPr/>
          <p:nvPr/>
        </p:nvSpPr>
        <p:spPr>
          <a:xfrm>
            <a:off x="416052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Colaborador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416052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Toma el curso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5577840" y="3401568"/>
            <a:ext cx="237744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3"/>
          <p:cNvSpPr/>
          <p:nvPr/>
        </p:nvSpPr>
        <p:spPr>
          <a:xfrm>
            <a:off x="5989320" y="309067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4"/>
          <p:cNvSpPr/>
          <p:nvPr/>
        </p:nvSpPr>
        <p:spPr>
          <a:xfrm>
            <a:off x="598932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Proveedor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A / B / C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98932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Imparte el curso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7406640" y="3401568"/>
            <a:ext cx="237744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37"/>
          <p:cNvSpPr/>
          <p:nvPr/>
        </p:nvSpPr>
        <p:spPr>
          <a:xfrm>
            <a:off x="7635240" y="309067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38"/>
          <p:cNvSpPr/>
          <p:nvPr/>
        </p:nvSpPr>
        <p:spPr>
          <a:xfrm>
            <a:off x="763524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Resultado: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% Cobertura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763524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Métrica actual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411480" y="38587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⚠  La métrica de salida (% cobertura) es la que cuestionaremos en el siguiente paso.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2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74C3C"/>
                </a:solidFill>
              </a:rPr>
              <a:t>2/ 9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355"/>
    </mc:Choice>
    <mc:Fallback>
      <p:transition spd="slow" advTm="136355"/>
    </mc:Fallback>
  </mc:AlternateContent>
  <p:extLst>
    <p:ext uri="{3A86A75C-4F4B-4683-9AE1-C65F6400EC91}">
      <p14:laserTraceLst xmlns:p14="http://schemas.microsoft.com/office/powerpoint/2010/main">
        <p14:tracePtLst>
          <p14:tracePt t="122209" x="8651875" y="1163638"/>
          <p14:tracePt t="122219" x="8328025" y="1174750"/>
          <p14:tracePt t="122238" x="7332663" y="1308100"/>
          <p14:tracePt t="122253" x="6784975" y="1363663"/>
          <p14:tracePt t="122269" x="6315075" y="1465263"/>
          <p14:tracePt t="122286" x="5767388" y="1665288"/>
          <p14:tracePt t="122303" x="5454650" y="1889125"/>
          <p14:tracePt t="122319" x="5164138" y="2068513"/>
          <p14:tracePt t="122336" x="4873625" y="2214563"/>
          <p14:tracePt t="122353" x="4718050" y="2281238"/>
          <p14:tracePt t="122370" x="4560888" y="2347913"/>
          <p14:tracePt t="122387" x="4449763" y="2381250"/>
          <p14:tracePt t="122402" x="4325938" y="2425700"/>
          <p14:tracePt t="122419" x="4270375" y="2493963"/>
          <p14:tracePt t="122436" x="4225925" y="2493963"/>
          <p14:tracePt t="122452" x="4181475" y="2493963"/>
          <p14:tracePt t="122469" x="4157663" y="2493963"/>
          <p14:tracePt t="122486" x="4135438" y="2493963"/>
          <p14:tracePt t="122519" x="4146550" y="2493963"/>
          <p14:tracePt t="122536" x="4157663" y="2493963"/>
          <p14:tracePt t="122940" x="4181475" y="2516188"/>
          <p14:tracePt t="122946" x="4237038" y="2560638"/>
          <p14:tracePt t="122953" x="4314825" y="2605088"/>
          <p14:tracePt t="122969" x="4494213" y="2693988"/>
          <p14:tracePt t="122986" x="4683125" y="2784475"/>
          <p14:tracePt t="123003" x="5064125" y="2884488"/>
          <p14:tracePt t="123020" x="5310188" y="2928938"/>
          <p14:tracePt t="123037" x="5522913" y="2963863"/>
          <p14:tracePt t="123053" x="5802313" y="2963863"/>
          <p14:tracePt t="123070" x="5935663" y="2963863"/>
          <p14:tracePt t="123086" x="6070600" y="2963863"/>
          <p14:tracePt t="123103" x="6148388" y="2963863"/>
          <p14:tracePt t="123123" x="6248400" y="2951163"/>
          <p14:tracePt t="123136" x="6292850" y="2940050"/>
          <p14:tracePt t="123153" x="6327775" y="2917825"/>
          <p14:tracePt t="123501" x="6383338" y="2917825"/>
          <p14:tracePt t="123506" x="6483350" y="2917825"/>
          <p14:tracePt t="123519" x="6550025" y="2917825"/>
          <p14:tracePt t="123536" x="6829425" y="2917825"/>
          <p14:tracePt t="123553" x="6986588" y="2917825"/>
          <p14:tracePt t="123569" x="7154863" y="2917825"/>
          <p14:tracePt t="123586" x="7254875" y="2917825"/>
          <p14:tracePt t="123602" x="7354888" y="2917825"/>
          <p14:tracePt t="123619" x="7400925" y="2917825"/>
          <p14:tracePt t="123637" x="7445375" y="2928938"/>
          <p14:tracePt t="123653" x="7489825" y="2940050"/>
          <p14:tracePt t="123671" x="7534275" y="2951163"/>
          <p14:tracePt t="123686" x="7545388" y="2951163"/>
          <p14:tracePt t="128225" x="7589838" y="2951163"/>
          <p14:tracePt t="128231" x="7656513" y="2963863"/>
          <p14:tracePt t="128238" x="7724775" y="2974975"/>
          <p14:tracePt t="128252" x="7858125" y="2997200"/>
          <p14:tracePt t="128270" x="7981950" y="3030538"/>
          <p14:tracePt t="128286" x="8115300" y="3041650"/>
          <p14:tracePt t="128302" x="8294688" y="3063875"/>
          <p14:tracePt t="128320" x="8405813" y="3086100"/>
          <p14:tracePt t="128322" x="8461375" y="3086100"/>
          <p14:tracePt t="128336" x="8596313" y="3097213"/>
          <p14:tracePt t="128353" x="8718550" y="3108325"/>
          <p14:tracePt t="128370" x="8864600" y="3119438"/>
          <p14:tracePt t="128386" x="8953500" y="3130550"/>
          <p14:tracePt t="128403" x="9043988" y="3152775"/>
          <p14:tracePt t="135198" x="7456488" y="4651375"/>
          <p14:tracePt t="135205" x="6607175" y="4819650"/>
          <p14:tracePt t="135218" x="5891213" y="4941888"/>
          <p14:tracePt t="135495" x="492125" y="49974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DIAMANTE 1 · DESCUBRIR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</a:rPr>
              <a:t>DESCUBRIR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Situación actual: tres problemas con la métrica de cobertura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85587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0" name="Shape 8"/>
          <p:cNvSpPr/>
          <p:nvPr/>
        </p:nvSpPr>
        <p:spPr>
          <a:xfrm>
            <a:off x="292608" y="138988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2" name="Text 10"/>
          <p:cNvSpPr/>
          <p:nvPr/>
        </p:nvSpPr>
        <p:spPr>
          <a:xfrm>
            <a:off x="45720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Cobertura 100% es obligatoria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7556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Si alguien reprueba debe repetir el curso. El 100% se alcanza igual, independiente del proveedor. La métrica no discrimina.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6642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6" name="Text 14"/>
          <p:cNvSpPr/>
          <p:nvPr/>
        </p:nvSpPr>
        <p:spPr>
          <a:xfrm>
            <a:off x="6949440" y="1664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No diferencia proveedores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2322576"/>
            <a:ext cx="85587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8" name="Shape 16"/>
          <p:cNvSpPr/>
          <p:nvPr/>
        </p:nvSpPr>
        <p:spPr>
          <a:xfrm>
            <a:off x="292608" y="2322576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4140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Vacaciones y ausencias se reagendan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6883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Quien no completa el ciclo activo se reprograma en el siguiente. El % puntual da una imagen distorsionada del avance real.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596896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4" name="Text 22"/>
          <p:cNvSpPr/>
          <p:nvPr/>
        </p:nvSpPr>
        <p:spPr>
          <a:xfrm>
            <a:off x="6949440" y="2596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Falsa imagen de avance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3255264"/>
            <a:ext cx="85587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26" name="Shape 24"/>
          <p:cNvSpPr/>
          <p:nvPr/>
        </p:nvSpPr>
        <p:spPr>
          <a:xfrm>
            <a:off x="292608" y="3255264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3346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Completar ≠ Aprender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6210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El % de cobertura no mide si el colaborador adquirió conocimiento real. Reducir el riesgo normativo requiere entendimiento, no solo asistencia.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529584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2" name="Text 30"/>
          <p:cNvSpPr/>
          <p:nvPr/>
        </p:nvSpPr>
        <p:spPr>
          <a:xfrm>
            <a:off x="6949440" y="3529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No mide lo que importa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" y="4224528"/>
            <a:ext cx="855878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4" name="Text 32"/>
          <p:cNvSpPr/>
          <p:nvPr/>
        </p:nvSpPr>
        <p:spPr>
          <a:xfrm>
            <a:off x="438912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Conclusión de la fase Descubrir: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2702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La cobertura en contexto de certificación obligatoria no diferencia proveedores. Necesitamos métricas que capturen ROI normativo y efectividad real de aprendizaje.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7" name="Text 3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3 / 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850"/>
    </mc:Choice>
    <mc:Fallback>
      <p:transition spd="slow" advTm="74850"/>
    </mc:Fallback>
  </mc:AlternateContent>
  <p:extLst>
    <p:ext uri="{3A86A75C-4F4B-4683-9AE1-C65F6400EC91}">
      <p14:laserTraceLst xmlns:p14="http://schemas.microsoft.com/office/powerpoint/2010/main">
        <p14:tracePtLst>
          <p14:tracePt t="786" x="100013" y="4294188"/>
          <p14:tracePt t="793" x="179388" y="4260850"/>
          <p14:tracePt t="809" x="334963" y="4181475"/>
          <p14:tracePt t="826" x="481013" y="4114800"/>
          <p14:tracePt t="842" x="760413" y="4003675"/>
          <p14:tracePt t="859" x="973138" y="3935413"/>
          <p14:tracePt t="876" x="1230313" y="3868738"/>
          <p14:tracePt t="893" x="1554163" y="3779838"/>
          <p14:tracePt t="910" x="1766888" y="3735388"/>
          <p14:tracePt t="926" x="2079625" y="3667125"/>
          <p14:tracePt t="942" x="2279650" y="3633788"/>
          <p14:tracePt t="959" x="2514600" y="3622675"/>
          <p14:tracePt t="976" x="2928938" y="3533775"/>
          <p14:tracePt t="993" x="3286125" y="3500438"/>
          <p14:tracePt t="1009" x="3968750" y="3421063"/>
          <p14:tracePt t="1026" x="4414838" y="3365500"/>
          <p14:tracePt t="1042" x="4973638" y="3287713"/>
          <p14:tracePt t="1059" x="5208588" y="3265488"/>
          <p14:tracePt t="1076" x="5376863" y="3208338"/>
          <p14:tracePt t="1092" x="5534025" y="3163888"/>
          <p14:tracePt t="1110" x="5689600" y="3063875"/>
          <p14:tracePt t="1126" x="5857875" y="2873375"/>
          <p14:tracePt t="1332" x="6383338" y="2773363"/>
          <p14:tracePt t="1339" x="7008813" y="2660650"/>
          <p14:tracePt t="1345" x="7589838" y="2538413"/>
          <p14:tracePt t="1359" x="8115300" y="2460625"/>
          <p14:tracePt t="59760" x="8786813" y="3309938"/>
          <p14:tracePt t="59772" x="8585200" y="3465513"/>
          <p14:tracePt t="59789" x="7847013" y="4305300"/>
          <p14:tracePt t="60001" x="7232650" y="4427538"/>
          <p14:tracePt t="60008" x="6372225" y="4618038"/>
          <p14:tracePt t="60022" x="4694238" y="50768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DIAMANTE 1 · DEFINIR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</a:rPr>
              <a:t>DEFINIR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Definición del problema y caso de negocio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4114800" cy="3193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0" name="Text 8"/>
          <p:cNvSpPr/>
          <p:nvPr/>
        </p:nvSpPr>
        <p:spPr>
          <a:xfrm>
            <a:off x="438912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</a:rPr>
              <a:t>PROBLEMA DEFINIDO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7373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"¿Qué proveedor genera mayor ROI normativo y retención de conocimiento en colaboradores comparables?"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2706624"/>
            <a:ext cx="365760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4378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28254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Dimensión 1 · ROI Normativo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6112" y="3063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Costo del proveedor vs. multas y riesgo PCI DSS evitado.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50215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96112" y="34838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Dimensión 2 · Conocimiento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96112" y="3721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Score post-test: ¿el colaborador realmente aprendió?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17720" y="1273158"/>
            <a:ext cx="4224528" cy="3310128"/>
          </a:xfrm>
          <a:prstGeom prst="rect">
            <a:avLst/>
          </a:prstGeom>
          <a:solidFill>
            <a:srgbClr val="1A1A1A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20" name="Text 16"/>
          <p:cNvSpPr/>
          <p:nvPr/>
        </p:nvSpPr>
        <p:spPr>
          <a:xfrm>
            <a:off x="4773168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</a:rPr>
              <a:t>CASO DE NEGOCIO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73168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Proveedor A · costo anual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479792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625 UF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73168" y="196012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Proveedor B · costo anual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479792" y="196012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605 UF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773168" y="211771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Proveedor C · costo anual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479792" y="211771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595 UF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73168" y="292445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Exposición total al riesgo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479792" y="292445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~30.000 UF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73168" y="319877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VPN costos · 3 años · 15%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73168" y="347309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  · Proveedor A (más caro)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479792" y="347309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1.427 UF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773168" y="374741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  · Proveedor C (más barato)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479792" y="374741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1.359 UF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773168" y="402173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Diferencia VPN A vs C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479792" y="402173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Solo 68 UF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773168" y="4407408"/>
            <a:ext cx="3931920" cy="228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7" name="Text 33"/>
          <p:cNvSpPr/>
          <p:nvPr/>
        </p:nvSpPr>
        <p:spPr>
          <a:xfrm>
            <a:off x="1579383" y="4653760"/>
            <a:ext cx="6997430" cy="170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74C3C"/>
                </a:solidFill>
              </a:rPr>
              <a:t>Hipótesis</a:t>
            </a:r>
            <a:r>
              <a:rPr lang="en-US" sz="1400" b="1" dirty="0">
                <a:solidFill>
                  <a:srgbClr val="E74C3C"/>
                </a:solidFill>
              </a:rPr>
              <a:t>: El precio no distingue proveedores. La decisión debe basarse </a:t>
            </a:r>
            <a:r>
              <a:rPr lang="en-US" sz="1400" b="1" dirty="0" err="1">
                <a:solidFill>
                  <a:srgbClr val="E74C3C"/>
                </a:solidFill>
              </a:rPr>
              <a:t>en</a:t>
            </a:r>
            <a:r>
              <a:rPr lang="en-US" sz="1400" b="1" dirty="0">
                <a:solidFill>
                  <a:srgbClr val="E74C3C"/>
                </a:solidFill>
              </a:rPr>
              <a:t> </a:t>
            </a:r>
            <a:r>
              <a:rPr lang="en-US" sz="1400" b="1" dirty="0" err="1">
                <a:solidFill>
                  <a:srgbClr val="E74C3C"/>
                </a:solidFill>
              </a:rPr>
              <a:t>efectividad</a:t>
            </a:r>
            <a:r>
              <a:rPr lang="en-US" sz="1400" b="1" dirty="0">
                <a:solidFill>
                  <a:srgbClr val="E74C3C"/>
                </a:solidFill>
              </a:rPr>
              <a:t>!!!</a:t>
            </a:r>
            <a:endParaRPr lang="en-US" sz="1400" b="1" dirty="0"/>
          </a:p>
        </p:txBody>
      </p:sp>
      <p:sp>
        <p:nvSpPr>
          <p:cNvPr id="38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9" name="Text 3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4 / 9</a:t>
            </a:r>
            <a:endParaRPr lang="en-US" sz="9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F15848FA-19D0-E0DD-415A-608BF448E133}"/>
              </a:ext>
            </a:extLst>
          </p:cNvPr>
          <p:cNvSpPr/>
          <p:nvPr/>
        </p:nvSpPr>
        <p:spPr>
          <a:xfrm>
            <a:off x="4745736" y="253626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BBBBB"/>
                </a:solidFill>
              </a:rPr>
              <a:t>Multa</a:t>
            </a:r>
            <a:r>
              <a:rPr lang="en-US" sz="1000" dirty="0">
                <a:solidFill>
                  <a:srgbClr val="BBBBBB"/>
                </a:solidFill>
              </a:rPr>
              <a:t> </a:t>
            </a:r>
            <a:r>
              <a:rPr lang="en-US" sz="1000" dirty="0" err="1">
                <a:solidFill>
                  <a:srgbClr val="BBBBBB"/>
                </a:solidFill>
              </a:rPr>
              <a:t>incumplimiento</a:t>
            </a:r>
            <a:r>
              <a:rPr lang="en-US" sz="1000" dirty="0">
                <a:solidFill>
                  <a:srgbClr val="BBBBBB"/>
                </a:solidFill>
              </a:rPr>
              <a:t> PCI </a:t>
            </a:r>
            <a:endParaRPr lang="en-US" sz="10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672BB1F5-CB52-B49D-7D3C-6F36016B3840}"/>
              </a:ext>
            </a:extLst>
          </p:cNvPr>
          <p:cNvSpPr/>
          <p:nvPr/>
        </p:nvSpPr>
        <p:spPr>
          <a:xfrm>
            <a:off x="7452360" y="253626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~10.000 UF</a:t>
            </a:r>
            <a:endParaRPr lang="en-US" sz="10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6F3F760E-4B27-6382-6D17-9384E23F90CA}"/>
              </a:ext>
            </a:extLst>
          </p:cNvPr>
          <p:cNvSpPr/>
          <p:nvPr/>
        </p:nvSpPr>
        <p:spPr>
          <a:xfrm>
            <a:off x="4745736" y="269385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</a:rPr>
              <a:t>Riesgo </a:t>
            </a:r>
            <a:r>
              <a:rPr lang="en-US" sz="1000" dirty="0" err="1">
                <a:solidFill>
                  <a:srgbClr val="BBBBBB"/>
                </a:solidFill>
              </a:rPr>
              <a:t>Reputacional</a:t>
            </a:r>
            <a:endParaRPr lang="en-US" sz="10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93EA59EB-8749-5831-D7E4-0039B6053E0C}"/>
              </a:ext>
            </a:extLst>
          </p:cNvPr>
          <p:cNvSpPr/>
          <p:nvPr/>
        </p:nvSpPr>
        <p:spPr>
          <a:xfrm>
            <a:off x="7452360" y="269385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BBBBB"/>
                </a:solidFill>
              </a:rPr>
              <a:t>~20.000 UF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023"/>
    </mc:Choice>
    <mc:Fallback>
      <p:transition spd="slow" advTm="83023"/>
    </mc:Fallback>
  </mc:AlternateContent>
  <p:extLst>
    <p:ext uri="{3A86A75C-4F4B-4683-9AE1-C65F6400EC91}">
      <p14:laserTraceLst xmlns:p14="http://schemas.microsoft.com/office/powerpoint/2010/main">
        <p14:tracePtLst>
          <p14:tracePt t="81814" x="2660650" y="749300"/>
          <p14:tracePt t="81822" x="2146300" y="1241425"/>
          <p14:tracePt t="81832" x="1620838" y="1700213"/>
          <p14:tracePt t="81849" x="693738" y="2593975"/>
          <p14:tracePt t="81866" x="33338" y="3265488"/>
          <p14:tracePt t="81883" x="33338" y="3298825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DIAMANTE 2 · DESARROLLAR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</a:rPr>
              <a:t>DESARROLLAR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Diseño metodológico: A/B Testing con grupos homogéneos vía ML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20848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0" name="Shape 8"/>
          <p:cNvSpPr/>
          <p:nvPr/>
        </p:nvSpPr>
        <p:spPr>
          <a:xfrm>
            <a:off x="292608" y="1389888"/>
            <a:ext cx="208483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481328"/>
            <a:ext cx="384048" cy="3840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02336" y="1993392"/>
            <a:ext cx="1865376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4" name="Text 11"/>
          <p:cNvSpPr/>
          <p:nvPr/>
        </p:nvSpPr>
        <p:spPr>
          <a:xfrm>
            <a:off x="402336" y="204825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Recolección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 Datos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2336" y="2670048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66666"/>
                </a:solidFill>
              </a:rPr>
              <a:t>22 variables: demografía, cargo, área, antigüedad, historial de capacitación y resultado PCI baseline.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42032" y="1389888"/>
            <a:ext cx="20848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7" name="Shape 14"/>
          <p:cNvSpPr/>
          <p:nvPr/>
        </p:nvSpPr>
        <p:spPr>
          <a:xfrm>
            <a:off x="2542032" y="1389888"/>
            <a:ext cx="2084832" cy="56692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8" name="Text 15"/>
          <p:cNvSpPr/>
          <p:nvPr/>
        </p:nvSpPr>
        <p:spPr>
          <a:xfrm>
            <a:off x="2615184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1481328"/>
            <a:ext cx="384048" cy="38404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651760" y="1993392"/>
            <a:ext cx="1865376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1" name="Text 17"/>
          <p:cNvSpPr/>
          <p:nvPr/>
        </p:nvSpPr>
        <p:spPr>
          <a:xfrm>
            <a:off x="2651760" y="204825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Clustering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K-Means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51760" y="2670048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66666"/>
                </a:solidFill>
              </a:rPr>
              <a:t>ML agrupa colaboradores en perfiles homogéneos. Elimina sesgos de selección en la asignación.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91456" y="1389888"/>
            <a:ext cx="20848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24" name="Shape 20"/>
          <p:cNvSpPr/>
          <p:nvPr/>
        </p:nvSpPr>
        <p:spPr>
          <a:xfrm>
            <a:off x="4791456" y="1389888"/>
            <a:ext cx="208483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5" name="Text 21"/>
          <p:cNvSpPr/>
          <p:nvPr/>
        </p:nvSpPr>
        <p:spPr>
          <a:xfrm>
            <a:off x="4864608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481328"/>
            <a:ext cx="384048" cy="38404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901184" y="1993392"/>
            <a:ext cx="1865376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8" name="Text 23"/>
          <p:cNvSpPr/>
          <p:nvPr/>
        </p:nvSpPr>
        <p:spPr>
          <a:xfrm>
            <a:off x="4901184" y="204825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Asignación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A/B Testing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901184" y="2670048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66666"/>
                </a:solidFill>
              </a:rPr>
              <a:t>Sub-grupos de cada cluster se asignan aleatoriamente a Proveedor A, B o C. Comparabilidad garantizada.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040880" y="1389888"/>
            <a:ext cx="20848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31" name="Shape 26"/>
          <p:cNvSpPr/>
          <p:nvPr/>
        </p:nvSpPr>
        <p:spPr>
          <a:xfrm>
            <a:off x="7040880" y="1389888"/>
            <a:ext cx="2084832" cy="56692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2" name="Text 27"/>
          <p:cNvSpPr/>
          <p:nvPr/>
        </p:nvSpPr>
        <p:spPr>
          <a:xfrm>
            <a:off x="7114032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1481328"/>
            <a:ext cx="384048" cy="38404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150608" y="1993392"/>
            <a:ext cx="1865376" cy="274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5" name="Text 29"/>
          <p:cNvSpPr/>
          <p:nvPr/>
        </p:nvSpPr>
        <p:spPr>
          <a:xfrm>
            <a:off x="7150608" y="2048256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Evaluación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 Resultados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150608" y="2670048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66666"/>
                </a:solidFill>
              </a:rPr>
              <a:t>Se compara score post-test y ROI normativo por proveedor con pruebas de significancia estadística.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92608" y="4709160"/>
            <a:ext cx="855878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8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9" name="Text 3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5/ 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148"/>
    </mc:Choice>
    <mc:Fallback>
      <p:transition spd="slow" advTm="93148"/>
    </mc:Fallback>
  </mc:AlternateContent>
  <p:extLst>
    <p:ext uri="{3A86A75C-4F4B-4683-9AE1-C65F6400EC91}">
      <p14:laserTraceLst xmlns:p14="http://schemas.microsoft.com/office/powerpoint/2010/main">
        <p14:tracePtLst>
          <p14:tracePt t="20315" x="401638" y="1208088"/>
          <p14:tracePt t="20329" x="581025" y="1084263"/>
          <p14:tracePt t="20346" x="1039813" y="727075"/>
          <p14:tracePt t="20362" x="1230313" y="547688"/>
          <p14:tracePt t="20379" x="1363663" y="268288"/>
          <p14:tracePt t="20396" x="1374775" y="88900"/>
          <p14:tracePt t="91524" x="1576388" y="592138"/>
          <p14:tracePt t="91541" x="100013" y="1487488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◆ DIAMANTE 2 · DESARROLLAR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C2C2C"/>
                </a:solidFill>
              </a:rPr>
              <a:t>DESARROLLAR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EDA y Clustering: segmentación de 5.000 colaboradores en 3 perfiles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8558784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40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Dataset: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14447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5.000 colaboradores · 22 variables (demografía, cargo, ingresos, historial, resultado_capacitacion_pci)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16733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Preprocesamiento: StandardScaler + LabelEncoder · Variables seleccionadas: Age, Monthly_Income, Years_At_Company, Training_Hours_Last_Year, Job_Satisfaction, resultado_capacitacion_pci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084832"/>
            <a:ext cx="4206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400"/>
          </a:p>
        </p:txBody>
      </p:sp>
      <p:sp>
        <p:nvSpPr>
          <p:cNvPr id="14" name="Text 12"/>
          <p:cNvSpPr/>
          <p:nvPr/>
        </p:nvSpPr>
        <p:spPr>
          <a:xfrm>
            <a:off x="438912" y="21488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0392B"/>
                </a:solidFill>
              </a:rPr>
              <a:t>COMPARACIÓN DE ALGORITMOS DE CLUSTERING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Algoritmo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072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Silhouette 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CH 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DB 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2697480"/>
            <a:ext cx="3913632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0" name="Shape 18"/>
          <p:cNvSpPr/>
          <p:nvPr/>
        </p:nvSpPr>
        <p:spPr>
          <a:xfrm>
            <a:off x="292608" y="2724912"/>
            <a:ext cx="4206240" cy="3200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1" name="Shape 19"/>
          <p:cNvSpPr/>
          <p:nvPr/>
        </p:nvSpPr>
        <p:spPr>
          <a:xfrm>
            <a:off x="292608" y="2724912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K-Means 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19072" y="27432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0.1346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711.4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2.59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" y="3072384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7" name="Text 25"/>
          <p:cNvSpPr/>
          <p:nvPr/>
        </p:nvSpPr>
        <p:spPr>
          <a:xfrm>
            <a:off x="45720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Hierarchical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19072" y="3090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0.1306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33472" y="30906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692.9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46120" y="30906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2.66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" y="3419856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32" name="Text 30"/>
          <p:cNvSpPr/>
          <p:nvPr/>
        </p:nvSpPr>
        <p:spPr>
          <a:xfrm>
            <a:off x="457200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SOM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19072" y="34381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0.1006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33472" y="34381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589.0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4381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3.29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" y="3858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K-Means seleccionado: mejor Silhouette (0.13), mayor cohesión intra-cluster (CH=711) y menor dispersión (DB=2.59)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084832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400"/>
          </a:p>
        </p:txBody>
      </p:sp>
      <p:sp>
        <p:nvSpPr>
          <p:cNvPr id="38" name="Text 36"/>
          <p:cNvSpPr/>
          <p:nvPr/>
        </p:nvSpPr>
        <p:spPr>
          <a:xfrm>
            <a:off x="4846320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C2C2C"/>
                </a:solidFill>
              </a:rPr>
              <a:t>3 PERFILES IDENTIFICADOS (K-Means)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468880"/>
            <a:ext cx="73152" cy="71323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0" name="Text 38"/>
          <p:cNvSpPr/>
          <p:nvPr/>
        </p:nvSpPr>
        <p:spPr>
          <a:xfrm>
            <a:off x="4864608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Cluster 1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26480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1.939 colab.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95160" y="2487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Dist. A/B/C: A:676  B:633  C:630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4608" y="2724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Perfil base</a:t>
            </a:r>
            <a:r>
              <a:rPr lang="en-US" sz="1000" dirty="0">
                <a:solidFill>
                  <a:srgbClr val="666666"/>
                </a:solidFill>
              </a:rPr>
              <a:t>: analistas y operativos con experiencia media.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64608" y="3182112"/>
            <a:ext cx="379476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5" name="Shape 43"/>
          <p:cNvSpPr/>
          <p:nvPr/>
        </p:nvSpPr>
        <p:spPr>
          <a:xfrm>
            <a:off x="4709160" y="3255264"/>
            <a:ext cx="73152" cy="713232"/>
          </a:xfrm>
          <a:prstGeom prst="rect">
            <a:avLst/>
          </a:prstGeom>
          <a:solidFill>
            <a:srgbClr val="FF0000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46" name="Text 44"/>
          <p:cNvSpPr/>
          <p:nvPr/>
        </p:nvSpPr>
        <p:spPr>
          <a:xfrm>
            <a:off x="4864608" y="3273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Cluster 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126480" y="3273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1.000 colab.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9516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Dist. A/B/C: A:338  B:352  C:310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64608" y="35112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Perfil especialista</a:t>
            </a:r>
            <a:r>
              <a:rPr lang="en-US" sz="1000" dirty="0">
                <a:solidFill>
                  <a:srgbClr val="666666"/>
                </a:solidFill>
              </a:rPr>
              <a:t>: menor volumen, cargos técnicos y líderes.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64608" y="3968496"/>
            <a:ext cx="379476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1" name="Shape 49"/>
          <p:cNvSpPr/>
          <p:nvPr/>
        </p:nvSpPr>
        <p:spPr>
          <a:xfrm>
            <a:off x="4709160" y="4041648"/>
            <a:ext cx="73152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2" name="Text 50"/>
          <p:cNvSpPr/>
          <p:nvPr/>
        </p:nvSpPr>
        <p:spPr>
          <a:xfrm>
            <a:off x="4864608" y="4059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Cluster 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26480" y="4059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2.061 colab.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995160" y="4059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Dist. A/B/C: A:724  B:655  C:682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64608" y="42976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Perfil sénior</a:t>
            </a:r>
            <a:r>
              <a:rPr lang="en-US" sz="1000" dirty="0">
                <a:solidFill>
                  <a:srgbClr val="666666"/>
                </a:solidFill>
              </a:rPr>
              <a:t>: mayor ingreso y años en la empresa.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64608" y="4754880"/>
            <a:ext cx="379476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7" name="Text 55"/>
          <p:cNvSpPr/>
          <p:nvPr/>
        </p:nvSpPr>
        <p:spPr>
          <a:xfrm>
            <a:off x="489204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Distribución balanceada entre proveedores dentro de cada cluster garantiza comparabilidad del A/B Testing.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59" name="Text 57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</a:rPr>
              <a:t>6 / 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975"/>
    </mc:Choice>
    <mc:Fallback>
      <p:transition spd="slow" advTm="14997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◆ DIAMANTE 2 · ENTREGAR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</a:rPr>
              <a:t>ENTREGAR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694944"/>
            <a:ext cx="8641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Resultados del A/B Testing: efectividad y análisis económico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188720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261872"/>
            <a:ext cx="855878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0" name="Text 8"/>
          <p:cNvSpPr/>
          <p:nvPr/>
        </p:nvSpPr>
        <p:spPr>
          <a:xfrm>
            <a:off x="438912" y="13350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C2C2C"/>
                </a:solidFill>
              </a:rPr>
              <a:t>SCORE DE CONOCIMIENTO Y ANÁLISIS ECONÓMICO POR PROVEEDOR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Proveedor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Score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Post-Test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Costo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Directo/año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Costo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Riesgo/año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4068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VPN Total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3a·15%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2940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Reducción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Riesgo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66666"/>
                </a:solidFill>
              </a:rPr>
              <a:t>Ranking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" y="1847088"/>
            <a:ext cx="8321040" cy="20117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9" name="Shape 17"/>
          <p:cNvSpPr/>
          <p:nvPr/>
        </p:nvSpPr>
        <p:spPr>
          <a:xfrm>
            <a:off x="292608" y="1874520"/>
            <a:ext cx="8558784" cy="338328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0" name="Shape 18"/>
          <p:cNvSpPr/>
          <p:nvPr/>
        </p:nvSpPr>
        <p:spPr>
          <a:xfrm>
            <a:off x="292608" y="1874520"/>
            <a:ext cx="54864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Proveedor 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94,6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0896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2.725 UF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155 UF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6.577 UF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Alta 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18120" y="1920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🥇 1°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2240280"/>
            <a:ext cx="855878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9" name="Text 27"/>
          <p:cNvSpPr/>
          <p:nvPr/>
        </p:nvSpPr>
        <p:spPr>
          <a:xfrm>
            <a:off x="45720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Proveedor 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92,1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0896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2.705 UF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759 UF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7.909 UF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Media 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🥈 2°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2606040"/>
            <a:ext cx="855878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7" name="Text 35"/>
          <p:cNvSpPr/>
          <p:nvPr/>
        </p:nvSpPr>
        <p:spPr>
          <a:xfrm>
            <a:off x="45720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Proveedor 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90,0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2.695 UF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9768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2.319 UF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11.449 UF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Baja 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18120" y="2651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🥉 3°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" y="306324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45" name="Text 43"/>
          <p:cNvSpPr/>
          <p:nvPr/>
        </p:nvSpPr>
        <p:spPr>
          <a:xfrm>
            <a:off x="438912" y="3136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C2C2C"/>
                </a:solidFill>
              </a:rPr>
              <a:t>SCORE POST-TEST POR PROVEEDOR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" y="3983126"/>
            <a:ext cx="804672" cy="54315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7" name="Text 45"/>
          <p:cNvSpPr/>
          <p:nvPr/>
        </p:nvSpPr>
        <p:spPr>
          <a:xfrm>
            <a:off x="658368" y="376367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94.6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8368" y="45537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Prov. 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55648" y="4188866"/>
            <a:ext cx="804672" cy="33741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0" name="Text 48"/>
          <p:cNvSpPr/>
          <p:nvPr/>
        </p:nvSpPr>
        <p:spPr>
          <a:xfrm>
            <a:off x="1755648" y="396941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D3D"/>
                </a:solidFill>
              </a:rPr>
              <a:t>92.1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755648" y="45537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Prov. 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852928" y="4361688"/>
            <a:ext cx="804672" cy="16459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3" name="Text 51"/>
          <p:cNvSpPr/>
          <p:nvPr/>
        </p:nvSpPr>
        <p:spPr>
          <a:xfrm>
            <a:off x="2852928" y="41422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AAAA"/>
                </a:solidFill>
              </a:rPr>
              <a:t>90.0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852928" y="45537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Prov. 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4526280"/>
            <a:ext cx="329184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6" name="Text 54"/>
          <p:cNvSpPr/>
          <p:nvPr/>
        </p:nvSpPr>
        <p:spPr>
          <a:xfrm>
            <a:off x="438912" y="4754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Diferencia A−C: +4,6 puntos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2985420"/>
            <a:ext cx="4114800" cy="17190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8" name="Shape 56"/>
          <p:cNvSpPr/>
          <p:nvPr/>
        </p:nvSpPr>
        <p:spPr>
          <a:xfrm>
            <a:off x="4709160" y="3063240"/>
            <a:ext cx="4114800" cy="32004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9" name="Text 57"/>
          <p:cNvSpPr/>
          <p:nvPr/>
        </p:nvSpPr>
        <p:spPr>
          <a:xfrm>
            <a:off x="4846320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74C3C"/>
                </a:solidFill>
              </a:rPr>
              <a:t>ARGUMENTO ECONÓMICO ACTUALIZADO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46320" y="3438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Diferencia score A vs C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8952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+4,6 pts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46320" y="3596155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Prob. multa Prov. 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89520" y="3596155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1,4%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46320" y="3760651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</a:rPr>
              <a:t>Prob. multa Prov. C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589520" y="3760651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4C3C"/>
                </a:solidFill>
              </a:rPr>
              <a:t>21,1%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402540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VPN Total Prov. A (directo + riesgo)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89520" y="402540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/>
                </a:solidFill>
              </a:rPr>
              <a:t>6.577 UF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4846320" y="4202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VPN</a:t>
            </a:r>
            <a:r>
              <a:rPr lang="en-US" sz="9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900" b="1" dirty="0">
                <a:solidFill>
                  <a:srgbClr val="E74C3C"/>
                </a:solidFill>
              </a:rPr>
              <a:t>Total</a:t>
            </a:r>
            <a:r>
              <a:rPr lang="en-US" sz="9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900" b="1" dirty="0">
                <a:solidFill>
                  <a:srgbClr val="E74C3C"/>
                </a:solidFill>
              </a:rPr>
              <a:t>Prov. C (directo + riesgo)</a:t>
            </a:r>
          </a:p>
        </p:txBody>
      </p:sp>
      <p:sp>
        <p:nvSpPr>
          <p:cNvPr id="69" name="Text 67"/>
          <p:cNvSpPr/>
          <p:nvPr/>
        </p:nvSpPr>
        <p:spPr>
          <a:xfrm>
            <a:off x="7589520" y="4202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11.449 UF</a:t>
            </a:r>
          </a:p>
        </p:txBody>
      </p:sp>
      <p:sp>
        <p:nvSpPr>
          <p:cNvPr id="70" name="Text 68"/>
          <p:cNvSpPr/>
          <p:nvPr/>
        </p:nvSpPr>
        <p:spPr>
          <a:xfrm>
            <a:off x="4846320" y="44451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Diferencia VPN Total A vs C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889129" y="445313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846320" y="4440616"/>
            <a:ext cx="384048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4" name="Shape 7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5" name="Text 7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7 / 9</a:t>
            </a:r>
            <a:endParaRPr lang="en-US" sz="9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ECCFCDA-60C8-731E-6DE3-D136127C87D6}"/>
              </a:ext>
            </a:extLst>
          </p:cNvPr>
          <p:cNvSpPr txBox="1"/>
          <p:nvPr/>
        </p:nvSpPr>
        <p:spPr>
          <a:xfrm>
            <a:off x="7807290" y="4402834"/>
            <a:ext cx="1044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74C3C"/>
                </a:solidFill>
              </a:rPr>
              <a:t>4.872 UF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369"/>
    </mc:Choice>
    <mc:Fallback>
      <p:transition spd="slow" advTm="186369"/>
    </mc:Fallback>
  </mc:AlternateContent>
  <p:extLst>
    <p:ext uri="{3A86A75C-4F4B-4683-9AE1-C65F6400EC91}">
      <p14:laserTraceLst xmlns:p14="http://schemas.microsoft.com/office/powerpoint/2010/main">
        <p14:tracePtLst>
          <p14:tracePt t="115800" x="1050925" y="3254375"/>
          <p14:tracePt t="115818" x="2168525" y="3163888"/>
          <p14:tracePt t="115835" x="3230563" y="3152775"/>
          <p14:tracePt t="115841" x="3656013" y="3186113"/>
          <p14:tracePt t="115842" x="4024313" y="3186113"/>
          <p14:tracePt t="115851" x="4303713" y="3197225"/>
          <p14:tracePt t="115868" x="4683125" y="3221038"/>
          <p14:tracePt t="115884" x="5008563" y="3097213"/>
          <p14:tracePt t="116215" x="5019675" y="3086100"/>
          <p14:tracePt t="116221" x="5030788" y="3063875"/>
          <p14:tracePt t="116235" x="5075238" y="3052763"/>
          <p14:tracePt t="116251" x="5175250" y="2986088"/>
          <p14:tracePt t="116270" x="5241925" y="2895600"/>
          <p14:tracePt t="116284" x="5265738" y="2862263"/>
          <p14:tracePt t="116303" x="5287963" y="2851150"/>
          <p14:tracePt t="116305" x="5287963" y="2840038"/>
          <p14:tracePt t="116319" x="5287963" y="2817813"/>
          <p14:tracePt t="116334" x="5254625" y="2806700"/>
          <p14:tracePt t="116352" x="5186363" y="2795588"/>
          <p14:tracePt t="116367" x="4929188" y="2784475"/>
          <p14:tracePt t="116385" x="4683125" y="2751138"/>
          <p14:tracePt t="116401" x="4403725" y="2728913"/>
          <p14:tracePt t="116418" x="4314825" y="2728913"/>
          <p14:tracePt t="116435" x="4248150" y="2728913"/>
          <p14:tracePt t="116451" x="4181475" y="2728913"/>
          <p14:tracePt t="116469" x="4135438" y="2751138"/>
          <p14:tracePt t="116484" x="4102100" y="2751138"/>
          <p14:tracePt t="116501" x="4079875" y="2762250"/>
          <p14:tracePt t="116517" x="4079875" y="2773363"/>
          <p14:tracePt t="116534" x="4079875" y="2784475"/>
          <p14:tracePt t="116551" x="4079875" y="2795588"/>
          <p14:tracePt t="116568" x="4079875" y="2806700"/>
          <p14:tracePt t="116601" x="4090988" y="2806700"/>
          <p14:tracePt t="116618" x="4113213" y="2806700"/>
          <p14:tracePt t="116635" x="4135438" y="2806700"/>
          <p14:tracePt t="116651" x="4192588" y="2828925"/>
          <p14:tracePt t="116669" x="4337050" y="2851150"/>
          <p14:tracePt t="116684" x="4414838" y="2851150"/>
          <p14:tracePt t="116701" x="4505325" y="2851150"/>
          <p14:tracePt t="116718" x="4627563" y="2851150"/>
          <p14:tracePt t="116734" x="4694238" y="2851150"/>
          <p14:tracePt t="116752" x="4740275" y="2851150"/>
          <p14:tracePt t="116753" x="4762500" y="2851150"/>
          <p14:tracePt t="116767" x="4806950" y="2851150"/>
          <p14:tracePt t="116785" x="4829175" y="2851150"/>
          <p14:tracePt t="116801" x="4873625" y="2828925"/>
          <p14:tracePt t="116818" x="4906963" y="2806700"/>
          <p14:tracePt t="116834" x="4929188" y="2784475"/>
          <p14:tracePt t="116851" x="4940300" y="2773363"/>
          <p14:tracePt t="116868" x="4940300" y="2762250"/>
          <p14:tracePt t="116884" x="4940300" y="2751138"/>
          <p14:tracePt t="116902" x="4940300" y="2740025"/>
          <p14:tracePt t="116903" x="4929188" y="2740025"/>
          <p14:tracePt t="116917" x="4906963" y="2740025"/>
          <p14:tracePt t="116935" x="4884738" y="2740025"/>
          <p14:tracePt t="116951" x="4829175" y="2740025"/>
          <p14:tracePt t="116968" x="4773613" y="2740025"/>
          <p14:tracePt t="116985" x="4718050" y="2740025"/>
          <p14:tracePt t="117001" x="4594225" y="2751138"/>
          <p14:tracePt t="117018" x="4505325" y="2762250"/>
          <p14:tracePt t="117035" x="4381500" y="2795588"/>
          <p14:tracePt t="117051" x="4292600" y="2817813"/>
          <p14:tracePt t="117068" x="4248150" y="2840038"/>
          <p14:tracePt t="117085" x="4192588" y="2862263"/>
          <p14:tracePt t="117102" x="4170363" y="2884488"/>
          <p14:tracePt t="117130" x="4170363" y="2895600"/>
          <p14:tracePt t="117143" x="4170363" y="2906713"/>
          <p14:tracePt t="117157" x="4192588" y="2906713"/>
          <p14:tracePt t="117167" x="4203700" y="2906713"/>
          <p14:tracePt t="117185" x="4248150" y="2906713"/>
          <p14:tracePt t="117185" x="4281488" y="2906713"/>
          <p14:tracePt t="117200" x="4348163" y="2895600"/>
          <p14:tracePt t="117218" x="4438650" y="2884488"/>
          <p14:tracePt t="117234" x="4560888" y="2884488"/>
          <p14:tracePt t="117251" x="4638675" y="2884488"/>
          <p14:tracePt t="117268" x="4694238" y="2884488"/>
          <p14:tracePt t="117284" x="4740275" y="2884488"/>
          <p14:tracePt t="117303" x="4773613" y="2873375"/>
          <p14:tracePt t="117318" x="4784725" y="2873375"/>
          <p14:tracePt t="117335" x="4795838" y="2873375"/>
          <p14:tracePt t="117358" x="4806950" y="2873375"/>
          <p14:tracePt t="118329" x="4773613" y="2873375"/>
          <p14:tracePt t="118335" x="4683125" y="2873375"/>
          <p14:tracePt t="118351" x="4438650" y="2862263"/>
          <p14:tracePt t="118367" x="4113213" y="2840038"/>
          <p14:tracePt t="118384" x="3644900" y="2817813"/>
          <p14:tracePt t="118401" x="3352800" y="2817813"/>
          <p14:tracePt t="118419" x="3040063" y="2817813"/>
          <p14:tracePt t="118434" x="2884488" y="2817813"/>
          <p14:tracePt t="118451" x="2760663" y="2817813"/>
          <p14:tracePt t="118468" x="2627313" y="2817813"/>
          <p14:tracePt t="118484" x="2571750" y="2817813"/>
          <p14:tracePt t="118501" x="2525713" y="2817813"/>
          <p14:tracePt t="118518" x="2492375" y="2817813"/>
          <p14:tracePt t="118534" x="2481263" y="2817813"/>
          <p14:tracePt t="118551" x="2470150" y="2817813"/>
          <p14:tracePt t="118584" x="2481263" y="2817813"/>
          <p14:tracePt t="118601" x="2503488" y="2817813"/>
          <p14:tracePt t="118618" x="2536825" y="2817813"/>
          <p14:tracePt t="118634" x="2671763" y="2817813"/>
          <p14:tracePt t="118651" x="2895600" y="2817813"/>
          <p14:tracePt t="118667" x="3297238" y="2817813"/>
          <p14:tracePt t="118684" x="3587750" y="2817813"/>
          <p14:tracePt t="118701" x="3878263" y="2817813"/>
          <p14:tracePt t="118717" x="4024313" y="2817813"/>
          <p14:tracePt t="118735" x="4124325" y="2817813"/>
          <p14:tracePt t="118751" x="4237038" y="2817813"/>
          <p14:tracePt t="118768" x="4270375" y="2817813"/>
          <p14:tracePt t="118784" x="4314825" y="2817813"/>
          <p14:tracePt t="118801" x="4348163" y="2817813"/>
          <p14:tracePt t="118818" x="4359275" y="2817813"/>
          <p14:tracePt t="118834" x="4381500" y="2817813"/>
          <p14:tracePt t="118852" x="4414838" y="2817813"/>
          <p14:tracePt t="120059" x="4438650" y="2840038"/>
          <p14:tracePt t="120067" x="4460875" y="2862263"/>
          <p14:tracePt t="120084" x="4505325" y="2917825"/>
          <p14:tracePt t="120101" x="4572000" y="3008313"/>
          <p14:tracePt t="120117" x="4605338" y="3052763"/>
          <p14:tracePt t="120134" x="4660900" y="3119438"/>
          <p14:tracePt t="120151" x="4683125" y="3163888"/>
          <p14:tracePt t="120168" x="4718050" y="3221038"/>
          <p14:tracePt t="120184" x="4751388" y="3265488"/>
          <p14:tracePt t="120201" x="4762500" y="3287713"/>
          <p14:tracePt t="120217" x="4773613" y="3309938"/>
          <p14:tracePt t="120251" x="4795838" y="3332163"/>
          <p14:tracePt t="123319" x="4784725" y="3332163"/>
          <p14:tracePt t="123324" x="4773613" y="3309938"/>
          <p14:tracePt t="123334" x="4751388" y="3276600"/>
          <p14:tracePt t="123351" x="4718050" y="3265488"/>
          <p14:tracePt t="123367" x="4694238" y="3221038"/>
          <p14:tracePt t="123384" x="4672013" y="3186113"/>
          <p14:tracePt t="123401" x="4660900" y="3175000"/>
          <p14:tracePt t="123418" x="4660900" y="3130550"/>
          <p14:tracePt t="123435" x="4660900" y="3108325"/>
          <p14:tracePt t="123450" x="4660900" y="3074988"/>
          <p14:tracePt t="123468" x="4660900" y="3041650"/>
          <p14:tracePt t="123485" x="4660900" y="2997200"/>
          <p14:tracePt t="123500" x="4660900" y="2951163"/>
          <p14:tracePt t="123518" x="4660900" y="2873375"/>
          <p14:tracePt t="123534" x="4660900" y="2773363"/>
          <p14:tracePt t="123551" x="4660900" y="2717800"/>
          <p14:tracePt t="123567" x="4660900" y="2605088"/>
          <p14:tracePt t="123584" x="4660900" y="2527300"/>
          <p14:tracePt t="123600" x="4660900" y="2436813"/>
          <p14:tracePt t="123618" x="4672013" y="2347913"/>
          <p14:tracePt t="123635" x="4672013" y="2270125"/>
          <p14:tracePt t="123651" x="4672013" y="2124075"/>
          <p14:tracePt t="123667" x="4672013" y="2035175"/>
          <p14:tracePt t="123684" x="4672013" y="1911350"/>
          <p14:tracePt t="123700" x="4672013" y="1844675"/>
          <p14:tracePt t="123718" x="4672013" y="1789113"/>
          <p14:tracePt t="123734" x="4672013" y="1744663"/>
          <p14:tracePt t="123752" x="4672013" y="1722438"/>
          <p14:tracePt t="123754" x="4660900" y="1700213"/>
          <p14:tracePt t="123767" x="4660900" y="1689100"/>
          <p14:tracePt t="123784" x="4649788" y="1677988"/>
          <p14:tracePt t="123801" x="4649788" y="1665288"/>
          <p14:tracePt t="123817" x="4638675" y="1665288"/>
          <p14:tracePt t="123834" x="4627563" y="1665288"/>
          <p14:tracePt t="123851" x="4616450" y="1665288"/>
          <p14:tracePt t="123869" x="4616450" y="1677988"/>
          <p14:tracePt t="123884" x="4605338" y="1711325"/>
          <p14:tracePt t="123905" x="4583113" y="1722438"/>
          <p14:tracePt t="123917" x="4583113" y="1733550"/>
          <p14:tracePt t="123934" x="4572000" y="1766888"/>
          <p14:tracePt t="123951" x="4572000" y="1800225"/>
          <p14:tracePt t="123967" x="4560888" y="1822450"/>
          <p14:tracePt t="123984" x="4560888" y="1855788"/>
          <p14:tracePt t="124001" x="4549775" y="1900238"/>
          <p14:tracePt t="124017" x="4538663" y="1946275"/>
          <p14:tracePt t="124035" x="4527550" y="2012950"/>
          <p14:tracePt t="124051" x="4516438" y="2090738"/>
          <p14:tracePt t="124069" x="4516438" y="2135188"/>
          <p14:tracePt t="124070" x="4505325" y="2168525"/>
          <p14:tracePt t="124084" x="4505325" y="2214563"/>
          <p14:tracePt t="124100" x="4494213" y="2259013"/>
          <p14:tracePt t="124118" x="4494213" y="2303463"/>
          <p14:tracePt t="124134" x="4483100" y="2347913"/>
          <p14:tracePt t="124151" x="4471988" y="2381250"/>
          <p14:tracePt t="124167" x="4460875" y="2436813"/>
          <p14:tracePt t="124184" x="4449763" y="2493963"/>
          <p14:tracePt t="124201" x="4425950" y="2560638"/>
          <p14:tracePt t="124218" x="4414838" y="2582863"/>
          <p14:tracePt t="124235" x="4403725" y="2616200"/>
          <p14:tracePt t="124250" x="4403725" y="2638425"/>
          <p14:tracePt t="124268" x="4392613" y="2649538"/>
          <p14:tracePt t="124284" x="4381500" y="2660650"/>
          <p14:tracePt t="124302" x="4381500" y="2671763"/>
          <p14:tracePt t="124305" x="4370388" y="2671763"/>
          <p14:tracePt t="124321" x="4359275" y="2682875"/>
          <p14:tracePt t="124334" x="4348163" y="2693988"/>
          <p14:tracePt t="124351" x="4303713" y="2717800"/>
          <p14:tracePt t="124367" x="4225925" y="2751138"/>
          <p14:tracePt t="124383" x="4170363" y="2762250"/>
          <p14:tracePt t="124401" x="4079875" y="2784475"/>
          <p14:tracePt t="124418" x="4013200" y="2795588"/>
          <p14:tracePt t="124435" x="3957638" y="2795588"/>
          <p14:tracePt t="124451" x="3867150" y="2795588"/>
          <p14:tracePt t="124468" x="3811588" y="2806700"/>
          <p14:tracePt t="124484" x="3744913" y="2806700"/>
          <p14:tracePt t="124501" x="3711575" y="2806700"/>
          <p14:tracePt t="124517" x="3700463" y="2806700"/>
          <p14:tracePt t="124534" x="3667125" y="2817813"/>
          <p14:tracePt t="124574" x="3678238" y="2817813"/>
          <p14:tracePt t="124578" x="3689350" y="2817813"/>
          <p14:tracePt t="124592" x="3700463" y="2817813"/>
          <p14:tracePt t="124600" x="3733800" y="2817813"/>
          <p14:tracePt t="124617" x="3789363" y="2817813"/>
          <p14:tracePt t="124634" x="3878263" y="2828925"/>
          <p14:tracePt t="124650" x="4090988" y="2862263"/>
          <p14:tracePt t="124669" x="4303713" y="2873375"/>
          <p14:tracePt t="124684" x="4392613" y="2884488"/>
          <p14:tracePt t="124702" x="4460875" y="2895600"/>
          <p14:tracePt t="124704" x="4483100" y="2895600"/>
          <p14:tracePt t="124717" x="4516438" y="2895600"/>
          <p14:tracePt t="124734" x="4538663" y="2895600"/>
          <p14:tracePt t="124750" x="4549775" y="2895600"/>
          <p14:tracePt t="124767" x="4560888" y="2895600"/>
          <p14:tracePt t="124784" x="4572000" y="2906713"/>
          <p14:tracePt t="124801" x="4583113" y="2906713"/>
          <p14:tracePt t="125250" x="4583113" y="2951163"/>
          <p14:tracePt t="125254" x="4572000" y="3008313"/>
          <p14:tracePt t="125267" x="4538663" y="3063875"/>
          <p14:tracePt t="125284" x="4483100" y="3232150"/>
          <p14:tracePt t="125301" x="4449763" y="3298825"/>
          <p14:tracePt t="125317" x="4414838" y="3365500"/>
          <p14:tracePt t="125334" x="4392613" y="3387725"/>
          <p14:tracePt t="125351" x="4381500" y="3409950"/>
          <p14:tracePt t="125367" x="4370388" y="3443288"/>
          <p14:tracePt t="125385" x="4359275" y="3454400"/>
          <p14:tracePt t="128275" x="4370388" y="3376613"/>
          <p14:tracePt t="128284" x="4403725" y="3254375"/>
          <p14:tracePt t="128301" x="4471988" y="3019425"/>
          <p14:tracePt t="128317" x="4538663" y="2740025"/>
          <p14:tracePt t="128334" x="4583113" y="2527300"/>
          <p14:tracePt t="128350" x="4649788" y="2236788"/>
          <p14:tracePt t="128367" x="4660900" y="2101850"/>
          <p14:tracePt t="128384" x="4694238" y="1979613"/>
          <p14:tracePt t="128401" x="4705350" y="1822450"/>
          <p14:tracePt t="128418" x="4718050" y="1733550"/>
          <p14:tracePt t="128420" x="4718050" y="1700213"/>
          <p14:tracePt t="128434" x="4718050" y="1643063"/>
          <p14:tracePt t="128451" x="4718050" y="1598613"/>
          <p14:tracePt t="128468" x="4718050" y="1520825"/>
          <p14:tracePt t="128485" x="4729163" y="1476375"/>
          <p14:tracePt t="128501" x="4729163" y="1443038"/>
          <p14:tracePt t="128517" x="4729163" y="1420813"/>
          <p14:tracePt t="128536" x="4729163" y="1397000"/>
          <p14:tracePt t="128551" x="4729163" y="1385888"/>
          <p14:tracePt t="128599" x="4718050" y="1397000"/>
          <p14:tracePt t="128608" x="4718050" y="1408113"/>
          <p14:tracePt t="128634" x="4705350" y="1443038"/>
          <p14:tracePt t="128650" x="4705350" y="1476375"/>
          <p14:tracePt t="128667" x="4694238" y="1520825"/>
          <p14:tracePt t="128683" x="4683125" y="1598613"/>
          <p14:tracePt t="128701" x="4683125" y="1654175"/>
          <p14:tracePt t="128717" x="4672013" y="1789113"/>
          <p14:tracePt t="128734" x="4660900" y="1911350"/>
          <p14:tracePt t="128751" x="4638675" y="2079625"/>
          <p14:tracePt t="128767" x="4638675" y="2179638"/>
          <p14:tracePt t="128784" x="4616450" y="2336800"/>
          <p14:tracePt t="128801" x="4616450" y="2425700"/>
          <p14:tracePt t="128818" x="4616450" y="2505075"/>
          <p14:tracePt t="128834" x="4616450" y="2593975"/>
          <p14:tracePt t="128851" x="4616450" y="2638425"/>
          <p14:tracePt t="128867" x="4616450" y="2682875"/>
          <p14:tracePt t="128884" x="4616450" y="2717800"/>
          <p14:tracePt t="128901" x="4616450" y="2751138"/>
          <p14:tracePt t="128917" x="4616450" y="2773363"/>
          <p14:tracePt t="128935" x="4605338" y="2806700"/>
          <p14:tracePt t="128937" x="4605338" y="2828925"/>
          <p14:tracePt t="128950" x="4594225" y="2873375"/>
          <p14:tracePt t="128967" x="4583113" y="2928938"/>
          <p14:tracePt t="128984" x="4583113" y="2974975"/>
          <p14:tracePt t="129001" x="4583113" y="2997200"/>
          <p14:tracePt t="129018" x="4583113" y="3008313"/>
          <p14:tracePt t="129018" x="4583113" y="3019425"/>
          <p14:tracePt t="129034" x="4583113" y="3030538"/>
          <p14:tracePt t="129051" x="4583113" y="3041650"/>
          <p14:tracePt t="129068" x="4583113" y="3052763"/>
          <p14:tracePt t="129103" x="4572000" y="3052763"/>
          <p14:tracePt t="129170" x="4572000" y="3041650"/>
          <p14:tracePt t="129190" x="4572000" y="3030538"/>
          <p14:tracePt t="129218" x="4572000" y="3019425"/>
          <p14:tracePt t="129231" x="4572000" y="3008313"/>
          <p14:tracePt t="129252" x="4572000" y="2997200"/>
          <p14:tracePt t="129266" x="4572000" y="2986088"/>
          <p14:tracePt t="129301" x="4572000" y="2951163"/>
          <p14:tracePt t="129302" x="4572000" y="2928938"/>
          <p14:tracePt t="129317" x="4572000" y="2906713"/>
          <p14:tracePt t="129335" x="4572000" y="2873375"/>
          <p14:tracePt t="129336" x="4572000" y="2840038"/>
          <p14:tracePt t="129351" x="4572000" y="2762250"/>
          <p14:tracePt t="129367" x="4572000" y="2649538"/>
          <p14:tracePt t="129384" x="4572000" y="2414588"/>
          <p14:tracePt t="129401" x="4572000" y="2259013"/>
          <p14:tracePt t="129418" x="4572000" y="2146300"/>
          <p14:tracePt t="129419" x="4572000" y="2101850"/>
          <p14:tracePt t="129434" x="4572000" y="2001838"/>
          <p14:tracePt t="129451" x="4572000" y="1946275"/>
          <p14:tracePt t="129467" x="4572000" y="1844675"/>
          <p14:tracePt t="129484" x="4572000" y="1766888"/>
          <p14:tracePt t="129501" x="4572000" y="1711325"/>
          <p14:tracePt t="129502" x="4572000" y="1689100"/>
          <p14:tracePt t="129517" x="4572000" y="1643063"/>
          <p14:tracePt t="129536" x="4572000" y="1620838"/>
          <p14:tracePt t="129550" x="4572000" y="1598613"/>
          <p14:tracePt t="129567" x="4560888" y="1587500"/>
          <p14:tracePt t="129584" x="4549775" y="1587500"/>
          <p14:tracePt t="129600" x="4549775" y="1598613"/>
          <p14:tracePt t="129618" x="4538663" y="1609725"/>
          <p14:tracePt t="129619" x="4538663" y="1620838"/>
          <p14:tracePt t="129633" x="4538663" y="1631950"/>
          <p14:tracePt t="129650" x="4538663" y="1665288"/>
          <p14:tracePt t="129668" x="4538663" y="1711325"/>
          <p14:tracePt t="129684" x="4527550" y="1755775"/>
          <p14:tracePt t="129701" x="4516438" y="1833563"/>
          <p14:tracePt t="129702" x="4516438" y="1866900"/>
          <p14:tracePt t="129717" x="4505325" y="1957388"/>
          <p14:tracePt t="129734" x="4505325" y="2057400"/>
          <p14:tracePt t="129750" x="4505325" y="2225675"/>
          <p14:tracePt t="129767" x="4494213" y="2325688"/>
          <p14:tracePt t="129784" x="4494213" y="2460625"/>
          <p14:tracePt t="129800" x="4494213" y="2516188"/>
          <p14:tracePt t="129818" x="4494213" y="2571750"/>
          <p14:tracePt t="129818" x="4494213" y="2593975"/>
          <p14:tracePt t="129833" x="4494213" y="2638425"/>
          <p14:tracePt t="129850" x="4494213" y="2671763"/>
          <p14:tracePt t="129867" x="4494213" y="2693988"/>
          <p14:tracePt t="129884" x="4494213" y="2717800"/>
          <p14:tracePt t="129901" x="4494213" y="2728913"/>
          <p14:tracePt t="129917" x="4494213" y="2740025"/>
          <p14:tracePt t="129942" x="4483100" y="2740025"/>
          <p14:tracePt t="130742" x="4505325" y="2717800"/>
          <p14:tracePt t="130748" x="4560888" y="2660650"/>
          <p14:tracePt t="130767" x="4672013" y="2571750"/>
          <p14:tracePt t="130783" x="4873625" y="2403475"/>
          <p14:tracePt t="130801" x="4973638" y="2303463"/>
          <p14:tracePt t="130817" x="5075238" y="2225675"/>
          <p14:tracePt t="130833" x="5164138" y="2135188"/>
          <p14:tracePt t="130851" x="5230813" y="2068513"/>
          <p14:tracePt t="130867" x="5332413" y="2012950"/>
          <p14:tracePt t="130884" x="5387975" y="1957388"/>
          <p14:tracePt t="130900" x="5487988" y="1900238"/>
          <p14:tracePt t="130917" x="5556250" y="1866900"/>
          <p14:tracePt t="130933" x="5611813" y="1844675"/>
          <p14:tracePt t="130951" x="5678488" y="1789113"/>
          <p14:tracePt t="130967" x="5722938" y="1778000"/>
          <p14:tracePt t="130983" x="5791200" y="1766888"/>
          <p14:tracePt t="131000" x="5824538" y="1766888"/>
          <p14:tracePt t="131017" x="5835650" y="1766888"/>
          <p14:tracePt t="131033" x="5880100" y="1766888"/>
          <p14:tracePt t="131051" x="5913438" y="1766888"/>
          <p14:tracePt t="131067" x="5935663" y="1766888"/>
          <p14:tracePt t="131083" x="5969000" y="1766888"/>
          <p14:tracePt t="131100" x="6002338" y="1766888"/>
          <p14:tracePt t="131117" x="6013450" y="1766888"/>
          <p14:tracePt t="131133" x="6046788" y="1778000"/>
          <p14:tracePt t="131150" x="6092825" y="1811338"/>
          <p14:tracePt t="131167" x="6092825" y="1822450"/>
          <p14:tracePt t="131183" x="6126163" y="1833563"/>
          <p14:tracePt t="131200" x="6126163" y="1844675"/>
          <p14:tracePt t="131217" x="6137275" y="1855788"/>
          <p14:tracePt t="131233" x="6148388" y="1866900"/>
          <p14:tracePt t="131250" x="6148388" y="1878013"/>
          <p14:tracePt t="131267" x="6148388" y="1889125"/>
          <p14:tracePt t="133893" x="6137275" y="1889125"/>
          <p14:tracePt t="133899" x="6115050" y="1889125"/>
          <p14:tracePt t="133906" x="6092825" y="1889125"/>
          <p14:tracePt t="133917" x="6070600" y="1889125"/>
          <p14:tracePt t="133937" x="5980113" y="1889125"/>
          <p14:tracePt t="133950" x="5913438" y="1889125"/>
          <p14:tracePt t="133967" x="5857875" y="1889125"/>
          <p14:tracePt t="133984" x="5767388" y="1878013"/>
          <p14:tracePt t="134000" x="5711825" y="1878013"/>
          <p14:tracePt t="134017" x="5656263" y="1878013"/>
          <p14:tracePt t="134034" x="5634038" y="1878013"/>
          <p14:tracePt t="134051" x="5622925" y="1878013"/>
          <p14:tracePt t="134067" x="5600700" y="1878013"/>
          <p14:tracePt t="134106" x="5600700" y="1866900"/>
          <p14:tracePt t="134141" x="5611813" y="1866900"/>
          <p14:tracePt t="134161" x="5622925" y="1866900"/>
          <p14:tracePt t="134189" x="5634038" y="1866900"/>
          <p14:tracePt t="134223" x="5645150" y="1866900"/>
          <p14:tracePt t="134341" x="5656263" y="1866900"/>
          <p14:tracePt t="134396" x="5667375" y="1866900"/>
          <p14:tracePt t="134466" x="5678488" y="1866900"/>
          <p14:tracePt t="134484" x="5689600" y="1866900"/>
          <p14:tracePt t="134513" x="5700713" y="1866900"/>
          <p14:tracePt t="134519" x="5700713" y="1855788"/>
          <p14:tracePt t="134533" x="5711825" y="1855788"/>
          <p14:tracePt t="134550" x="5722938" y="1844675"/>
          <p14:tracePt t="134568" x="5745163" y="1833563"/>
          <p14:tracePt t="134583" x="5756275" y="1833563"/>
          <p14:tracePt t="134600" x="5767388" y="1833563"/>
          <p14:tracePt t="134617" x="5791200" y="1833563"/>
          <p14:tracePt t="134619" x="5802313" y="1833563"/>
          <p14:tracePt t="134633" x="5813425" y="1822450"/>
          <p14:tracePt t="134651" x="5824538" y="1822450"/>
          <p14:tracePt t="134653" x="5835650" y="1822450"/>
          <p14:tracePt t="134667" x="5846763" y="1811338"/>
          <p14:tracePt t="134683" x="5857875" y="1811338"/>
          <p14:tracePt t="134700" x="5868988" y="1811338"/>
          <p14:tracePt t="134717" x="5880100" y="1811338"/>
          <p14:tracePt t="135182" x="5880100" y="1822450"/>
          <p14:tracePt t="135188" x="5868988" y="1822450"/>
          <p14:tracePt t="135202" x="5868988" y="1833563"/>
          <p14:tracePt t="135216" x="5868988" y="1844675"/>
          <p14:tracePt t="135233" x="5857875" y="1855788"/>
          <p14:tracePt t="135250" x="5846763" y="1866900"/>
          <p14:tracePt t="135267" x="5835650" y="1866900"/>
          <p14:tracePt t="135283" x="5835650" y="1878013"/>
          <p14:tracePt t="135300" x="5824538" y="1900238"/>
          <p14:tracePt t="135317" x="5824538" y="1935163"/>
          <p14:tracePt t="135334" x="5824538" y="1957388"/>
          <p14:tracePt t="135350" x="5824538" y="2012950"/>
          <p14:tracePt t="135367" x="5824538" y="2057400"/>
          <p14:tracePt t="135383" x="5824538" y="2146300"/>
          <p14:tracePt t="135400" x="5813425" y="2203450"/>
          <p14:tracePt t="135416" x="5802313" y="2281238"/>
          <p14:tracePt t="135434" x="5802313" y="2347913"/>
          <p14:tracePt t="135451" x="5802313" y="2381250"/>
          <p14:tracePt t="135467" x="5802313" y="2436813"/>
          <p14:tracePt t="135483" x="5802313" y="2471738"/>
          <p14:tracePt t="135500" x="5802313" y="2527300"/>
          <p14:tracePt t="135517" x="5802313" y="2593975"/>
          <p14:tracePt t="135534" x="5802313" y="2649538"/>
          <p14:tracePt t="135555" x="5802313" y="2717800"/>
          <p14:tracePt t="135557" x="5802313" y="2728913"/>
          <p14:tracePt t="135567" x="5802313" y="2740025"/>
          <p14:tracePt t="135584" x="5802313" y="2773363"/>
          <p14:tracePt t="135600" x="5802313" y="2795588"/>
          <p14:tracePt t="135634" x="5802313" y="2806700"/>
          <p14:tracePt t="135651" x="5802313" y="2817813"/>
          <p14:tracePt t="135653" x="5802313" y="2828925"/>
          <p14:tracePt t="135667" x="5802313" y="2873375"/>
          <p14:tracePt t="135683" x="5802313" y="2917825"/>
          <p14:tracePt t="135700" x="5802313" y="2951163"/>
          <p14:tracePt t="135717" x="5802313" y="2974975"/>
          <p14:tracePt t="135734" x="5802313" y="2997200"/>
          <p14:tracePt t="135750" x="5802313" y="3008313"/>
          <p14:tracePt t="135768" x="5802313" y="3019425"/>
          <p14:tracePt t="135783" x="5802313" y="3030538"/>
          <p14:tracePt t="135809" x="5791200" y="3030538"/>
          <p14:tracePt t="135823" x="5778500" y="3030538"/>
          <p14:tracePt t="135844" x="5767388" y="3030538"/>
          <p14:tracePt t="135852" x="5756275" y="3030538"/>
          <p14:tracePt t="135867" x="5745163" y="3030538"/>
          <p14:tracePt t="135883" x="5734050" y="3030538"/>
          <p14:tracePt t="135900" x="5678488" y="3030538"/>
          <p14:tracePt t="135917" x="5622925" y="3030538"/>
          <p14:tracePt t="135933" x="5578475" y="3030538"/>
          <p14:tracePt t="135951" x="5522913" y="3030538"/>
          <p14:tracePt t="135966" x="5510213" y="3030538"/>
          <p14:tracePt t="135983" x="5487988" y="3030538"/>
          <p14:tracePt t="136000" x="5476875" y="3030538"/>
          <p14:tracePt t="136017" x="5465763" y="3019425"/>
          <p14:tracePt t="136033" x="5465763" y="3008313"/>
          <p14:tracePt t="136051" x="5476875" y="3008313"/>
          <p14:tracePt t="136067" x="5487988" y="2997200"/>
          <p14:tracePt t="136083" x="5499100" y="2986088"/>
          <p14:tracePt t="136100" x="5522913" y="2963863"/>
          <p14:tracePt t="136117" x="5556250" y="2940050"/>
          <p14:tracePt t="136133" x="5589588" y="2928938"/>
          <p14:tracePt t="136150" x="5656263" y="2906713"/>
          <p14:tracePt t="136167" x="5722938" y="2873375"/>
          <p14:tracePt t="136183" x="5846763" y="2851150"/>
          <p14:tracePt t="136200" x="5902325" y="2851150"/>
          <p14:tracePt t="136216" x="5957888" y="2828925"/>
          <p14:tracePt t="136233" x="5980113" y="2828925"/>
          <p14:tracePt t="136249" x="6002338" y="2828925"/>
          <p14:tracePt t="136266" x="6013450" y="2828925"/>
          <p14:tracePt t="136335" x="6013450" y="2817813"/>
          <p14:tracePt t="138340" x="6002338" y="2795588"/>
          <p14:tracePt t="138347" x="5969000" y="2740025"/>
          <p14:tracePt t="138353" x="5946775" y="2717800"/>
          <p14:tracePt t="138367" x="5935663" y="2682875"/>
          <p14:tracePt t="138383" x="5891213" y="2627313"/>
          <p14:tracePt t="138400" x="5868988" y="2582863"/>
          <p14:tracePt t="138416" x="5846763" y="2527300"/>
          <p14:tracePt t="138433" x="5846763" y="2516188"/>
          <p14:tracePt t="138450" x="5846763" y="2482850"/>
          <p14:tracePt t="138466" x="5846763" y="2449513"/>
          <p14:tracePt t="138485" x="5846763" y="2436813"/>
          <p14:tracePt t="138499" x="5846763" y="2414588"/>
          <p14:tracePt t="138516" x="5846763" y="2381250"/>
          <p14:tracePt t="138533" x="5846763" y="2370138"/>
          <p14:tracePt t="138549" x="5857875" y="2325688"/>
          <p14:tracePt t="138567" x="5868988" y="2303463"/>
          <p14:tracePt t="138583" x="5880100" y="2292350"/>
          <p14:tracePt t="138609" x="5880100" y="2281238"/>
          <p14:tracePt t="138629" x="5891213" y="2270125"/>
          <p14:tracePt t="138692" x="5891213" y="2259013"/>
          <p14:tracePt t="138747" x="5891213" y="2247900"/>
          <p14:tracePt t="138760" x="5891213" y="2236788"/>
          <p14:tracePt t="138783" x="5891213" y="2214563"/>
          <p14:tracePt t="138800" x="5891213" y="2192338"/>
          <p14:tracePt t="138817" x="5891213" y="2157413"/>
          <p14:tracePt t="138850" x="5880100" y="2146300"/>
          <p14:tracePt t="138867" x="5857875" y="2135188"/>
          <p14:tracePt t="138886" x="5846763" y="2135188"/>
          <p14:tracePt t="138900" x="5824538" y="2135188"/>
          <p14:tracePt t="138916" x="5791200" y="2135188"/>
          <p14:tracePt t="138933" x="5767388" y="2135188"/>
          <p14:tracePt t="138950" x="5711825" y="2135188"/>
          <p14:tracePt t="138968" x="5667375" y="2135188"/>
          <p14:tracePt t="138970" x="5634038" y="2135188"/>
          <p14:tracePt t="138983" x="5545138" y="2135188"/>
          <p14:tracePt t="139000" x="5443538" y="2135188"/>
          <p14:tracePt t="139017" x="5241925" y="2135188"/>
          <p14:tracePt t="139033" x="5108575" y="2135188"/>
          <p14:tracePt t="139050" x="4986338" y="2135188"/>
          <p14:tracePt t="139067" x="4818063" y="2135188"/>
          <p14:tracePt t="139084" x="4683125" y="2146300"/>
          <p14:tracePt t="139085" x="4594225" y="2146300"/>
          <p14:tracePt t="139100" x="4403725" y="2168525"/>
          <p14:tracePt t="139116" x="4225925" y="2179638"/>
          <p14:tracePt t="139133" x="4013200" y="2179638"/>
          <p14:tracePt t="139150" x="3913188" y="2179638"/>
          <p14:tracePt t="139166" x="3833813" y="2179638"/>
          <p14:tracePt t="139183" x="3733800" y="2168525"/>
          <p14:tracePt t="139200" x="3689350" y="2168525"/>
          <p14:tracePt t="139217" x="3644900" y="2168525"/>
          <p14:tracePt t="139233" x="3621088" y="2168525"/>
          <p14:tracePt t="139271" x="3621088" y="2157413"/>
          <p14:tracePt t="139291" x="3633788" y="2146300"/>
          <p14:tracePt t="139305" x="3644900" y="2146300"/>
          <p14:tracePt t="139317" x="3656013" y="2146300"/>
          <p14:tracePt t="139333" x="3689350" y="2146300"/>
          <p14:tracePt t="139350" x="3767138" y="2146300"/>
          <p14:tracePt t="139368" x="3867150" y="2146300"/>
          <p14:tracePt t="139383" x="4013200" y="2146300"/>
          <p14:tracePt t="139400" x="4113213" y="2146300"/>
          <p14:tracePt t="139417" x="4281488" y="2146300"/>
          <p14:tracePt t="139434" x="4381500" y="2146300"/>
          <p14:tracePt t="139450" x="4483100" y="2146300"/>
          <p14:tracePt t="139466" x="4638675" y="2146300"/>
          <p14:tracePt t="139484" x="4762500" y="2124075"/>
          <p14:tracePt t="139500" x="4895850" y="2112963"/>
          <p14:tracePt t="139516" x="4997450" y="2101850"/>
          <p14:tracePt t="139533" x="5119688" y="2101850"/>
          <p14:tracePt t="139550" x="5186363" y="2101850"/>
          <p14:tracePt t="139567" x="5276850" y="2101850"/>
          <p14:tracePt t="139584" x="5399088" y="2101850"/>
          <p14:tracePt t="139600" x="5487988" y="2101850"/>
          <p14:tracePt t="139617" x="5578475" y="2101850"/>
          <p14:tracePt t="139633" x="5622925" y="2101850"/>
          <p14:tracePt t="139650" x="5656263" y="2101850"/>
          <p14:tracePt t="139668" x="5689600" y="2101850"/>
          <p14:tracePt t="139683" x="5711825" y="2101850"/>
          <p14:tracePt t="139700" x="5745163" y="2101850"/>
          <p14:tracePt t="139735" x="5756275" y="2101850"/>
          <p14:tracePt t="139809" x="5767388" y="2101850"/>
          <p14:tracePt t="139830" x="5778500" y="2101850"/>
          <p14:tracePt t="139836" x="5791200" y="2101850"/>
          <p14:tracePt t="139850" x="5802313" y="2101850"/>
          <p14:tracePt t="139867" x="5824538" y="2101850"/>
          <p14:tracePt t="139883" x="5846763" y="2101850"/>
          <p14:tracePt t="139900" x="5902325" y="2101850"/>
          <p14:tracePt t="139916" x="5935663" y="2101850"/>
          <p14:tracePt t="139919" x="5957888" y="2101850"/>
          <p14:tracePt t="139933" x="5969000" y="2101850"/>
          <p14:tracePt t="139949" x="6002338" y="2101850"/>
          <p14:tracePt t="139967" x="6013450" y="2101850"/>
          <p14:tracePt t="139983" x="6024563" y="2101850"/>
          <p14:tracePt t="140071" x="6024563" y="2090738"/>
          <p14:tracePt t="140078" x="6024563" y="2079625"/>
          <p14:tracePt t="140085" x="6035675" y="2079625"/>
          <p14:tracePt t="140886" x="6046788" y="2057400"/>
          <p14:tracePt t="140893" x="6059488" y="2012950"/>
          <p14:tracePt t="140899" x="6070600" y="1990725"/>
          <p14:tracePt t="140916" x="6115050" y="1922463"/>
          <p14:tracePt t="140933" x="6159500" y="1822450"/>
          <p14:tracePt t="140949" x="6215063" y="1700213"/>
          <p14:tracePt t="140967" x="6237288" y="1643063"/>
          <p14:tracePt t="140983" x="6259513" y="1598613"/>
          <p14:tracePt t="141000" x="6259513" y="1587500"/>
          <p14:tracePt t="141016" x="6259513" y="1565275"/>
          <p14:tracePt t="141033" x="6259513" y="1554163"/>
          <p14:tracePt t="141051" x="6259513" y="1543050"/>
          <p14:tracePt t="143170" x="6292850" y="1543050"/>
          <p14:tracePt t="143175" x="6361113" y="1543050"/>
          <p14:tracePt t="143183" x="6416675" y="1543050"/>
          <p14:tracePt t="143200" x="6516688" y="1543050"/>
          <p14:tracePt t="143217" x="6596063" y="1543050"/>
          <p14:tracePt t="143233" x="6684963" y="1543050"/>
          <p14:tracePt t="143250" x="6707188" y="1543050"/>
          <p14:tracePt t="143266" x="6762750" y="1543050"/>
          <p14:tracePt t="143284" x="6796088" y="1554163"/>
          <p14:tracePt t="143300" x="6829425" y="1554163"/>
          <p14:tracePt t="143316" x="6864350" y="1554163"/>
          <p14:tracePt t="143334" x="6886575" y="1554163"/>
          <p14:tracePt t="143350" x="6897688" y="1576388"/>
          <p14:tracePt t="143367" x="6931025" y="1587500"/>
          <p14:tracePt t="143383" x="6964363" y="1587500"/>
          <p14:tracePt t="143400" x="6975475" y="1598613"/>
          <p14:tracePt t="143417" x="6975475" y="1609725"/>
          <p14:tracePt t="143433" x="6997700" y="1620838"/>
          <p14:tracePt t="143466" x="6997700" y="1631950"/>
          <p14:tracePt t="143493" x="6997700" y="1643063"/>
          <p14:tracePt t="143514" x="6997700" y="1654175"/>
          <p14:tracePt t="143528" x="6986588" y="1654175"/>
          <p14:tracePt t="143549" x="6975475" y="1665288"/>
          <p14:tracePt t="143566" x="6964363" y="1677988"/>
          <p14:tracePt t="143583" x="6931025" y="1689100"/>
          <p14:tracePt t="143600" x="6897688" y="1700213"/>
          <p14:tracePt t="143617" x="6840538" y="1722438"/>
          <p14:tracePt t="143633" x="6696075" y="1778000"/>
          <p14:tracePt t="143650" x="6629400" y="1800225"/>
          <p14:tracePt t="143666" x="6516688" y="1833563"/>
          <p14:tracePt t="143683" x="6472238" y="1855788"/>
          <p14:tracePt t="143699" x="6427788" y="1866900"/>
          <p14:tracePt t="143716" x="6405563" y="1878013"/>
          <p14:tracePt t="143734" x="6383338" y="1889125"/>
          <p14:tracePt t="143750" x="6372225" y="1900238"/>
          <p14:tracePt t="143766" x="6372225" y="1911350"/>
          <p14:tracePt t="143783" x="6372225" y="1922463"/>
          <p14:tracePt t="143799" x="6372225" y="1957388"/>
          <p14:tracePt t="143818" x="6372225" y="2001838"/>
          <p14:tracePt t="143833" x="6372225" y="2057400"/>
          <p14:tracePt t="143851" x="6383338" y="2057400"/>
          <p14:tracePt t="143866" x="6405563" y="2079625"/>
          <p14:tracePt t="143884" x="6461125" y="2090738"/>
          <p14:tracePt t="143899" x="6538913" y="2112963"/>
          <p14:tracePt t="143916" x="6729413" y="2124075"/>
          <p14:tracePt t="143934" x="6875463" y="2079625"/>
          <p14:tracePt t="143950" x="7019925" y="2046288"/>
          <p14:tracePt t="143967" x="7086600" y="2012950"/>
          <p14:tracePt t="143968" x="7132638" y="2001838"/>
          <p14:tracePt t="143983" x="7154863" y="1990725"/>
          <p14:tracePt t="144000" x="7243763" y="1957388"/>
          <p14:tracePt t="144016" x="7288213" y="1935163"/>
          <p14:tracePt t="144033" x="7332663" y="1911350"/>
          <p14:tracePt t="144050" x="7343775" y="1900238"/>
          <p14:tracePt t="144067" x="7366000" y="1878013"/>
          <p14:tracePt t="144083" x="7366000" y="1866900"/>
          <p14:tracePt t="144100" x="7366000" y="1855788"/>
          <p14:tracePt t="144116" x="7366000" y="1844675"/>
          <p14:tracePt t="144133" x="7354888" y="1833563"/>
          <p14:tracePt t="144150" x="7254875" y="1800225"/>
          <p14:tracePt t="144167" x="7132638" y="1755775"/>
          <p14:tracePt t="144183" x="6886575" y="1711325"/>
          <p14:tracePt t="144200" x="6751638" y="1711325"/>
          <p14:tracePt t="144217" x="6618288" y="1711325"/>
          <p14:tracePt t="144219" x="6538913" y="1722438"/>
          <p14:tracePt t="144233" x="6450013" y="1744663"/>
          <p14:tracePt t="144250" x="6383338" y="1766888"/>
          <p14:tracePt t="144267" x="6292850" y="1789113"/>
          <p14:tracePt t="144283" x="6270625" y="1811338"/>
          <p14:tracePt t="144300" x="6248400" y="1844675"/>
          <p14:tracePt t="144316" x="6181725" y="1900238"/>
          <p14:tracePt t="144334" x="6159500" y="1957388"/>
          <p14:tracePt t="144350" x="6092825" y="2124075"/>
          <p14:tracePt t="144366" x="6059488" y="2225675"/>
          <p14:tracePt t="144368" x="6046788" y="2281238"/>
          <p14:tracePt t="144382" x="5991225" y="2370138"/>
          <p14:tracePt t="144399" x="5924550" y="2436813"/>
          <p14:tracePt t="144417" x="5791200" y="2527300"/>
          <p14:tracePt t="144432" x="5410200" y="2671763"/>
          <p14:tracePt t="144450" x="5064125" y="2751138"/>
          <p14:tracePt t="144466" x="4627563" y="2840038"/>
          <p14:tracePt t="144483" x="4225925" y="2840038"/>
          <p14:tracePt t="144499" x="3867150" y="2840038"/>
          <p14:tracePt t="144516" x="3421063" y="2840038"/>
          <p14:tracePt t="144534" x="3219450" y="2840038"/>
          <p14:tracePt t="144550" x="3073400" y="2840038"/>
          <p14:tracePt t="144567" x="3028950" y="2840038"/>
          <p14:tracePt t="144583" x="2995613" y="2840038"/>
          <p14:tracePt t="144901" x="2973388" y="2906713"/>
          <p14:tracePt t="144908" x="2962275" y="2974975"/>
          <p14:tracePt t="144933" x="2928938" y="3208338"/>
          <p14:tracePt t="144949" x="2917825" y="3443288"/>
          <p14:tracePt t="144966" x="2917825" y="3567113"/>
          <p14:tracePt t="144983" x="2917825" y="3700463"/>
          <p14:tracePt t="144999" x="2917825" y="3857625"/>
          <p14:tracePt t="145016" x="2928938" y="3913188"/>
          <p14:tracePt t="145033" x="2940050" y="3957638"/>
          <p14:tracePt t="145049" x="2962275" y="3968750"/>
          <p14:tracePt t="145066" x="2995613" y="3968750"/>
          <p14:tracePt t="145404" x="2962275" y="3979863"/>
          <p14:tracePt t="145411" x="2862263" y="4025900"/>
          <p14:tracePt t="145418" x="2760663" y="4070350"/>
          <p14:tracePt t="145433" x="2582863" y="4137025"/>
          <p14:tracePt t="145449" x="2414588" y="4203700"/>
          <p14:tracePt t="145467" x="2257425" y="4260850"/>
          <p14:tracePt t="145483" x="2068513" y="4305300"/>
          <p14:tracePt t="145501" x="1966913" y="4316413"/>
          <p14:tracePt t="145516" x="1811338" y="4338638"/>
          <p14:tracePt t="145533" x="1720850" y="4338638"/>
          <p14:tracePt t="145549" x="1554163" y="4338638"/>
          <p14:tracePt t="145566" x="1452563" y="4338638"/>
          <p14:tracePt t="145586" x="1285875" y="4327525"/>
          <p14:tracePt t="145599" x="1184275" y="4327525"/>
          <p14:tracePt t="145616" x="1084263" y="4316413"/>
          <p14:tracePt t="145633" x="1006475" y="4305300"/>
          <p14:tracePt t="145649" x="962025" y="4294188"/>
          <p14:tracePt t="145667" x="938213" y="4294188"/>
          <p14:tracePt t="145683" x="915988" y="4294188"/>
          <p14:tracePt t="145699" x="904875" y="4283075"/>
          <p14:tracePt t="145733" x="904875" y="4271963"/>
          <p14:tracePt t="145756" x="904875" y="4260850"/>
          <p14:tracePt t="145782" x="915988" y="4260850"/>
          <p14:tracePt t="145799" x="950913" y="4260850"/>
          <p14:tracePt t="145816" x="973138" y="4249738"/>
          <p14:tracePt t="145833" x="1006475" y="4237038"/>
          <p14:tracePt t="145849" x="1062038" y="4237038"/>
          <p14:tracePt t="145867" x="1150938" y="4237038"/>
          <p14:tracePt t="145883" x="1308100" y="4271963"/>
          <p14:tracePt t="145900" x="1430338" y="4283075"/>
          <p14:tracePt t="145916" x="1565275" y="4305300"/>
          <p14:tracePt t="145933" x="1665288" y="4316413"/>
          <p14:tracePt t="145949" x="1822450" y="4349750"/>
          <p14:tracePt t="145967" x="1989138" y="4371975"/>
          <p14:tracePt t="145983" x="2146300" y="4394200"/>
          <p14:tracePt t="146000" x="2359025" y="4405313"/>
          <p14:tracePt t="146016" x="2503488" y="4438650"/>
          <p14:tracePt t="146033" x="2627313" y="4449763"/>
          <p14:tracePt t="146049" x="2671763" y="4460875"/>
          <p14:tracePt t="146066" x="2705100" y="4460875"/>
          <p14:tracePt t="146083" x="2716213" y="4460875"/>
          <p14:tracePt t="146099" x="2727325" y="4460875"/>
          <p14:tracePt t="146117" x="2738438" y="4460875"/>
          <p14:tracePt t="146133" x="2749550" y="4460875"/>
          <p14:tracePt t="146150" x="2760663" y="4460875"/>
          <p14:tracePt t="146167" x="2771775" y="4460875"/>
          <p14:tracePt t="146993" x="2738438" y="4460875"/>
          <p14:tracePt t="146999" x="2638425" y="4449763"/>
          <p14:tracePt t="147016" x="2470150" y="4405313"/>
          <p14:tracePt t="147033" x="2268538" y="4360863"/>
          <p14:tracePt t="147049" x="2168525" y="4338638"/>
          <p14:tracePt t="147066" x="2079625" y="4316413"/>
          <p14:tracePt t="147083" x="1944688" y="4283075"/>
          <p14:tracePt t="147099" x="1844675" y="4260850"/>
          <p14:tracePt t="147115" x="1698625" y="4225925"/>
          <p14:tracePt t="147133" x="1631950" y="4214813"/>
          <p14:tracePt t="147149" x="1554163" y="4181475"/>
          <p14:tracePt t="147166" x="1487488" y="4159250"/>
          <p14:tracePt t="147183" x="1463675" y="4159250"/>
          <p14:tracePt t="147199" x="1430338" y="4148138"/>
          <p14:tracePt t="147216" x="1408113" y="4148138"/>
          <p14:tracePt t="147232" x="1397000" y="4148138"/>
          <p14:tracePt t="147249" x="1385888" y="4148138"/>
          <p14:tracePt t="147723" x="1408113" y="4148138"/>
          <p14:tracePt t="147732" x="1463675" y="4159250"/>
          <p14:tracePt t="147749" x="1598613" y="4192588"/>
          <p14:tracePt t="147766" x="1687513" y="4214813"/>
          <p14:tracePt t="147783" x="1778000" y="4249738"/>
          <p14:tracePt t="147799" x="1989138" y="4283075"/>
          <p14:tracePt t="147816" x="2157413" y="4316413"/>
          <p14:tracePt t="147832" x="2370138" y="4349750"/>
          <p14:tracePt t="147849" x="2481263" y="4371975"/>
          <p14:tracePt t="147867" x="2571750" y="4383088"/>
          <p14:tracePt t="147869" x="2616200" y="4383088"/>
          <p14:tracePt t="147882" x="2727325" y="4416425"/>
          <p14:tracePt t="147899" x="2884488" y="4427538"/>
          <p14:tracePt t="147916" x="3084513" y="4449763"/>
          <p14:tracePt t="147932" x="3186113" y="4449763"/>
          <p14:tracePt t="147950" x="3252788" y="4471988"/>
          <p14:tracePt t="147950" x="3297238" y="4483100"/>
          <p14:tracePt t="147966" x="3330575" y="4483100"/>
          <p14:tracePt t="147984" x="3352800" y="4483100"/>
          <p14:tracePt t="148000" x="3387725" y="4483100"/>
          <p14:tracePt t="148018" x="3398838" y="4483100"/>
          <p14:tracePt t="148094" x="3387725" y="4483100"/>
          <p14:tracePt t="148101" x="3376613" y="4483100"/>
          <p14:tracePt t="148116" x="3365500" y="4483100"/>
          <p14:tracePt t="148132" x="3341688" y="4483100"/>
          <p14:tracePt t="148149" x="3308350" y="4483100"/>
          <p14:tracePt t="148166" x="3197225" y="4483100"/>
          <p14:tracePt t="148183" x="3062288" y="4460875"/>
          <p14:tracePt t="148199" x="2693988" y="4427538"/>
          <p14:tracePt t="148217" x="2425700" y="4394200"/>
          <p14:tracePt t="148232" x="2057400" y="4349750"/>
          <p14:tracePt t="148249" x="1866900" y="4327525"/>
          <p14:tracePt t="148267" x="1743075" y="4305300"/>
          <p14:tracePt t="148268" x="1676400" y="4283075"/>
          <p14:tracePt t="148282" x="1565275" y="4260850"/>
          <p14:tracePt t="148299" x="1419225" y="4237038"/>
          <p14:tracePt t="148316" x="1241425" y="4181475"/>
          <p14:tracePt t="148332" x="1162050" y="4159250"/>
          <p14:tracePt t="148350" x="1084263" y="4137025"/>
          <p14:tracePt t="148366" x="984250" y="4114800"/>
          <p14:tracePt t="148383" x="927100" y="4092575"/>
          <p14:tracePt t="148399" x="838200" y="4070350"/>
          <p14:tracePt t="148416" x="771525" y="4048125"/>
          <p14:tracePt t="148433" x="727075" y="4037013"/>
          <p14:tracePt t="148449" x="693738" y="4025900"/>
          <p14:tracePt t="148467" x="669925" y="4014788"/>
          <p14:tracePt t="148483" x="658813" y="4014788"/>
          <p14:tracePt t="148499" x="647700" y="4014788"/>
          <p14:tracePt t="148551" x="658813" y="4014788"/>
          <p14:tracePt t="148556" x="669925" y="4014788"/>
          <p14:tracePt t="148566" x="682625" y="4014788"/>
          <p14:tracePt t="148584" x="693738" y="4014788"/>
          <p14:tracePt t="148600" x="727075" y="4014788"/>
          <p14:tracePt t="148616" x="760413" y="4014788"/>
          <p14:tracePt t="148632" x="849313" y="4014788"/>
          <p14:tracePt t="148649" x="950913" y="4025900"/>
          <p14:tracePt t="148670" x="1173163" y="4070350"/>
          <p14:tracePt t="148682" x="1341438" y="4114800"/>
          <p14:tracePt t="148699" x="1487488" y="4148138"/>
          <p14:tracePt t="148716" x="1743075" y="4192588"/>
          <p14:tracePt t="148735" x="1944688" y="4237038"/>
          <p14:tracePt t="148738" x="2035175" y="4260850"/>
          <p14:tracePt t="148749" x="2124075" y="4271963"/>
          <p14:tracePt t="148766" x="2414588" y="4338638"/>
          <p14:tracePt t="148784" x="2536825" y="4349750"/>
          <p14:tracePt t="148800" x="2727325" y="4371975"/>
          <p14:tracePt t="148816" x="2828925" y="4371975"/>
          <p14:tracePt t="148833" x="2951163" y="4405313"/>
          <p14:tracePt t="148850" x="3006725" y="4416425"/>
          <p14:tracePt t="148867" x="3051175" y="4416425"/>
          <p14:tracePt t="148882" x="3108325" y="4416425"/>
          <p14:tracePt t="148900" x="3141663" y="4416425"/>
          <p14:tracePt t="148916" x="3163888" y="4416425"/>
          <p14:tracePt t="148933" x="3186113" y="4416425"/>
          <p14:tracePt t="148949" x="3197225" y="4416425"/>
          <p14:tracePt t="148966" x="3208338" y="4416425"/>
          <p14:tracePt t="148986" x="3219450" y="4416425"/>
          <p14:tracePt t="149138" x="3208338" y="4416425"/>
          <p14:tracePt t="149150" x="3197225" y="4416425"/>
          <p14:tracePt t="149166" x="3175000" y="4427538"/>
          <p14:tracePt t="149183" x="3152775" y="4438650"/>
          <p14:tracePt t="149200" x="3130550" y="4438650"/>
          <p14:tracePt t="149215" x="3097213" y="4438650"/>
          <p14:tracePt t="149233" x="3040063" y="4438650"/>
          <p14:tracePt t="149249" x="2906713" y="4427538"/>
          <p14:tracePt t="149266" x="2782888" y="4416425"/>
          <p14:tracePt t="149282" x="2481263" y="4349750"/>
          <p14:tracePt t="149299" x="2268538" y="4316413"/>
          <p14:tracePt t="149316" x="1966913" y="4249738"/>
          <p14:tracePt t="149332" x="1789113" y="4203700"/>
          <p14:tracePt t="149350" x="1643063" y="4170363"/>
          <p14:tracePt t="149366" x="1408113" y="4114800"/>
          <p14:tracePt t="149384" x="1230313" y="4070350"/>
          <p14:tracePt t="149399" x="973138" y="3992563"/>
          <p14:tracePt t="149416" x="838200" y="3957638"/>
          <p14:tracePt t="149433" x="715963" y="3913188"/>
          <p14:tracePt t="149450" x="658813" y="3890963"/>
          <p14:tracePt t="149468" x="603250" y="3868738"/>
          <p14:tracePt t="149482" x="581025" y="3857625"/>
          <p14:tracePt t="149499" x="569913" y="3846513"/>
          <p14:tracePt t="149516" x="558800" y="3846513"/>
          <p14:tracePt t="149571" x="569913" y="3846513"/>
          <p14:tracePt t="149578" x="581025" y="3846513"/>
          <p14:tracePt t="149584" x="592138" y="3846513"/>
          <p14:tracePt t="149599" x="603250" y="3846513"/>
          <p14:tracePt t="149616" x="625475" y="3846513"/>
          <p14:tracePt t="149649" x="804863" y="3857625"/>
          <p14:tracePt t="149666" x="950913" y="3902075"/>
          <p14:tracePt t="149683" x="1397000" y="3992563"/>
          <p14:tracePt t="149699" x="1709738" y="4059238"/>
          <p14:tracePt t="149716" x="2135188" y="4170363"/>
          <p14:tracePt t="149733" x="2336800" y="4214813"/>
          <p14:tracePt t="149749" x="2547938" y="4249738"/>
          <p14:tracePt t="149766" x="2794000" y="4305300"/>
          <p14:tracePt t="149783" x="2940050" y="4338638"/>
          <p14:tracePt t="149799" x="3062288" y="4371975"/>
          <p14:tracePt t="149817" x="3119438" y="4383088"/>
          <p14:tracePt t="149833" x="3163888" y="4394200"/>
          <p14:tracePt t="149849" x="3263900" y="4438650"/>
          <p14:tracePt t="149869" x="3330575" y="4460875"/>
          <p14:tracePt t="149882" x="3365500" y="4471988"/>
          <p14:tracePt t="149899" x="3376613" y="4471988"/>
          <p14:tracePt t="149916" x="3398838" y="4471988"/>
          <p14:tracePt t="149933" x="3409950" y="4471988"/>
          <p14:tracePt t="149949" x="3421063" y="4471988"/>
          <p14:tracePt t="149992" x="3432175" y="4471988"/>
          <p14:tracePt t="150005" x="3443288" y="4471988"/>
          <p14:tracePt t="150675" x="3241675" y="4471988"/>
          <p14:tracePt t="150680" x="2917825" y="4471988"/>
          <p14:tracePt t="150699" x="2503488" y="4471988"/>
          <p14:tracePt t="150716" x="2011363" y="4471988"/>
          <p14:tracePt t="150732" x="1789113" y="4471988"/>
          <p14:tracePt t="150752" x="1598613" y="4471988"/>
          <p14:tracePt t="150765" x="1520825" y="4471988"/>
          <p14:tracePt t="150782" x="1463675" y="4471988"/>
          <p14:tracePt t="150799" x="1419225" y="4471988"/>
          <p14:tracePt t="150816" x="1408113" y="4471988"/>
          <p14:tracePt t="150832" x="1397000" y="4471988"/>
          <p14:tracePt t="150874" x="1408113" y="4471988"/>
          <p14:tracePt t="150887" x="1419225" y="4471988"/>
          <p14:tracePt t="150899" x="1441450" y="4471988"/>
          <p14:tracePt t="150915" x="1531938" y="4471988"/>
          <p14:tracePt t="150933" x="1676400" y="4471988"/>
          <p14:tracePt t="150949" x="1989138" y="4471988"/>
          <p14:tracePt t="150966" x="2671763" y="4427538"/>
          <p14:tracePt t="150982" x="3097213" y="4427538"/>
          <p14:tracePt t="150999" x="3498850" y="4416425"/>
          <p14:tracePt t="151016" x="3621088" y="4416425"/>
          <p14:tracePt t="151034" x="3711575" y="4416425"/>
          <p14:tracePt t="151036" x="3733800" y="4416425"/>
          <p14:tracePt t="151049" x="3778250" y="4405313"/>
          <p14:tracePt t="151066" x="3789363" y="4405313"/>
          <p14:tracePt t="151083" x="3811588" y="4405313"/>
          <p14:tracePt t="151099" x="3833813" y="4405313"/>
          <p14:tracePt t="151116" x="3844925" y="4394200"/>
          <p14:tracePt t="151461" x="3946525" y="4327525"/>
          <p14:tracePt t="151468" x="4170363" y="4181475"/>
          <p14:tracePt t="151482" x="4729163" y="3790950"/>
          <p14:tracePt t="151499" x="5376863" y="3343275"/>
          <p14:tracePt t="151516" x="6115050" y="2840038"/>
          <p14:tracePt t="151533" x="6427788" y="2616200"/>
          <p14:tracePt t="151550" x="6629400" y="2482850"/>
          <p14:tracePt t="151566" x="6807200" y="2336800"/>
          <p14:tracePt t="151583" x="6897688" y="2281238"/>
          <p14:tracePt t="151599" x="6975475" y="2236788"/>
          <p14:tracePt t="151616" x="7019925" y="2203450"/>
          <p14:tracePt t="151637" x="7086600" y="2168525"/>
          <p14:tracePt t="151649" x="7154863" y="2124075"/>
          <p14:tracePt t="151668" x="7199313" y="2079625"/>
          <p14:tracePt t="152213" x="7299325" y="2068513"/>
          <p14:tracePt t="152219" x="7500938" y="2035175"/>
          <p14:tracePt t="152232" x="7691438" y="1990725"/>
          <p14:tracePt t="152249" x="8148638" y="1900238"/>
          <p14:tracePt t="152266" x="8361363" y="1855788"/>
          <p14:tracePt t="152282" x="8640763" y="1811338"/>
          <p14:tracePt t="152299" x="8764588" y="1811338"/>
          <p14:tracePt t="152316" x="8864600" y="1800225"/>
          <p14:tracePt t="152332" x="8953500" y="1800225"/>
          <p14:tracePt t="152349" x="8997950" y="1789113"/>
          <p14:tracePt t="152366" x="9077325" y="1766888"/>
          <p14:tracePt t="161544" x="8775700" y="1711325"/>
          <p14:tracePt t="161550" x="8596313" y="1711325"/>
          <p14:tracePt t="161565" x="8283575" y="1711325"/>
          <p14:tracePt t="161582" x="7993063" y="1711325"/>
          <p14:tracePt t="161599" x="7680325" y="1711325"/>
          <p14:tracePt t="161615" x="7232650" y="1700213"/>
          <p14:tracePt t="161631" x="6986588" y="1677988"/>
          <p14:tracePt t="161648" x="6751638" y="1677988"/>
          <p14:tracePt t="161665" x="6662738" y="1677988"/>
          <p14:tracePt t="161681" x="6561138" y="1677988"/>
          <p14:tracePt t="161698" x="6516688" y="1677988"/>
          <p14:tracePt t="161715" x="6472238" y="1677988"/>
          <p14:tracePt t="161732" x="6450013" y="1677988"/>
          <p14:tracePt t="161749" x="6438900" y="1677988"/>
          <p14:tracePt t="161806" x="6450013" y="1677988"/>
          <p14:tracePt t="161812" x="6461125" y="1677988"/>
          <p14:tracePt t="161819" x="6483350" y="1677988"/>
          <p14:tracePt t="161832" x="6505575" y="1677988"/>
          <p14:tracePt t="161848" x="6640513" y="1689100"/>
          <p14:tracePt t="161865" x="6807200" y="1722438"/>
          <p14:tracePt t="161881" x="7042150" y="1778000"/>
          <p14:tracePt t="161900" x="7165975" y="1811338"/>
          <p14:tracePt t="161904" x="7221538" y="1811338"/>
          <p14:tracePt t="161915" x="7254875" y="1822450"/>
          <p14:tracePt t="161931" x="7354888" y="1833563"/>
          <p14:tracePt t="161948" x="7423150" y="1844675"/>
          <p14:tracePt t="161965" x="7534275" y="1855788"/>
          <p14:tracePt t="161982" x="7623175" y="1855788"/>
          <p14:tracePt t="161999" x="7691438" y="1844675"/>
          <p14:tracePt t="163290" x="7669213" y="1844675"/>
          <p14:tracePt t="163296" x="7634288" y="1844675"/>
          <p14:tracePt t="163303" x="7612063" y="1844675"/>
          <p14:tracePt t="163315" x="7567613" y="1844675"/>
          <p14:tracePt t="163332" x="7467600" y="1855788"/>
          <p14:tracePt t="163349" x="7400925" y="1878013"/>
          <p14:tracePt t="163366" x="7343775" y="1889125"/>
          <p14:tracePt t="163382" x="7288213" y="1900238"/>
          <p14:tracePt t="163399" x="7277100" y="1911350"/>
          <p14:tracePt t="163415" x="7243763" y="1922463"/>
          <p14:tracePt t="163432" x="7221538" y="1935163"/>
          <p14:tracePt t="163449" x="7221538" y="1946275"/>
          <p14:tracePt t="163489" x="7221538" y="1957388"/>
          <p14:tracePt t="163552" x="7232650" y="1957388"/>
          <p14:tracePt t="163558" x="7243763" y="1957388"/>
          <p14:tracePt t="163567" x="7254875" y="1957388"/>
          <p14:tracePt t="163582" x="7299325" y="1957388"/>
          <p14:tracePt t="163599" x="7366000" y="1968500"/>
          <p14:tracePt t="163615" x="7500938" y="1990725"/>
          <p14:tracePt t="163632" x="7612063" y="2001838"/>
          <p14:tracePt t="163648" x="7713663" y="2012950"/>
          <p14:tracePt t="163665" x="7924800" y="2035175"/>
          <p14:tracePt t="163682" x="8070850" y="2046288"/>
          <p14:tracePt t="163699" x="8261350" y="2079625"/>
          <p14:tracePt t="163716" x="8361363" y="2101850"/>
          <p14:tracePt t="163732" x="8518525" y="2124075"/>
          <p14:tracePt t="163749" x="8585200" y="2146300"/>
          <p14:tracePt t="163766" x="8662988" y="2179638"/>
          <p14:tracePt t="163782" x="8753475" y="2203450"/>
          <p14:tracePt t="163799" x="8786813" y="2203450"/>
          <p14:tracePt t="165706" x="8742363" y="2214563"/>
          <p14:tracePt t="165712" x="8640763" y="2225675"/>
          <p14:tracePt t="165718" x="8507413" y="2281238"/>
          <p14:tracePt t="165732" x="8383588" y="2336800"/>
          <p14:tracePt t="165748" x="7891463" y="2527300"/>
          <p14:tracePt t="165766" x="7567613" y="2660650"/>
          <p14:tracePt t="165782" x="7165975" y="2828925"/>
          <p14:tracePt t="165798" x="6964363" y="2928938"/>
          <p14:tracePt t="165815" x="6796088" y="3030538"/>
          <p14:tracePt t="165832" x="6640513" y="3152775"/>
          <p14:tracePt t="165848" x="6538913" y="3221038"/>
          <p14:tracePt t="165865" x="6405563" y="3332163"/>
          <p14:tracePt t="165883" x="6350000" y="3387725"/>
          <p14:tracePt t="165898" x="6270625" y="3465513"/>
          <p14:tracePt t="165915" x="6237288" y="3489325"/>
          <p14:tracePt t="165932" x="6203950" y="3511550"/>
          <p14:tracePt t="165951" x="6192838" y="3544888"/>
          <p14:tracePt t="165965" x="6170613" y="3578225"/>
          <p14:tracePt t="165982" x="6148388" y="3611563"/>
          <p14:tracePt t="165999" x="6137275" y="3644900"/>
          <p14:tracePt t="166016" x="6126163" y="3689350"/>
          <p14:tracePt t="166032" x="6126163" y="3757613"/>
          <p14:tracePt t="166049" x="6126163" y="3813175"/>
          <p14:tracePt t="166065" x="6148388" y="3857625"/>
          <p14:tracePt t="166082" x="6181725" y="3868738"/>
          <p14:tracePt t="166099" x="6192838" y="3879850"/>
          <p14:tracePt t="166115" x="6270625" y="3879850"/>
          <p14:tracePt t="166132" x="6350000" y="3846513"/>
          <p14:tracePt t="166148" x="6461125" y="3813175"/>
          <p14:tracePt t="166165" x="6527800" y="3790950"/>
          <p14:tracePt t="166181" x="6596063" y="3757613"/>
          <p14:tracePt t="166199" x="6629400" y="3735388"/>
          <p14:tracePt t="166216" x="6662738" y="3722688"/>
          <p14:tracePt t="166232" x="6718300" y="3700463"/>
          <p14:tracePt t="166249" x="6729413" y="3667125"/>
          <p14:tracePt t="166597" x="6829425" y="3667125"/>
          <p14:tracePt t="166616" x="7188200" y="3622675"/>
          <p14:tracePt t="166617" x="7366000" y="3611563"/>
          <p14:tracePt t="166631" x="7702550" y="3611563"/>
          <p14:tracePt t="166648" x="7937500" y="3611563"/>
          <p14:tracePt t="166665" x="8093075" y="3611563"/>
          <p14:tracePt t="166683" x="8216900" y="3633788"/>
          <p14:tracePt t="166699" x="8272463" y="3633788"/>
          <p14:tracePt t="166715" x="8350250" y="3667125"/>
          <p14:tracePt t="166732" x="8394700" y="3689350"/>
          <p14:tracePt t="166749" x="8416925" y="3711575"/>
          <p14:tracePt t="166765" x="8439150" y="3735388"/>
          <p14:tracePt t="166782" x="8439150" y="3757613"/>
          <p14:tracePt t="166810" x="8439150" y="3768725"/>
          <p14:tracePt t="166831" x="8439150" y="3790950"/>
          <p14:tracePt t="166849" x="8439150" y="3813175"/>
          <p14:tracePt t="166865" x="8439150" y="3824288"/>
          <p14:tracePt t="166882" x="8439150" y="3846513"/>
          <p14:tracePt t="166899" x="8439150" y="3857625"/>
          <p14:tracePt t="166915" x="8439150" y="3879850"/>
          <p14:tracePt t="166932" x="8439150" y="3890963"/>
          <p14:tracePt t="166964" x="8439150" y="3902075"/>
          <p14:tracePt t="166996" x="8428038" y="3902075"/>
          <p14:tracePt t="167030" x="8416925" y="3902075"/>
          <p14:tracePt t="167128" x="8416925" y="3890963"/>
          <p14:tracePt t="167141" x="8416925" y="3879850"/>
          <p14:tracePt t="167155" x="8416925" y="3868738"/>
          <p14:tracePt t="167182" x="8416925" y="3857625"/>
          <p14:tracePt t="167184" x="8405813" y="3857625"/>
          <p14:tracePt t="167198" x="8405813" y="3846513"/>
          <p14:tracePt t="167216" x="8405813" y="3835400"/>
          <p14:tracePt t="167231" x="8372475" y="3824288"/>
          <p14:tracePt t="167248" x="8316913" y="3790950"/>
          <p14:tracePt t="167265" x="8239125" y="3735388"/>
          <p14:tracePt t="167282" x="8048625" y="3622675"/>
          <p14:tracePt t="167298" x="7891463" y="3522663"/>
          <p14:tracePt t="167315" x="7713663" y="3376613"/>
          <p14:tracePt t="167332" x="7623175" y="3309938"/>
          <p14:tracePt t="167349" x="7489825" y="3208338"/>
          <p14:tracePt t="167365" x="7423150" y="3163888"/>
          <p14:tracePt t="167382" x="7366000" y="3119438"/>
          <p14:tracePt t="167383" x="7343775" y="3097213"/>
          <p14:tracePt t="167398" x="7299325" y="3074988"/>
          <p14:tracePt t="167415" x="7277100" y="3052763"/>
          <p14:tracePt t="167432" x="7254875" y="3030538"/>
          <p14:tracePt t="167449" x="7243763" y="3019425"/>
          <p14:tracePt t="167466" x="7243763" y="3008313"/>
          <p14:tracePt t="167482" x="7243763" y="2986088"/>
          <p14:tracePt t="171536" x="7154863" y="2986088"/>
          <p14:tracePt t="171540" x="7019925" y="2986088"/>
          <p14:tracePt t="171547" x="6840538" y="2963863"/>
          <p14:tracePt t="171565" x="6505575" y="2928938"/>
          <p14:tracePt t="171581" x="6024563" y="2840038"/>
          <p14:tracePt t="171598" x="5722938" y="2784475"/>
          <p14:tracePt t="171615" x="5410200" y="2717800"/>
          <p14:tracePt t="171631" x="4795838" y="2582863"/>
          <p14:tracePt t="171648" x="4449763" y="2493963"/>
          <p14:tracePt t="171650" x="4314825" y="2449513"/>
          <p14:tracePt t="171664" x="4068763" y="2336800"/>
          <p14:tracePt t="171682" x="3913188" y="2270125"/>
          <p14:tracePt t="171698" x="3789363" y="2214563"/>
          <p14:tracePt t="171715" x="3733800" y="2192338"/>
          <p14:tracePt t="171732" x="3722688" y="2168525"/>
          <p14:tracePt t="171748" x="3700463" y="2157413"/>
          <p14:tracePt t="171765" x="3700463" y="2146300"/>
          <p14:tracePt t="171782" x="3700463" y="2112963"/>
          <p14:tracePt t="172070" x="3587750" y="2112963"/>
          <p14:tracePt t="172082" x="3432175" y="2112963"/>
          <p14:tracePt t="172099" x="2828925" y="2057400"/>
          <p14:tracePt t="172115" x="2536825" y="2024063"/>
          <p14:tracePt t="172132" x="2303463" y="2012950"/>
          <p14:tracePt t="172149" x="2090738" y="1990725"/>
          <p14:tracePt t="172165" x="2000250" y="1979613"/>
          <p14:tracePt t="172182" x="1900238" y="1968500"/>
          <p14:tracePt t="172199" x="1855788" y="1968500"/>
          <p14:tracePt t="172216" x="1822450" y="1968500"/>
          <p14:tracePt t="172232" x="1800225" y="1968500"/>
          <p14:tracePt t="172271" x="1811338" y="1979613"/>
          <p14:tracePt t="172277" x="1811338" y="1990725"/>
          <p14:tracePt t="172284" x="1822450" y="1990725"/>
          <p14:tracePt t="172298" x="1833563" y="2035175"/>
          <p14:tracePt t="172315" x="1844675" y="2090738"/>
          <p14:tracePt t="172332" x="1866900" y="2203450"/>
          <p14:tracePt t="172348" x="1900238" y="2403475"/>
          <p14:tracePt t="172365" x="1922463" y="2538413"/>
          <p14:tracePt t="172382" x="1944688" y="2671763"/>
          <p14:tracePt t="172398" x="1955800" y="2740025"/>
          <p14:tracePt t="172415" x="1966913" y="2806700"/>
          <p14:tracePt t="172431" x="1978025" y="2884488"/>
          <p14:tracePt t="172448" x="1989138" y="2951163"/>
          <p14:tracePt t="172464" x="2011363" y="3052763"/>
          <p14:tracePt t="172481" x="2024063" y="3108325"/>
          <p14:tracePt t="172498" x="2035175" y="3152775"/>
          <p14:tracePt t="172515" x="2046288" y="3197225"/>
          <p14:tracePt t="172532" x="2068513" y="3232150"/>
          <p14:tracePt t="172548" x="2090738" y="3254375"/>
          <p14:tracePt t="172565" x="2101850" y="3276600"/>
          <p14:tracePt t="172582" x="2112963" y="3298825"/>
          <p14:tracePt t="172599" x="2124075" y="3298825"/>
          <p14:tracePt t="172616" x="2135188" y="3309938"/>
          <p14:tracePt t="172632" x="2146300" y="3321050"/>
          <p14:tracePt t="172648" x="2168525" y="3332163"/>
          <p14:tracePt t="172665" x="2224088" y="3343275"/>
          <p14:tracePt t="172682" x="2292350" y="3343275"/>
          <p14:tracePt t="172698" x="2381250" y="3343275"/>
          <p14:tracePt t="172699" x="2436813" y="3343275"/>
          <p14:tracePt t="172714" x="2536825" y="3343275"/>
          <p14:tracePt t="172732" x="2727325" y="3321050"/>
          <p14:tracePt t="172748" x="3263900" y="3254375"/>
          <p14:tracePt t="172765" x="3711575" y="3197225"/>
          <p14:tracePt t="172781" x="4370388" y="3097213"/>
          <p14:tracePt t="172798" x="4672013" y="3052763"/>
          <p14:tracePt t="172815" x="4940300" y="2997200"/>
          <p14:tracePt t="172831" x="5354638" y="2906713"/>
          <p14:tracePt t="172848" x="5634038" y="2895600"/>
          <p14:tracePt t="172865" x="5991225" y="2862263"/>
          <p14:tracePt t="172881" x="6092825" y="2851150"/>
          <p14:tracePt t="172898" x="6170613" y="2828925"/>
          <p14:tracePt t="172899" x="6203950" y="2795588"/>
          <p14:tracePt t="172914" x="6237288" y="2784475"/>
          <p14:tracePt t="173485" x="6259513" y="2627313"/>
          <p14:tracePt t="173492" x="6315075" y="2449513"/>
          <p14:tracePt t="173499" x="6372225" y="2259013"/>
          <p14:tracePt t="173514" x="6438900" y="2001838"/>
          <p14:tracePt t="173531" x="6450013" y="1900238"/>
          <p14:tracePt t="173548" x="6450013" y="1833563"/>
          <p14:tracePt t="173566" x="6450013" y="1800225"/>
          <p14:tracePt t="173582" x="6438900" y="1766888"/>
          <p14:tracePt t="173599" x="6416675" y="1744663"/>
          <p14:tracePt t="173615" x="6405563" y="1733550"/>
          <p14:tracePt t="173631" x="6383338" y="1722438"/>
          <p14:tracePt t="173668" x="6372225" y="1722438"/>
          <p14:tracePt t="173682" x="6361113" y="1722438"/>
          <p14:tracePt t="173699" x="6361113" y="1733550"/>
          <p14:tracePt t="173714" x="6350000" y="1744663"/>
          <p14:tracePt t="173734" x="6338888" y="1744663"/>
          <p14:tracePt t="173747" x="6338888" y="1755775"/>
          <p14:tracePt t="173764" x="6338888" y="1766888"/>
          <p14:tracePt t="173783" x="6338888" y="1778000"/>
          <p14:tracePt t="173798" x="6338888" y="1789113"/>
          <p14:tracePt t="173831" x="6338888" y="1800225"/>
          <p14:tracePt t="173849" x="6338888" y="1811338"/>
          <p14:tracePt t="173872" x="6338888" y="1822450"/>
          <p14:tracePt t="173899" x="6338888" y="1833563"/>
          <p14:tracePt t="173915" x="6338888" y="1844675"/>
          <p14:tracePt t="173931" x="6338888" y="1855788"/>
          <p14:tracePt t="173948" x="6327775" y="1878013"/>
          <p14:tracePt t="173967" x="6315075" y="1878013"/>
          <p14:tracePt t="173981" x="6281738" y="1911350"/>
          <p14:tracePt t="173998" x="6226175" y="1990725"/>
          <p14:tracePt t="174015" x="6192838" y="2035175"/>
          <p14:tracePt t="174031" x="6148388" y="2101850"/>
          <p14:tracePt t="174048" x="6103938" y="2157413"/>
          <p14:tracePt t="174066" x="6092825" y="2192338"/>
          <p14:tracePt t="174067" x="6092825" y="2214563"/>
          <p14:tracePt t="174081" x="6081713" y="2236788"/>
          <p14:tracePt t="174099" x="6081713" y="2259013"/>
          <p14:tracePt t="174114" x="6081713" y="2281238"/>
          <p14:tracePt t="174134" x="6081713" y="2292350"/>
          <p14:tracePt t="174150" x="6081713" y="2303463"/>
          <p14:tracePt t="174273" x="6092825" y="2303463"/>
          <p14:tracePt t="174286" x="6092825" y="2314575"/>
          <p14:tracePt t="178084" x="6181725" y="2314575"/>
          <p14:tracePt t="178089" x="6292850" y="2292350"/>
          <p14:tracePt t="178098" x="6427788" y="2259013"/>
          <p14:tracePt t="178114" x="6618288" y="2225675"/>
          <p14:tracePt t="178132" x="6864350" y="2179638"/>
          <p14:tracePt t="178147" x="6986588" y="2157413"/>
          <p14:tracePt t="178164" x="7132638" y="2124075"/>
          <p14:tracePt t="178181" x="7288213" y="2101850"/>
          <p14:tracePt t="178200" x="7412038" y="2090738"/>
          <p14:tracePt t="178214" x="7478713" y="2068513"/>
          <p14:tracePt t="178231" x="7556500" y="2057400"/>
          <p14:tracePt t="178247" x="7612063" y="2046288"/>
          <p14:tracePt t="178264" x="7713663" y="2035175"/>
          <p14:tracePt t="178283" x="7769225" y="2024063"/>
          <p14:tracePt t="178298" x="7869238" y="2012950"/>
          <p14:tracePt t="178315" x="7948613" y="2001838"/>
          <p14:tracePt t="178333" x="8037513" y="2001838"/>
          <p14:tracePt t="178335" x="8070850" y="2001838"/>
          <p14:tracePt t="178338" x="8115300" y="2001838"/>
          <p14:tracePt t="178348" x="8159750" y="2001838"/>
          <p14:tracePt t="178366" x="8239125" y="1990725"/>
          <p14:tracePt t="178382" x="8383588" y="1990725"/>
          <p14:tracePt t="178398" x="8474075" y="1990725"/>
          <p14:tracePt t="178401" x="8529638" y="1990725"/>
          <p14:tracePt t="178415" x="8640763" y="1990725"/>
          <p14:tracePt t="178431" x="8742363" y="1990725"/>
          <p14:tracePt t="178449" x="8842375" y="1990725"/>
          <p14:tracePt t="178465" x="8964613" y="1990725"/>
          <p14:tracePt t="178483" x="9043988" y="1990725"/>
          <p14:tracePt t="178484" x="9077325" y="1990725"/>
          <p14:tracePt t="178498" x="9132888" y="1979613"/>
          <p14:tracePt t="178914" x="8953500" y="2024063"/>
          <p14:tracePt t="178931" x="8775700" y="2035175"/>
          <p14:tracePt t="178947" x="8496300" y="2035175"/>
          <p14:tracePt t="178965" x="8339138" y="2035175"/>
          <p14:tracePt t="178981" x="8059738" y="2035175"/>
          <p14:tracePt t="178998" x="7902575" y="2035175"/>
          <p14:tracePt t="179015" x="7769225" y="2035175"/>
          <p14:tracePt t="179016" x="7702550" y="2035175"/>
          <p14:tracePt t="179031" x="7578725" y="2035175"/>
          <p14:tracePt t="179049" x="7478713" y="2057400"/>
          <p14:tracePt t="179052" x="7445375" y="2057400"/>
          <p14:tracePt t="179064" x="7366000" y="2068513"/>
          <p14:tracePt t="179081" x="7299325" y="2079625"/>
          <p14:tracePt t="179098" x="7210425" y="2090738"/>
          <p14:tracePt t="179114" x="7188200" y="2101850"/>
          <p14:tracePt t="179132" x="7165975" y="2112963"/>
          <p14:tracePt t="179152" x="7143750" y="2112963"/>
          <p14:tracePt t="179165" x="7132638" y="2112963"/>
          <p14:tracePt t="179182" x="7119938" y="2112963"/>
          <p14:tracePt t="179242" x="7132638" y="2112963"/>
          <p14:tracePt t="179277" x="7143750" y="2112963"/>
          <p14:tracePt t="179298" x="7154863" y="2112963"/>
          <p14:tracePt t="179315" x="7165975" y="2112963"/>
          <p14:tracePt t="179332" x="7177088" y="2101850"/>
          <p14:tracePt t="179347" x="7188200" y="210185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/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/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DIAMANTE 2 · ENTREGAR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</a:rPr>
              <a:t>ENTREGAR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Recomendación y próximos pasos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Shape 7"/>
          <p:cNvSpPr/>
          <p:nvPr/>
        </p:nvSpPr>
        <p:spPr>
          <a:xfrm>
            <a:off x="292608" y="1389888"/>
            <a:ext cx="8558784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17904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CCC"/>
                </a:solidFill>
              </a:rPr>
              <a:t>RECOMENDACIÓN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" y="168249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Seleccionar Proveedor A como proveedor principal de capacitación PCI DSS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92608" y="24688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15" name="Text 12"/>
          <p:cNvSpPr/>
          <p:nvPr/>
        </p:nvSpPr>
        <p:spPr>
          <a:xfrm>
            <a:off x="438912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C2C2C"/>
                </a:solidFill>
              </a:rPr>
              <a:t>JUSTIFICACIÓN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8912" y="284378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7" name="Text 14"/>
          <p:cNvSpPr/>
          <p:nvPr/>
        </p:nvSpPr>
        <p:spPr>
          <a:xfrm>
            <a:off x="640080" y="2788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Mayor score de conocimiento: 94,6 vs 92,1 (B) y 90,0 (C).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8912" y="311810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9" name="Text 16"/>
          <p:cNvSpPr/>
          <p:nvPr/>
        </p:nvSpPr>
        <p:spPr>
          <a:xfrm>
            <a:off x="640080" y="3063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La diferencia de costo VPN </a:t>
            </a:r>
            <a:r>
              <a:rPr lang="en-US" sz="900" dirty="0" err="1">
                <a:solidFill>
                  <a:srgbClr val="666666"/>
                </a:solidFill>
              </a:rPr>
              <a:t>pasa</a:t>
            </a:r>
            <a:r>
              <a:rPr lang="en-US" sz="900" dirty="0">
                <a:solidFill>
                  <a:srgbClr val="666666"/>
                </a:solidFill>
              </a:rPr>
              <a:t> de 68 UF </a:t>
            </a:r>
            <a:r>
              <a:rPr lang="en-US" sz="900" dirty="0" err="1">
                <a:solidFill>
                  <a:srgbClr val="666666"/>
                </a:solidFill>
              </a:rPr>
              <a:t>por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costo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duro</a:t>
            </a:r>
            <a:r>
              <a:rPr lang="en-US" sz="900" dirty="0">
                <a:solidFill>
                  <a:srgbClr val="666666"/>
                </a:solidFill>
              </a:rPr>
              <a:t> a ~5.000 UF </a:t>
            </a:r>
            <a:r>
              <a:rPr lang="en-US" sz="900" dirty="0" err="1">
                <a:solidFill>
                  <a:srgbClr val="666666"/>
                </a:solidFill>
              </a:rPr>
              <a:t>por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riesgo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8912" y="339242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1" name="Text 18"/>
          <p:cNvSpPr/>
          <p:nvPr/>
        </p:nvSpPr>
        <p:spPr>
          <a:xfrm>
            <a:off x="640080" y="3337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Por </a:t>
            </a:r>
            <a:r>
              <a:rPr lang="en-US" sz="900" dirty="0" err="1">
                <a:solidFill>
                  <a:srgbClr val="666666"/>
                </a:solidFill>
              </a:rPr>
              <a:t>los</a:t>
            </a:r>
            <a:r>
              <a:rPr lang="en-US" sz="900" dirty="0">
                <a:solidFill>
                  <a:srgbClr val="666666"/>
                </a:solidFill>
              </a:rPr>
              <a:t> 30.000 UF de exposición al riesgo, invertir en el mejor proveedor es la decisión correcta.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8912" y="366674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3" name="Text 20"/>
          <p:cNvSpPr/>
          <p:nvPr/>
        </p:nvSpPr>
        <p:spPr>
          <a:xfrm>
            <a:off x="64008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Distribución homogénea por cluster valida la comparabilidad del experimento.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24688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25" name="Text 22"/>
          <p:cNvSpPr/>
          <p:nvPr/>
        </p:nvSpPr>
        <p:spPr>
          <a:xfrm>
            <a:off x="4846320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C2C2C"/>
                </a:solidFill>
              </a:rPr>
              <a:t>PRÓXIMOS PASOS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46320" y="2825496"/>
            <a:ext cx="182880" cy="18288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27" name="Text 24"/>
          <p:cNvSpPr/>
          <p:nvPr/>
        </p:nvSpPr>
        <p:spPr>
          <a:xfrm>
            <a:off x="4846320" y="28254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93208" y="27889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Formalizar contrato principal con Proveedor A.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3099816"/>
            <a:ext cx="182880" cy="18288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0" name="Text 27"/>
          <p:cNvSpPr/>
          <p:nvPr/>
        </p:nvSpPr>
        <p:spPr>
          <a:xfrm>
            <a:off x="4846320" y="3099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93208" y="30632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Establecer evaluación anual de re-testing por cluster.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46320" y="3374136"/>
            <a:ext cx="182880" cy="18288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3" name="Text 30"/>
          <p:cNvSpPr/>
          <p:nvPr/>
        </p:nvSpPr>
        <p:spPr>
          <a:xfrm>
            <a:off x="4846320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93208" y="33375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Monitorear score post-test como KPI de capacitación.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3648456"/>
            <a:ext cx="182880" cy="18288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6" name="Text 33"/>
          <p:cNvSpPr/>
          <p:nvPr/>
        </p:nvSpPr>
        <p:spPr>
          <a:xfrm>
            <a:off x="4846320" y="3648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093208" y="36118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Revisar metodología si el score cae &gt;2 puntos.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92608" y="3977640"/>
            <a:ext cx="8558784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39" name="Text 36"/>
          <p:cNvSpPr/>
          <p:nvPr/>
        </p:nvSpPr>
        <p:spPr>
          <a:xfrm>
            <a:off x="438912" y="4041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Recorrido metodológico completado: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697480" y="404164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1" name="Text 38"/>
          <p:cNvSpPr/>
          <p:nvPr/>
        </p:nvSpPr>
        <p:spPr>
          <a:xfrm>
            <a:off x="2697480" y="4078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Descubrir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69748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Contexto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operación actual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3931920" y="4315968"/>
            <a:ext cx="9144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4" name="Shape 41"/>
          <p:cNvSpPr/>
          <p:nvPr/>
        </p:nvSpPr>
        <p:spPr>
          <a:xfrm>
            <a:off x="4069080" y="404164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5" name="Text 42"/>
          <p:cNvSpPr/>
          <p:nvPr/>
        </p:nvSpPr>
        <p:spPr>
          <a:xfrm>
            <a:off x="4069080" y="4078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Definir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06908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Problema 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caso de negocio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303520" y="4315968"/>
            <a:ext cx="9144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8" name="Shape 45"/>
          <p:cNvSpPr/>
          <p:nvPr/>
        </p:nvSpPr>
        <p:spPr>
          <a:xfrm>
            <a:off x="5440680" y="404164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9" name="Text 46"/>
          <p:cNvSpPr/>
          <p:nvPr/>
        </p:nvSpPr>
        <p:spPr>
          <a:xfrm>
            <a:off x="5440680" y="4078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Desarrollar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44068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Metodología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y clustering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675120" y="4315968"/>
            <a:ext cx="9144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2" name="Shape 49"/>
          <p:cNvSpPr/>
          <p:nvPr/>
        </p:nvSpPr>
        <p:spPr>
          <a:xfrm>
            <a:off x="6812280" y="404164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3" name="Text 50"/>
          <p:cNvSpPr/>
          <p:nvPr/>
        </p:nvSpPr>
        <p:spPr>
          <a:xfrm>
            <a:off x="6812280" y="4078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Entregar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81228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A/B Testing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</a:rPr>
              <a:t>y recomendación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6" name="Text 5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8 / 9</a:t>
            </a:r>
            <a:endParaRPr lang="en-US" sz="900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A83BD4ED-9FB8-2BC6-D9C9-F02FFE36930D}"/>
              </a:ext>
            </a:extLst>
          </p:cNvPr>
          <p:cNvSpPr/>
          <p:nvPr/>
        </p:nvSpPr>
        <p:spPr>
          <a:xfrm>
            <a:off x="6537960" y="1389888"/>
            <a:ext cx="2313431" cy="9784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FFFF"/>
                </a:solidFill>
              </a:rPr>
              <a:t>Eficiencia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Analítica</a:t>
            </a:r>
            <a:r>
              <a:rPr lang="en-US" b="1" dirty="0">
                <a:solidFill>
                  <a:srgbClr val="FFFFFF"/>
                </a:solidFill>
              </a:rPr>
              <a:t> 4.872 UF</a:t>
            </a:r>
            <a:endParaRPr lang="es-CL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865"/>
    </mc:Choice>
    <mc:Fallback>
      <p:transition spd="slow" advTm="11286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F482-38B6-1395-56D4-8DA9CDB5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1627C-C450-F74F-7E5D-5B6B811502CD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0EA4BD-A78E-1F71-5469-5650E66C1276}"/>
              </a:ext>
            </a:extLst>
          </p:cNvPr>
          <p:cNvSpPr/>
          <p:nvPr/>
        </p:nvSpPr>
        <p:spPr>
          <a:xfrm>
            <a:off x="274320" y="0"/>
            <a:ext cx="8869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5B3BC5-5925-6D9D-3066-0F8C8373C6D3}"/>
              </a:ext>
            </a:extLst>
          </p:cNvPr>
          <p:cNvSpPr/>
          <p:nvPr/>
        </p:nvSpPr>
        <p:spPr>
          <a:xfrm>
            <a:off x="502920" y="182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</a:rPr>
              <a:t>PROYECTO PEOPLE ANALYTICS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93220F-06EC-4CD5-55C5-DBE9E85EAF5D}"/>
              </a:ext>
            </a:extLst>
          </p:cNvPr>
          <p:cNvSpPr/>
          <p:nvPr/>
        </p:nvSpPr>
        <p:spPr>
          <a:xfrm>
            <a:off x="502920" y="502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Evaluación Inteligente de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Proveedores de Capacitación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E988E6-6592-A607-F677-E01189DED686}"/>
              </a:ext>
            </a:extLst>
          </p:cNvPr>
          <p:cNvSpPr/>
          <p:nvPr/>
        </p:nvSpPr>
        <p:spPr>
          <a:xfrm>
            <a:off x="645592" y="201884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</a:rPr>
              <a:t>Certificación PCI DSS · Metodología Doble Diamante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254D29-9E54-F66F-25BA-AC97EA42C51D}"/>
              </a:ext>
            </a:extLst>
          </p:cNvPr>
          <p:cNvSpPr/>
          <p:nvPr/>
        </p:nvSpPr>
        <p:spPr>
          <a:xfrm>
            <a:off x="645592" y="174416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Autores: Osvaldo Ceballos · Yerko Fuentes · Paloma San Martin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26FBEC5-7A37-E0B8-2E16-080471063BE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8D3B9D-76F0-B79B-4606-E52E6089ED8B}"/>
              </a:ext>
            </a:extLst>
          </p:cNvPr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800" dirty="0"/>
          </a:p>
        </p:txBody>
      </p:sp>
      <p:pic>
        <p:nvPicPr>
          <p:cNvPr id="17" name="Imagen 16" descr="Archivo:Logo Universidad Diego Portales.png">
            <a:extLst>
              <a:ext uri="{FF2B5EF4-FFF2-40B4-BE49-F238E27FC236}">
                <a16:creationId xmlns:a16="http://schemas.microsoft.com/office/drawing/2014/main" id="{D8078DE4-8F73-5E52-C68F-A15843D56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06" y="116944"/>
            <a:ext cx="2243846" cy="546254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63B22B3-E736-3F34-BEB7-BCFAB2580B1C}"/>
              </a:ext>
            </a:extLst>
          </p:cNvPr>
          <p:cNvSpPr/>
          <p:nvPr/>
        </p:nvSpPr>
        <p:spPr>
          <a:xfrm>
            <a:off x="2931592" y="313942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chemeClr val="bg2">
                    <a:lumMod val="25000"/>
                  </a:schemeClr>
                </a:solidFill>
              </a:rPr>
              <a:t>Muchas</a:t>
            </a: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 gracias </a:t>
            </a:r>
            <a:r>
              <a:rPr lang="en-US" sz="3400" b="1" dirty="0" err="1">
                <a:solidFill>
                  <a:schemeClr val="bg2">
                    <a:lumMod val="25000"/>
                  </a:schemeClr>
                </a:solidFill>
              </a:rPr>
              <a:t>por</a:t>
            </a: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bg2">
                    <a:lumMod val="25000"/>
                  </a:schemeClr>
                </a:solidFill>
              </a:rPr>
              <a:t>su</a:t>
            </a: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bg2">
                    <a:lumMod val="25000"/>
                  </a:schemeClr>
                </a:solidFill>
              </a:rPr>
              <a:t>atención</a:t>
            </a: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…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134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95"/>
    </mc:Choice>
    <mc:Fallback>
      <p:transition spd="slow" advTm="7595"/>
    </mc:Fallback>
  </mc:AlternateContent>
  <p:extLst>
    <p:ext uri="{3A86A75C-4F4B-4683-9AE1-C65F6400EC91}">
      <p14:laserTraceLst xmlns:p14="http://schemas.microsoft.com/office/powerpoint/2010/main">
        <p14:tracePtLst>
          <p14:tracePt t="6500" x="6997700" y="1744663"/>
          <p14:tracePt t="6506" x="6618288" y="1117600"/>
          <p14:tracePt t="6517" x="6248400" y="492125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74D4-CB15-B0B8-570E-C274D3A6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D5EDA5-180F-067B-7B54-D048E768423F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A258B5-54FC-DAF3-27BA-9B26F4BBC8CB}"/>
              </a:ext>
            </a:extLst>
          </p:cNvPr>
          <p:cNvSpPr/>
          <p:nvPr/>
        </p:nvSpPr>
        <p:spPr>
          <a:xfrm>
            <a:off x="274320" y="0"/>
            <a:ext cx="8869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9CBCAD-3398-FAF6-F9A0-1283B2B71A53}"/>
              </a:ext>
            </a:extLst>
          </p:cNvPr>
          <p:cNvSpPr/>
          <p:nvPr/>
        </p:nvSpPr>
        <p:spPr>
          <a:xfrm>
            <a:off x="502920" y="182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392B"/>
                </a:solidFill>
              </a:rPr>
              <a:t>PROYECTO PEOPLE ANALYTICS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7FA7BF-10C6-D817-FC8A-762900424637}"/>
              </a:ext>
            </a:extLst>
          </p:cNvPr>
          <p:cNvSpPr/>
          <p:nvPr/>
        </p:nvSpPr>
        <p:spPr>
          <a:xfrm>
            <a:off x="502920" y="502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Evaluación Inteligente de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chemeClr val="bg2">
                    <a:lumMod val="25000"/>
                  </a:schemeClr>
                </a:solidFill>
              </a:rPr>
              <a:t>Proveedores de Capacitación</a:t>
            </a:r>
            <a:endParaRPr lang="en-US" sz="3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873623-27AB-4B57-2274-1AF9AE38B77B}"/>
              </a:ext>
            </a:extLst>
          </p:cNvPr>
          <p:cNvSpPr/>
          <p:nvPr/>
        </p:nvSpPr>
        <p:spPr>
          <a:xfrm>
            <a:off x="645592" y="174416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ANEXOS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67E888B-3E17-DDF4-BE3C-C199B7C5023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B1C0F3-C1B1-72A7-3049-7402C9927749}"/>
              </a:ext>
            </a:extLst>
          </p:cNvPr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800" dirty="0"/>
          </a:p>
        </p:txBody>
      </p:sp>
      <p:pic>
        <p:nvPicPr>
          <p:cNvPr id="17" name="Imagen 16" descr="Archivo:Logo Universidad Diego Portales.png">
            <a:extLst>
              <a:ext uri="{FF2B5EF4-FFF2-40B4-BE49-F238E27FC236}">
                <a16:creationId xmlns:a16="http://schemas.microsoft.com/office/drawing/2014/main" id="{1046428F-2049-1793-E4A9-988859AE9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06" y="116944"/>
            <a:ext cx="2243846" cy="5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E0143-2E06-2E96-F433-4F0AE765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774114-E166-5370-9A70-B55B7678725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032DFE-DD84-21ED-8E43-D9712362DBD4}"/>
              </a:ext>
            </a:extLst>
          </p:cNvPr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C74B33-8B5D-019B-70A4-700AB1C2BCF5}"/>
              </a:ext>
            </a:extLst>
          </p:cNvPr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66122E-3602-22D4-0569-20CFB7C286F9}"/>
              </a:ext>
            </a:extLst>
          </p:cNvPr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ANEXOS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0BC93A-60C4-17A8-0A69-A3DBFF8D9E8C}"/>
              </a:ext>
            </a:extLst>
          </p:cNvPr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756E64-7B62-AF43-A67C-879E9C52EB00}"/>
              </a:ext>
            </a:extLst>
          </p:cNvPr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Datos de Entrada y clustering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D3E7FDF-B2F8-9B9A-C819-2FC1665B484F}"/>
              </a:ext>
            </a:extLst>
          </p:cNvPr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ED7C5585-F419-8F70-8BF4-EE63EC716DF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C7101F6B-3FDB-0310-6D36-2F38445CA05C}"/>
              </a:ext>
            </a:extLst>
          </p:cNvPr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5AF93C30-8458-21B0-D79D-5E2B3BB46730}"/>
              </a:ext>
            </a:extLst>
          </p:cNvPr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9 / 9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38A7FD0-A39D-6469-AA2F-C009492DA854}"/>
              </a:ext>
            </a:extLst>
          </p:cNvPr>
          <p:cNvSpPr/>
          <p:nvPr/>
        </p:nvSpPr>
        <p:spPr>
          <a:xfrm>
            <a:off x="292608" y="1705583"/>
            <a:ext cx="4114800" cy="286641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 dirty="0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0318E390-3F7E-4CF8-18B6-FF986ADF3A08}"/>
              </a:ext>
            </a:extLst>
          </p:cNvPr>
          <p:cNvSpPr/>
          <p:nvPr/>
        </p:nvSpPr>
        <p:spPr>
          <a:xfrm>
            <a:off x="4639867" y="1705583"/>
            <a:ext cx="4114800" cy="28389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 sz="200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BE060684-C51A-2C3C-A832-0A3947BFEECC}"/>
              </a:ext>
            </a:extLst>
          </p:cNvPr>
          <p:cNvSpPr/>
          <p:nvPr/>
        </p:nvSpPr>
        <p:spPr>
          <a:xfrm>
            <a:off x="438912" y="179857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C2C2C"/>
                </a:solidFill>
              </a:rPr>
              <a:t>DOCUMENTACIÓN</a:t>
            </a:r>
            <a:endParaRPr lang="en-US" sz="900" dirty="0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78C77685-E898-5A4B-A56C-2E5CCDF3E31C}"/>
              </a:ext>
            </a:extLst>
          </p:cNvPr>
          <p:cNvSpPr/>
          <p:nvPr/>
        </p:nvSpPr>
        <p:spPr>
          <a:xfrm>
            <a:off x="438912" y="210947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C7883233-76DF-BF0D-A641-0D923E9EB740}"/>
              </a:ext>
            </a:extLst>
          </p:cNvPr>
          <p:cNvSpPr/>
          <p:nvPr/>
        </p:nvSpPr>
        <p:spPr>
          <a:xfrm>
            <a:off x="640080" y="205461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Data </a:t>
            </a:r>
            <a:r>
              <a:rPr lang="en-US" sz="900" dirty="0" err="1">
                <a:solidFill>
                  <a:srgbClr val="666666"/>
                </a:solidFill>
              </a:rPr>
              <a:t>simulada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basada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en</a:t>
            </a:r>
            <a:r>
              <a:rPr lang="en-US" sz="900" dirty="0">
                <a:solidFill>
                  <a:srgbClr val="666666"/>
                </a:solidFill>
              </a:rPr>
              <a:t> dataset de Kaggle </a:t>
            </a:r>
            <a:r>
              <a:rPr lang="en-US" sz="900" dirty="0" err="1">
                <a:solidFill>
                  <a:srgbClr val="666666"/>
                </a:solidFill>
              </a:rPr>
              <a:t>justinlimyin</a:t>
            </a:r>
            <a:r>
              <a:rPr lang="en-US" sz="900" dirty="0">
                <a:solidFill>
                  <a:srgbClr val="666666"/>
                </a:solidFill>
              </a:rPr>
              <a:t>/</a:t>
            </a:r>
            <a:r>
              <a:rPr lang="en-US" sz="900" dirty="0" err="1">
                <a:solidFill>
                  <a:srgbClr val="666666"/>
                </a:solidFill>
              </a:rPr>
              <a:t>hr</a:t>
            </a:r>
            <a:r>
              <a:rPr lang="en-US" sz="900" dirty="0">
                <a:solidFill>
                  <a:srgbClr val="666666"/>
                </a:solidFill>
              </a:rPr>
              <a:t>-employee-dataset</a:t>
            </a:r>
            <a:endParaRPr lang="en-US" sz="900" dirty="0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D5063852-315A-BD89-322F-B0021B18F0FF}"/>
              </a:ext>
            </a:extLst>
          </p:cNvPr>
          <p:cNvSpPr/>
          <p:nvPr/>
        </p:nvSpPr>
        <p:spPr>
          <a:xfrm>
            <a:off x="438912" y="243567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53AECF86-3E4A-6F82-F565-BAA68893DA09}"/>
              </a:ext>
            </a:extLst>
          </p:cNvPr>
          <p:cNvSpPr/>
          <p:nvPr/>
        </p:nvSpPr>
        <p:spPr>
          <a:xfrm>
            <a:off x="640080" y="238081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Oversampling </a:t>
            </a:r>
            <a:r>
              <a:rPr lang="en-US" sz="900" dirty="0" err="1">
                <a:solidFill>
                  <a:srgbClr val="666666"/>
                </a:solidFill>
              </a:rPr>
              <a:t>sintético</a:t>
            </a:r>
            <a:r>
              <a:rPr lang="en-US" sz="900" dirty="0">
                <a:solidFill>
                  <a:srgbClr val="666666"/>
                </a:solidFill>
              </a:rPr>
              <a:t> para </a:t>
            </a:r>
            <a:r>
              <a:rPr lang="en-US" sz="900" dirty="0" err="1">
                <a:solidFill>
                  <a:srgbClr val="666666"/>
                </a:solidFill>
              </a:rPr>
              <a:t>llegar</a:t>
            </a:r>
            <a:r>
              <a:rPr lang="en-US" sz="900" dirty="0">
                <a:solidFill>
                  <a:srgbClr val="666666"/>
                </a:solidFill>
              </a:rPr>
              <a:t> a un N total de 5.000 </a:t>
            </a:r>
            <a:r>
              <a:rPr lang="en-US" sz="900" dirty="0" err="1">
                <a:solidFill>
                  <a:srgbClr val="666666"/>
                </a:solidFill>
              </a:rPr>
              <a:t>colaboradores</a:t>
            </a:r>
            <a:r>
              <a:rPr lang="en-US" sz="900" dirty="0">
                <a:solidFill>
                  <a:srgbClr val="666666"/>
                </a:solidFill>
              </a:rPr>
              <a:t>.</a:t>
            </a:r>
            <a:endParaRPr lang="en-US" sz="9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55878AD5-F5B8-9F0E-A698-C9BB86DBDBDC}"/>
              </a:ext>
            </a:extLst>
          </p:cNvPr>
          <p:cNvSpPr/>
          <p:nvPr/>
        </p:nvSpPr>
        <p:spPr>
          <a:xfrm>
            <a:off x="438912" y="276187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73F7BA6A-A816-59D0-2DE6-3CBB65C07C57}"/>
              </a:ext>
            </a:extLst>
          </p:cNvPr>
          <p:cNvSpPr/>
          <p:nvPr/>
        </p:nvSpPr>
        <p:spPr>
          <a:xfrm>
            <a:off x="640080" y="270701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66666"/>
                </a:solidFill>
              </a:rPr>
              <a:t>Simulación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resultados</a:t>
            </a:r>
            <a:r>
              <a:rPr lang="en-US" sz="900" dirty="0">
                <a:solidFill>
                  <a:srgbClr val="666666"/>
                </a:solidFill>
              </a:rPr>
              <a:t> PCI </a:t>
            </a:r>
            <a:r>
              <a:rPr lang="en-US" sz="900" dirty="0" err="1">
                <a:solidFill>
                  <a:srgbClr val="666666"/>
                </a:solidFill>
              </a:rPr>
              <a:t>como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función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inversa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una</a:t>
            </a:r>
            <a:r>
              <a:rPr lang="en-US" sz="900" dirty="0">
                <a:solidFill>
                  <a:srgbClr val="666666"/>
                </a:solidFill>
              </a:rPr>
              <a:t> regression lineal con </a:t>
            </a:r>
            <a:r>
              <a:rPr lang="en-US" sz="900" dirty="0" err="1">
                <a:solidFill>
                  <a:srgbClr val="666666"/>
                </a:solidFill>
              </a:rPr>
              <a:t>parámetros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aleatorios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basados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en</a:t>
            </a:r>
            <a:r>
              <a:rPr lang="en-US" sz="900" dirty="0">
                <a:solidFill>
                  <a:srgbClr val="666666"/>
                </a:solidFill>
              </a:rPr>
              <a:t> las columnas del dataset. </a:t>
            </a:r>
            <a:r>
              <a:rPr lang="en-US" sz="900" dirty="0" err="1">
                <a:solidFill>
                  <a:srgbClr val="666666"/>
                </a:solidFill>
              </a:rPr>
              <a:t>Exigencia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distribución</a:t>
            </a:r>
            <a:r>
              <a:rPr lang="en-US" sz="900" dirty="0">
                <a:solidFill>
                  <a:srgbClr val="666666"/>
                </a:solidFill>
              </a:rPr>
              <a:t> con skewness a la </a:t>
            </a:r>
            <a:r>
              <a:rPr lang="en-US" sz="900" dirty="0" err="1">
                <a:solidFill>
                  <a:srgbClr val="666666"/>
                </a:solidFill>
              </a:rPr>
              <a:t>derecha</a:t>
            </a:r>
            <a:r>
              <a:rPr lang="en-US" sz="900" dirty="0">
                <a:solidFill>
                  <a:srgbClr val="666666"/>
                </a:solidFill>
              </a:rPr>
              <a:t> (</a:t>
            </a:r>
            <a:r>
              <a:rPr lang="en-US" sz="900" dirty="0" err="1">
                <a:solidFill>
                  <a:srgbClr val="666666"/>
                </a:solidFill>
              </a:rPr>
              <a:t>sesgo</a:t>
            </a:r>
            <a:r>
              <a:rPr lang="en-US" sz="900" dirty="0">
                <a:solidFill>
                  <a:srgbClr val="666666"/>
                </a:solidFill>
              </a:rPr>
              <a:t> a la </a:t>
            </a:r>
            <a:r>
              <a:rPr lang="en-US" sz="900" dirty="0" err="1">
                <a:solidFill>
                  <a:srgbClr val="666666"/>
                </a:solidFill>
              </a:rPr>
              <a:t>izquierda</a:t>
            </a:r>
            <a:r>
              <a:rPr lang="en-US" sz="900" dirty="0">
                <a:solidFill>
                  <a:srgbClr val="666666"/>
                </a:solidFill>
              </a:rPr>
              <a:t>) </a:t>
            </a:r>
            <a:r>
              <a:rPr lang="en-US" sz="900" dirty="0" err="1">
                <a:solidFill>
                  <a:srgbClr val="666666"/>
                </a:solidFill>
              </a:rPr>
              <a:t>por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diseño</a:t>
            </a:r>
            <a:r>
              <a:rPr lang="en-US" sz="900" dirty="0">
                <a:solidFill>
                  <a:srgbClr val="666666"/>
                </a:solidFill>
              </a:rPr>
              <a:t>.</a:t>
            </a:r>
            <a:endParaRPr lang="en-US" sz="900" dirty="0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9DAAD516-D2DD-667E-4E74-EE232A581E9D}"/>
              </a:ext>
            </a:extLst>
          </p:cNvPr>
          <p:cNvSpPr/>
          <p:nvPr/>
        </p:nvSpPr>
        <p:spPr>
          <a:xfrm>
            <a:off x="438912" y="31763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9AA988F2-3F94-10E6-4545-0DF1ACC6E302}"/>
              </a:ext>
            </a:extLst>
          </p:cNvPr>
          <p:cNvSpPr/>
          <p:nvPr/>
        </p:nvSpPr>
        <p:spPr>
          <a:xfrm>
            <a:off x="640080" y="31215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66666"/>
                </a:solidFill>
              </a:rPr>
              <a:t>Resultado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datos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simulados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en</a:t>
            </a:r>
            <a:r>
              <a:rPr lang="en-US" sz="900" dirty="0">
                <a:solidFill>
                  <a:srgbClr val="666666"/>
                </a:solidFill>
              </a:rPr>
              <a:t> /data/</a:t>
            </a:r>
            <a:r>
              <a:rPr lang="en-US" sz="900" dirty="0" err="1">
                <a:solidFill>
                  <a:srgbClr val="666666"/>
                </a:solidFill>
              </a:rPr>
              <a:t>dataset_entrada</a:t>
            </a:r>
            <a:r>
              <a:rPr lang="en-US" sz="900" dirty="0">
                <a:solidFill>
                  <a:srgbClr val="666666"/>
                </a:solidFill>
              </a:rPr>
              <a:t>.</a:t>
            </a:r>
            <a:endParaRPr lang="en-US" sz="9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C0587DA-4D6D-FA8A-EDF4-60EB61ABEE6B}"/>
              </a:ext>
            </a:extLst>
          </p:cNvPr>
          <p:cNvSpPr txBox="1"/>
          <p:nvPr/>
        </p:nvSpPr>
        <p:spPr>
          <a:xfrm>
            <a:off x="306356" y="3692497"/>
            <a:ext cx="3792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</a:rPr>
              <a:t>Disponible </a:t>
            </a:r>
            <a:r>
              <a:rPr lang="en-US" sz="1800" dirty="0" err="1">
                <a:solidFill>
                  <a:srgbClr val="666666"/>
                </a:solidFill>
              </a:rPr>
              <a:t>en</a:t>
            </a:r>
            <a:r>
              <a:rPr lang="en-US" sz="1800" dirty="0">
                <a:solidFill>
                  <a:srgbClr val="666666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</a:rPr>
              <a:t>src/descargar_dataset.py</a:t>
            </a:r>
            <a:endParaRPr lang="en-US" sz="180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7F1F6ADB-A581-9106-FBDD-B6B7EDAD1295}"/>
              </a:ext>
            </a:extLst>
          </p:cNvPr>
          <p:cNvSpPr/>
          <p:nvPr/>
        </p:nvSpPr>
        <p:spPr>
          <a:xfrm>
            <a:off x="4754880" y="179857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C2C2C"/>
                </a:solidFill>
              </a:rPr>
              <a:t>PIPELINE</a:t>
            </a:r>
            <a:endParaRPr lang="en-US" sz="900" dirty="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D0E6B0E8-948F-39E7-202B-0F296F3C17B0}"/>
              </a:ext>
            </a:extLst>
          </p:cNvPr>
          <p:cNvSpPr/>
          <p:nvPr/>
        </p:nvSpPr>
        <p:spPr>
          <a:xfrm>
            <a:off x="4754880" y="210947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8C6DE1DE-82F9-4C9E-8817-73E60BBAABF7}"/>
              </a:ext>
            </a:extLst>
          </p:cNvPr>
          <p:cNvSpPr/>
          <p:nvPr/>
        </p:nvSpPr>
        <p:spPr>
          <a:xfrm>
            <a:off x="4956048" y="205461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EDA </a:t>
            </a:r>
            <a:r>
              <a:rPr lang="en-US" sz="900" dirty="0" err="1">
                <a:solidFill>
                  <a:srgbClr val="666666"/>
                </a:solidFill>
              </a:rPr>
              <a:t>exploratorio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básico</a:t>
            </a:r>
            <a:endParaRPr lang="en-US" sz="900" dirty="0"/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CCCE7987-0D56-C35C-DB63-B199A5ED8827}"/>
              </a:ext>
            </a:extLst>
          </p:cNvPr>
          <p:cNvSpPr/>
          <p:nvPr/>
        </p:nvSpPr>
        <p:spPr>
          <a:xfrm>
            <a:off x="4754880" y="243567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F46EFC4E-D246-AFB7-FF86-4130A232BCE3}"/>
              </a:ext>
            </a:extLst>
          </p:cNvPr>
          <p:cNvSpPr/>
          <p:nvPr/>
        </p:nvSpPr>
        <p:spPr>
          <a:xfrm>
            <a:off x="4956048" y="238081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66666"/>
                </a:solidFill>
              </a:rPr>
              <a:t>Preprocesamiento</a:t>
            </a:r>
            <a:r>
              <a:rPr lang="en-US" sz="900" dirty="0">
                <a:solidFill>
                  <a:srgbClr val="666666"/>
                </a:solidFill>
              </a:rPr>
              <a:t> con </a:t>
            </a:r>
            <a:r>
              <a:rPr lang="en-US" sz="900" dirty="0" err="1">
                <a:solidFill>
                  <a:srgbClr val="666666"/>
                </a:solidFill>
              </a:rPr>
              <a:t>LabelEncoder</a:t>
            </a:r>
            <a:r>
              <a:rPr lang="en-US" sz="900" dirty="0">
                <a:solidFill>
                  <a:srgbClr val="666666"/>
                </a:solidFill>
              </a:rPr>
              <a:t> y </a:t>
            </a:r>
            <a:r>
              <a:rPr lang="en-US" sz="900" dirty="0" err="1">
                <a:solidFill>
                  <a:srgbClr val="666666"/>
                </a:solidFill>
              </a:rPr>
              <a:t>StandarScaler</a:t>
            </a:r>
            <a:r>
              <a:rPr lang="en-US" sz="900" dirty="0">
                <a:solidFill>
                  <a:srgbClr val="666666"/>
                </a:solidFill>
              </a:rPr>
              <a:t> para </a:t>
            </a:r>
            <a:r>
              <a:rPr lang="en-US" sz="900" dirty="0" err="1">
                <a:solidFill>
                  <a:srgbClr val="666666"/>
                </a:solidFill>
              </a:rPr>
              <a:t>asegurar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que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datos</a:t>
            </a:r>
            <a:r>
              <a:rPr lang="en-US" sz="900" dirty="0">
                <a:solidFill>
                  <a:srgbClr val="666666"/>
                </a:solidFill>
              </a:rPr>
              <a:t> son </a:t>
            </a:r>
            <a:r>
              <a:rPr lang="en-US" sz="900" dirty="0" err="1">
                <a:solidFill>
                  <a:srgbClr val="666666"/>
                </a:solidFill>
              </a:rPr>
              <a:t>numéricos</a:t>
            </a:r>
            <a:r>
              <a:rPr lang="en-US" sz="900" dirty="0">
                <a:solidFill>
                  <a:srgbClr val="666666"/>
                </a:solidFill>
              </a:rPr>
              <a:t> y </a:t>
            </a:r>
            <a:r>
              <a:rPr lang="en-US" sz="900" dirty="0" err="1">
                <a:solidFill>
                  <a:srgbClr val="666666"/>
                </a:solidFill>
              </a:rPr>
              <a:t>escalados</a:t>
            </a:r>
            <a:r>
              <a:rPr lang="en-US" sz="900" dirty="0">
                <a:solidFill>
                  <a:srgbClr val="666666"/>
                </a:solidFill>
              </a:rPr>
              <a:t> (</a:t>
            </a:r>
            <a:r>
              <a:rPr lang="en-US" sz="900" dirty="0" err="1">
                <a:solidFill>
                  <a:srgbClr val="666666"/>
                </a:solidFill>
              </a:rPr>
              <a:t>evitar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problemas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distancias</a:t>
            </a:r>
            <a:r>
              <a:rPr lang="en-US" sz="900" dirty="0">
                <a:solidFill>
                  <a:srgbClr val="666666"/>
                </a:solidFill>
              </a:rPr>
              <a:t>).</a:t>
            </a:r>
            <a:endParaRPr lang="en-US" sz="900" dirty="0"/>
          </a:p>
        </p:txBody>
      </p:sp>
      <p:sp>
        <p:nvSpPr>
          <p:cNvPr id="75" name="Shape 17">
            <a:extLst>
              <a:ext uri="{FF2B5EF4-FFF2-40B4-BE49-F238E27FC236}">
                <a16:creationId xmlns:a16="http://schemas.microsoft.com/office/drawing/2014/main" id="{E4CADE24-DF84-59CB-3BB3-DC986080A039}"/>
              </a:ext>
            </a:extLst>
          </p:cNvPr>
          <p:cNvSpPr/>
          <p:nvPr/>
        </p:nvSpPr>
        <p:spPr>
          <a:xfrm>
            <a:off x="4754880" y="2839695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05F26E47-7A47-7017-BFD3-179AF61D14DE}"/>
              </a:ext>
            </a:extLst>
          </p:cNvPr>
          <p:cNvSpPr/>
          <p:nvPr/>
        </p:nvSpPr>
        <p:spPr>
          <a:xfrm>
            <a:off x="4956048" y="2784831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66666"/>
                </a:solidFill>
              </a:rPr>
              <a:t>Entrenamiento</a:t>
            </a:r>
            <a:r>
              <a:rPr lang="en-US" sz="900" dirty="0">
                <a:solidFill>
                  <a:srgbClr val="666666"/>
                </a:solidFill>
              </a:rPr>
              <a:t> con K-Means , Clustering </a:t>
            </a:r>
            <a:r>
              <a:rPr lang="en-US" sz="900" dirty="0" err="1">
                <a:solidFill>
                  <a:srgbClr val="666666"/>
                </a:solidFill>
              </a:rPr>
              <a:t>jerárquico</a:t>
            </a:r>
            <a:r>
              <a:rPr lang="en-US" sz="900" dirty="0">
                <a:solidFill>
                  <a:srgbClr val="666666"/>
                </a:solidFill>
              </a:rPr>
              <a:t> </a:t>
            </a:r>
            <a:r>
              <a:rPr lang="en-US" sz="900" dirty="0" err="1">
                <a:solidFill>
                  <a:srgbClr val="666666"/>
                </a:solidFill>
              </a:rPr>
              <a:t>Aglomerativo</a:t>
            </a:r>
            <a:r>
              <a:rPr lang="en-US" sz="900" dirty="0">
                <a:solidFill>
                  <a:srgbClr val="666666"/>
                </a:solidFill>
              </a:rPr>
              <a:t> y SOM (redes </a:t>
            </a:r>
            <a:r>
              <a:rPr lang="en-US" sz="900" dirty="0" err="1">
                <a:solidFill>
                  <a:srgbClr val="666666"/>
                </a:solidFill>
              </a:rPr>
              <a:t>neuronales</a:t>
            </a:r>
            <a:r>
              <a:rPr lang="en-US" sz="900" dirty="0">
                <a:solidFill>
                  <a:srgbClr val="666666"/>
                </a:solidFill>
              </a:rPr>
              <a:t>)  </a:t>
            </a:r>
            <a:endParaRPr lang="en-US" sz="900" dirty="0"/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97758ADB-7B4A-0831-DE77-1A60BE787977}"/>
              </a:ext>
            </a:extLst>
          </p:cNvPr>
          <p:cNvSpPr/>
          <p:nvPr/>
        </p:nvSpPr>
        <p:spPr>
          <a:xfrm>
            <a:off x="4754880" y="325418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8413412B-80F5-318F-1F4A-5062FA4DF7A3}"/>
              </a:ext>
            </a:extLst>
          </p:cNvPr>
          <p:cNvSpPr/>
          <p:nvPr/>
        </p:nvSpPr>
        <p:spPr>
          <a:xfrm>
            <a:off x="4956048" y="31993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66666"/>
                </a:solidFill>
              </a:rPr>
              <a:t>Evaluación</a:t>
            </a:r>
            <a:r>
              <a:rPr lang="en-US" sz="900" dirty="0">
                <a:solidFill>
                  <a:srgbClr val="666666"/>
                </a:solidFill>
              </a:rPr>
              <a:t> de </a:t>
            </a:r>
            <a:r>
              <a:rPr lang="en-US" sz="900" dirty="0" err="1">
                <a:solidFill>
                  <a:srgbClr val="666666"/>
                </a:solidFill>
              </a:rPr>
              <a:t>resultados</a:t>
            </a:r>
            <a:r>
              <a:rPr lang="en-US" sz="900" dirty="0">
                <a:solidFill>
                  <a:srgbClr val="666666"/>
                </a:solidFill>
              </a:rPr>
              <a:t> con </a:t>
            </a:r>
            <a:r>
              <a:rPr lang="en-US" sz="900" dirty="0" err="1">
                <a:solidFill>
                  <a:srgbClr val="666666"/>
                </a:solidFill>
              </a:rPr>
              <a:t>silueta</a:t>
            </a:r>
            <a:r>
              <a:rPr lang="en-US" sz="900" dirty="0">
                <a:solidFill>
                  <a:srgbClr val="666666"/>
                </a:solidFill>
              </a:rPr>
              <a:t>, </a:t>
            </a:r>
            <a:r>
              <a:rPr lang="en-US" sz="900" dirty="0" err="1">
                <a:solidFill>
                  <a:srgbClr val="666666"/>
                </a:solidFill>
              </a:rPr>
              <a:t>Callinsky</a:t>
            </a:r>
            <a:r>
              <a:rPr lang="en-US" sz="900" dirty="0">
                <a:solidFill>
                  <a:srgbClr val="666666"/>
                </a:solidFill>
              </a:rPr>
              <a:t> – </a:t>
            </a:r>
            <a:r>
              <a:rPr lang="en-US" sz="900" dirty="0" err="1">
                <a:solidFill>
                  <a:srgbClr val="666666"/>
                </a:solidFill>
              </a:rPr>
              <a:t>Harabanz</a:t>
            </a:r>
            <a:r>
              <a:rPr lang="en-US" sz="900" dirty="0">
                <a:solidFill>
                  <a:srgbClr val="666666"/>
                </a:solidFill>
              </a:rPr>
              <a:t> y Davis </a:t>
            </a:r>
            <a:r>
              <a:rPr lang="en-US" sz="900" dirty="0" err="1">
                <a:solidFill>
                  <a:srgbClr val="666666"/>
                </a:solidFill>
              </a:rPr>
              <a:t>Bouldan</a:t>
            </a:r>
            <a:endParaRPr lang="en-US" sz="9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7631B4F-1572-77CA-FD80-0B17BA73074F}"/>
              </a:ext>
            </a:extLst>
          </p:cNvPr>
          <p:cNvSpPr txBox="1"/>
          <p:nvPr/>
        </p:nvSpPr>
        <p:spPr>
          <a:xfrm>
            <a:off x="4682798" y="3728251"/>
            <a:ext cx="457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</a:rPr>
              <a:t>Disponible </a:t>
            </a:r>
            <a:r>
              <a:rPr lang="en-US" sz="1800" dirty="0" err="1">
                <a:solidFill>
                  <a:srgbClr val="666666"/>
                </a:solidFill>
              </a:rPr>
              <a:t>en</a:t>
            </a:r>
            <a:r>
              <a:rPr lang="en-US" sz="1800" dirty="0">
                <a:solidFill>
                  <a:srgbClr val="666666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666666"/>
                </a:solidFill>
              </a:rPr>
              <a:t>src</a:t>
            </a:r>
            <a:r>
              <a:rPr lang="en-US" dirty="0">
                <a:solidFill>
                  <a:srgbClr val="666666"/>
                </a:solidFill>
              </a:rPr>
              <a:t>/01_eda_clustering.ipynb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35195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A8F03-ABE7-3D15-54D8-5B9BFE5E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C3C8AC-6747-7775-BD28-E94742AE2C7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0AE912-9D82-1149-7765-BEFFA7CC4FDB}"/>
              </a:ext>
            </a:extLst>
          </p:cNvPr>
          <p:cNvSpPr/>
          <p:nvPr/>
        </p:nvSpPr>
        <p:spPr>
          <a:xfrm>
            <a:off x="0" y="64008"/>
            <a:ext cx="164592" cy="507949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05F8E7-3AD8-89EF-CBE7-EECC5F1E5084}"/>
              </a:ext>
            </a:extLst>
          </p:cNvPr>
          <p:cNvSpPr/>
          <p:nvPr/>
        </p:nvSpPr>
        <p:spPr>
          <a:xfrm>
            <a:off x="292608" y="1371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57459A-CC7E-AFBF-6933-50DDC3977198}"/>
              </a:ext>
            </a:extLst>
          </p:cNvPr>
          <p:cNvSpPr/>
          <p:nvPr/>
        </p:nvSpPr>
        <p:spPr>
          <a:xfrm>
            <a:off x="292608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◆ ANEXOS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EDCE1C-5DCA-7DD8-C78A-73C1BCD12010}"/>
              </a:ext>
            </a:extLst>
          </p:cNvPr>
          <p:cNvSpPr/>
          <p:nvPr/>
        </p:nvSpPr>
        <p:spPr>
          <a:xfrm>
            <a:off x="29260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3D4EAF-3C18-DFBB-D44C-1DCB676431C1}"/>
              </a:ext>
            </a:extLst>
          </p:cNvPr>
          <p:cNvSpPr/>
          <p:nvPr/>
        </p:nvSpPr>
        <p:spPr>
          <a:xfrm>
            <a:off x="292608" y="713232"/>
            <a:ext cx="8641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1A"/>
                </a:solidFill>
              </a:rPr>
              <a:t>Resultados</a:t>
            </a:r>
            <a:r>
              <a:rPr lang="en-US" sz="2400" b="1" dirty="0">
                <a:solidFill>
                  <a:srgbClr val="1A1A1A"/>
                </a:solidFill>
              </a:rPr>
              <a:t> A-B Test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8FE10D-08F7-435F-7D59-9D39D6E5E230}"/>
              </a:ext>
            </a:extLst>
          </p:cNvPr>
          <p:cNvSpPr/>
          <p:nvPr/>
        </p:nvSpPr>
        <p:spPr>
          <a:xfrm>
            <a:off x="292608" y="1261872"/>
            <a:ext cx="86410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D14AC1A4-746B-5E0B-14DA-69F267E1D71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88797CDD-0EDA-CD1B-1BAB-BED137BD9170}"/>
              </a:ext>
            </a:extLst>
          </p:cNvPr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People Analytics · Evaluación de Proveedores de Capacitación PCI DSS</a:t>
            </a:r>
            <a:endParaRPr lang="en-US" sz="900" dirty="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9FFF9E43-C85F-D189-5A5F-B788F12DFB08}"/>
              </a:ext>
            </a:extLst>
          </p:cNvPr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</a:rPr>
              <a:t>9 / 9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91D145-C939-D5E7-EDD9-B5AE8002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930805"/>
            <a:ext cx="3432616" cy="18614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929AF41-317E-0E65-FBC7-38886F4E0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735" y="1930805"/>
            <a:ext cx="5035809" cy="175904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F179B3E7-2154-D08D-4773-7E9B665BA2B6}"/>
              </a:ext>
            </a:extLst>
          </p:cNvPr>
          <p:cNvSpPr/>
          <p:nvPr/>
        </p:nvSpPr>
        <p:spPr>
          <a:xfrm>
            <a:off x="1527704" y="1596255"/>
            <a:ext cx="1298318" cy="301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</a:rPr>
              <a:t>DISTRIBUCIÓN</a:t>
            </a:r>
            <a:endParaRPr lang="en-US" sz="1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A7A24CDE-B853-D110-B37D-82A78D24143A}"/>
              </a:ext>
            </a:extLst>
          </p:cNvPr>
          <p:cNvSpPr/>
          <p:nvPr/>
        </p:nvSpPr>
        <p:spPr>
          <a:xfrm>
            <a:off x="5149174" y="1584821"/>
            <a:ext cx="3476017" cy="301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</a:rPr>
              <a:t>ANÁLISIS DE LOS RESULTADOS</a:t>
            </a:r>
            <a:endParaRPr lang="en-US" sz="10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3DB9E9-08B0-C724-6BFB-ABFF39DB8E86}"/>
              </a:ext>
            </a:extLst>
          </p:cNvPr>
          <p:cNvSpPr txBox="1"/>
          <p:nvPr/>
        </p:nvSpPr>
        <p:spPr>
          <a:xfrm>
            <a:off x="306355" y="4039862"/>
            <a:ext cx="6620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</a:rPr>
              <a:t>Disponible </a:t>
            </a:r>
            <a:r>
              <a:rPr lang="en-US" sz="1800" dirty="0" err="1">
                <a:solidFill>
                  <a:srgbClr val="666666"/>
                </a:solidFill>
              </a:rPr>
              <a:t>en</a:t>
            </a:r>
            <a:r>
              <a:rPr lang="en-US" sz="1800" dirty="0">
                <a:solidFill>
                  <a:srgbClr val="666666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</a:rPr>
              <a:t>notebooks/02_ab_testing_economic.ipynb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835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2516</Words>
  <Application>Microsoft Office PowerPoint</Application>
  <PresentationFormat>Presentación en pantalla (16:9)</PresentationFormat>
  <Paragraphs>358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osvaldo ceballos</cp:lastModifiedBy>
  <cp:revision>8</cp:revision>
  <dcterms:created xsi:type="dcterms:W3CDTF">2026-05-29T13:15:49Z</dcterms:created>
  <dcterms:modified xsi:type="dcterms:W3CDTF">2026-05-29T20:13:06Z</dcterms:modified>
</cp:coreProperties>
</file>