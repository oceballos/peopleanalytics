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  <p:sldId id="265" r:id="rId11"/>
    <p:sldId id="266" r:id="rId12"/>
    <p:sldId id="268" r:id="rId13"/>
    <p:sldId id="269" r:id="rId14"/>
    <p:sldId id="270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3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277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9CD8F-6CB1-B328-F59F-F8336A638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64E8A9-4287-2E1A-9C9B-6F3E011AE1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D615C4-26DB-80EF-1AF7-90AE6F677F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0F214-6DE6-B33A-23EE-5491F2A34A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9811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E06A3-4124-36DA-2E8A-98D63E992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BEAA8C-C04E-C2E3-382D-D6A87BBD3E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E8078F-F9B0-2EB5-80A6-4FB5F8773F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8E0BF-2A68-56D7-61F8-10A91BE12A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4902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BA672-0597-9706-C7E4-532142EB5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A335A-7E8E-12CB-9417-562374A50A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1F6C97-3993-D64D-6515-F27D75011A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434C89-0C2B-7424-FF9B-D07D77B681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2906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46FF5-D59C-1D7A-F5BD-E7B2B97EB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2E509F-1FB5-46A5-F60C-5F5444B9D9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24508C-4FD9-3B6C-70FB-A9FBD7FB2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EDBBDF-C4A2-69D0-2B98-69E1145932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3509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274320" y="0"/>
            <a:ext cx="886968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502920" y="182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0392B"/>
                </a:solidFill>
              </a:rPr>
              <a:t>PROYECTO PEOPLE ANALYTICS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5029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bg2">
                    <a:lumMod val="25000"/>
                  </a:schemeClr>
                </a:solidFill>
              </a:rPr>
              <a:t>Evaluación Inteligente de</a:t>
            </a:r>
            <a:endParaRPr lang="en-US" sz="3400" dirty="0">
              <a:solidFill>
                <a:schemeClr val="bg2">
                  <a:lumMod val="25000"/>
                </a:schemeClr>
              </a:solidFill>
            </a:endParaRPr>
          </a:p>
          <a:p>
            <a:pPr marL="0" indent="0" algn="l">
              <a:buNone/>
            </a:pPr>
            <a:r>
              <a:rPr lang="en-US" sz="3400" b="1" dirty="0">
                <a:solidFill>
                  <a:schemeClr val="bg2">
                    <a:lumMod val="25000"/>
                  </a:schemeClr>
                </a:solidFill>
              </a:rPr>
              <a:t>Proveedores de Capacitación</a:t>
            </a:r>
            <a:endParaRPr lang="en-US" sz="3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645592" y="2018846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</a:rPr>
              <a:t>Certificación PCI DSS · Metodología Doble Diamante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072320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2A2A2A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/>
          <p:nvPr/>
        </p:nvSpPr>
        <p:spPr>
          <a:xfrm>
            <a:off x="548640" y="30723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CCCCC"/>
                </a:solidFill>
              </a:rPr>
              <a:t>5.000 colaboradores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182112" y="3072320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2A2A2A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3182112" y="30723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CCCCC"/>
                </a:solidFill>
              </a:rPr>
              <a:t>3 Proveedores de capacitación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815584" y="3072320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2A2A2A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/>
          <p:nvPr/>
        </p:nvSpPr>
        <p:spPr>
          <a:xfrm>
            <a:off x="5815584" y="30723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 err="1">
                <a:solidFill>
                  <a:srgbClr val="CCCCCC"/>
                </a:solidFill>
              </a:rPr>
              <a:t>Pasarela</a:t>
            </a:r>
            <a:r>
              <a:rPr lang="en-US" sz="900" dirty="0">
                <a:solidFill>
                  <a:srgbClr val="CCCCCC"/>
                </a:solidFill>
              </a:rPr>
              <a:t>/</a:t>
            </a:r>
            <a:r>
              <a:rPr lang="en-US" sz="900" dirty="0" err="1">
                <a:solidFill>
                  <a:srgbClr val="CCCCCC"/>
                </a:solidFill>
              </a:rPr>
              <a:t>Proecesador</a:t>
            </a:r>
            <a:r>
              <a:rPr lang="en-US" sz="900" dirty="0">
                <a:solidFill>
                  <a:srgbClr val="CCCCCC"/>
                </a:solidFill>
              </a:rPr>
              <a:t> de Pagos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5592" y="1744169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 err="1">
                <a:solidFill>
                  <a:srgbClr val="FF0000"/>
                </a:solidFill>
              </a:rPr>
              <a:t>Autores</a:t>
            </a:r>
            <a:r>
              <a:rPr lang="en-US" sz="2000" dirty="0">
                <a:solidFill>
                  <a:srgbClr val="FF0000"/>
                </a:solidFill>
              </a:rPr>
              <a:t> G6: Osvaldo Ceballos · Yerko Fuentes · Paloma San Martin</a:t>
            </a:r>
          </a:p>
        </p:txBody>
      </p:sp>
      <p:sp>
        <p:nvSpPr>
          <p:cNvPr id="14" name="Shape 1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800" dirty="0"/>
          </a:p>
        </p:txBody>
      </p:sp>
      <p:pic>
        <p:nvPicPr>
          <p:cNvPr id="17" name="Imagen 16" descr="Archivo:Logo Universidad Diego Portales.png">
            <a:extLst>
              <a:ext uri="{FF2B5EF4-FFF2-40B4-BE49-F238E27FC236}">
                <a16:creationId xmlns:a16="http://schemas.microsoft.com/office/drawing/2014/main" id="{10BC063A-3AE1-99B2-5D2B-96313C313B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9906" y="116944"/>
            <a:ext cx="2243846" cy="546254"/>
          </a:xfrm>
          <a:prstGeom prst="rect">
            <a:avLst/>
          </a:prstGeom>
        </p:spPr>
      </p:pic>
      <p:sp>
        <p:nvSpPr>
          <p:cNvPr id="18" name="Text 11">
            <a:extLst>
              <a:ext uri="{FF2B5EF4-FFF2-40B4-BE49-F238E27FC236}">
                <a16:creationId xmlns:a16="http://schemas.microsoft.com/office/drawing/2014/main" id="{C42E8FE8-0AB5-92B2-518D-4D1D9B2910E5}"/>
              </a:ext>
            </a:extLst>
          </p:cNvPr>
          <p:cNvSpPr/>
          <p:nvPr/>
        </p:nvSpPr>
        <p:spPr>
          <a:xfrm>
            <a:off x="640080" y="278169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0000"/>
                </a:solidFill>
              </a:rPr>
              <a:t>Empresa: FINTECH S.A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164592" cy="50794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" name="Text 2"/>
          <p:cNvSpPr/>
          <p:nvPr/>
        </p:nvSpPr>
        <p:spPr>
          <a:xfrm>
            <a:off x="320040" y="1645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0392B"/>
                </a:solidFill>
              </a:rPr>
              <a:t>METODOLOGÍA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0040" y="420624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Modelo de Doble Diamante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 rot="10800000">
            <a:off x="274320" y="2697480"/>
            <a:ext cx="2011680" cy="1554480"/>
          </a:xfrm>
          <a:prstGeom prst="rtTriangl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7" name="Shape 5"/>
          <p:cNvSpPr/>
          <p:nvPr/>
        </p:nvSpPr>
        <p:spPr>
          <a:xfrm flipH="1">
            <a:off x="274320" y="1143000"/>
            <a:ext cx="2011680" cy="1554480"/>
          </a:xfrm>
          <a:prstGeom prst="rtTriangl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8" name="Shape 6"/>
          <p:cNvSpPr/>
          <p:nvPr/>
        </p:nvSpPr>
        <p:spPr>
          <a:xfrm>
            <a:off x="2286000" y="1143000"/>
            <a:ext cx="2011680" cy="1554480"/>
          </a:xfrm>
          <a:prstGeom prst="rtTriangl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0" name="Shape 8"/>
          <p:cNvSpPr/>
          <p:nvPr/>
        </p:nvSpPr>
        <p:spPr>
          <a:xfrm>
            <a:off x="4315968" y="2633472"/>
            <a:ext cx="347472" cy="128016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1" name="Shape 9"/>
          <p:cNvSpPr/>
          <p:nvPr/>
        </p:nvSpPr>
        <p:spPr>
          <a:xfrm rot="10800000">
            <a:off x="4672584" y="2737168"/>
            <a:ext cx="2011680" cy="1554480"/>
          </a:xfrm>
          <a:prstGeom prst="rtTriangle">
            <a:avLst/>
          </a:prstGeom>
          <a:solidFill>
            <a:schemeClr val="bg2">
              <a:lumMod val="90000"/>
            </a:schemeClr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74320" y="2683764"/>
            <a:ext cx="4023360" cy="27432"/>
          </a:xfrm>
          <a:prstGeom prst="rect">
            <a:avLst/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6" name="Shape 14"/>
          <p:cNvSpPr/>
          <p:nvPr/>
        </p:nvSpPr>
        <p:spPr>
          <a:xfrm>
            <a:off x="4663440" y="2683764"/>
            <a:ext cx="4023360" cy="27432"/>
          </a:xfrm>
          <a:prstGeom prst="rect">
            <a:avLst/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7" name="Text 15"/>
          <p:cNvSpPr/>
          <p:nvPr/>
        </p:nvSpPr>
        <p:spPr>
          <a:xfrm>
            <a:off x="274320" y="85039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C0392B"/>
                </a:solidFill>
              </a:rPr>
              <a:t>◆ DIAMANTE 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74320" y="10515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AAAA"/>
                </a:solidFill>
              </a:rPr>
              <a:t>Entender el problema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63440" y="85039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chemeClr val="bg1">
                    <a:lumMod val="85000"/>
                  </a:schemeClr>
                </a:solidFill>
              </a:rPr>
              <a:t>◆ DIAMANTE 2</a:t>
            </a:r>
            <a:endParaRPr lang="en-US" sz="10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4663439" y="1010737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</a:rPr>
              <a:t>Desarrollar la solución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432511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0392B"/>
                </a:solidFill>
              </a:rPr>
              <a:t>DESCUBRIR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17520" y="432511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74C3C"/>
                </a:solidFill>
              </a:rPr>
              <a:t>DEFINIR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63440" y="432511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chemeClr val="bg1">
                    <a:lumMod val="85000"/>
                  </a:schemeClr>
                </a:solidFill>
              </a:rPr>
              <a:t>DESARROLLAR</a:t>
            </a:r>
            <a:endParaRPr lang="en-US" sz="10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7406640" y="432511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chemeClr val="bg1">
                    <a:lumMod val="85000"/>
                  </a:schemeClr>
                </a:solidFill>
              </a:rPr>
              <a:t>ENTREGAR</a:t>
            </a:r>
            <a:endParaRPr lang="en-US" sz="10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9" name="Shape 27"/>
          <p:cNvSpPr/>
          <p:nvPr/>
        </p:nvSpPr>
        <p:spPr>
          <a:xfrm>
            <a:off x="274320" y="4645152"/>
            <a:ext cx="8686800" cy="155448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0" name="Text 28"/>
          <p:cNvSpPr/>
          <p:nvPr/>
        </p:nvSpPr>
        <p:spPr>
          <a:xfrm>
            <a:off x="274320" y="4654296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0392B"/>
                </a:solidFill>
              </a:rPr>
              <a:t>01 · Entorno PCI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362456" y="4654296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0392B"/>
                </a:solidFill>
              </a:rPr>
              <a:t>02 · Contexto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450592" y="4654296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0392B"/>
                </a:solidFill>
              </a:rPr>
              <a:t>03 · Problemas métrica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538728" y="4654296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E74C3C"/>
                </a:solidFill>
              </a:rPr>
              <a:t>04 · Caso de negocio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626864" y="4654296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bg1">
                    <a:lumMod val="85000"/>
                  </a:schemeClr>
                </a:solidFill>
              </a:rPr>
              <a:t>05 · Diseño ML</a:t>
            </a:r>
          </a:p>
        </p:txBody>
      </p:sp>
      <p:sp>
        <p:nvSpPr>
          <p:cNvPr id="35" name="Text 33"/>
          <p:cNvSpPr/>
          <p:nvPr/>
        </p:nvSpPr>
        <p:spPr>
          <a:xfrm>
            <a:off x="5715000" y="4654296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bg1">
                    <a:lumMod val="85000"/>
                  </a:schemeClr>
                </a:solidFill>
              </a:rPr>
              <a:t>06 · EDA+Clustering</a:t>
            </a:r>
          </a:p>
        </p:txBody>
      </p:sp>
      <p:sp>
        <p:nvSpPr>
          <p:cNvPr id="36" name="Text 34"/>
          <p:cNvSpPr/>
          <p:nvPr/>
        </p:nvSpPr>
        <p:spPr>
          <a:xfrm>
            <a:off x="6803136" y="4654296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bg1">
                    <a:lumMod val="85000"/>
                  </a:schemeClr>
                </a:solidFill>
              </a:rPr>
              <a:t>07 · A/B Testing</a:t>
            </a:r>
          </a:p>
        </p:txBody>
      </p:sp>
      <p:sp>
        <p:nvSpPr>
          <p:cNvPr id="37" name="Text 35"/>
          <p:cNvSpPr/>
          <p:nvPr/>
        </p:nvSpPr>
        <p:spPr>
          <a:xfrm>
            <a:off x="7891272" y="4654296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bg1">
                    <a:lumMod val="85000"/>
                  </a:schemeClr>
                </a:solidFill>
              </a:rPr>
              <a:t>08 · Recomendación</a:t>
            </a:r>
          </a:p>
        </p:txBody>
      </p:sp>
      <p:sp>
        <p:nvSpPr>
          <p:cNvPr id="38" name="Shape 3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9" name="Text 37"/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412480" y="49011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74C3C"/>
                </a:solidFill>
              </a:rPr>
              <a:t>M / 9</a:t>
            </a:r>
            <a:endParaRPr lang="en-US" sz="900" dirty="0"/>
          </a:p>
        </p:txBody>
      </p:sp>
      <p:sp>
        <p:nvSpPr>
          <p:cNvPr id="41" name="Shape 4">
            <a:extLst>
              <a:ext uri="{FF2B5EF4-FFF2-40B4-BE49-F238E27FC236}">
                <a16:creationId xmlns:a16="http://schemas.microsoft.com/office/drawing/2014/main" id="{58958543-D306-0E29-49D3-F9D2C7AED0F1}"/>
              </a:ext>
            </a:extLst>
          </p:cNvPr>
          <p:cNvSpPr/>
          <p:nvPr/>
        </p:nvSpPr>
        <p:spPr>
          <a:xfrm rot="10800000" flipH="1">
            <a:off x="2330196" y="2729969"/>
            <a:ext cx="2011680" cy="1554480"/>
          </a:xfrm>
          <a:prstGeom prst="rtTriangl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2" name="Shape 9">
            <a:extLst>
              <a:ext uri="{FF2B5EF4-FFF2-40B4-BE49-F238E27FC236}">
                <a16:creationId xmlns:a16="http://schemas.microsoft.com/office/drawing/2014/main" id="{1F29FE9A-2123-6FEC-F1FF-35BCF6182FB5}"/>
              </a:ext>
            </a:extLst>
          </p:cNvPr>
          <p:cNvSpPr/>
          <p:nvPr/>
        </p:nvSpPr>
        <p:spPr>
          <a:xfrm rot="10800000" flipH="1">
            <a:off x="6714030" y="2732889"/>
            <a:ext cx="2011680" cy="1554480"/>
          </a:xfrm>
          <a:prstGeom prst="rtTriangle">
            <a:avLst/>
          </a:prstGeom>
          <a:solidFill>
            <a:schemeClr val="bg2">
              <a:lumMod val="90000"/>
            </a:schemeClr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3" name="Shape 5">
            <a:extLst>
              <a:ext uri="{FF2B5EF4-FFF2-40B4-BE49-F238E27FC236}">
                <a16:creationId xmlns:a16="http://schemas.microsoft.com/office/drawing/2014/main" id="{C43B1B9A-FAE6-5CBF-36B1-D58041D4C08C}"/>
              </a:ext>
            </a:extLst>
          </p:cNvPr>
          <p:cNvSpPr/>
          <p:nvPr/>
        </p:nvSpPr>
        <p:spPr>
          <a:xfrm flipH="1">
            <a:off x="4682895" y="1147897"/>
            <a:ext cx="2011680" cy="1554480"/>
          </a:xfrm>
          <a:prstGeom prst="rtTriangle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4" name="Shape 6">
            <a:extLst>
              <a:ext uri="{FF2B5EF4-FFF2-40B4-BE49-F238E27FC236}">
                <a16:creationId xmlns:a16="http://schemas.microsoft.com/office/drawing/2014/main" id="{D15B29F7-93EF-A2F8-8016-76A93BD7CFE9}"/>
              </a:ext>
            </a:extLst>
          </p:cNvPr>
          <p:cNvSpPr/>
          <p:nvPr/>
        </p:nvSpPr>
        <p:spPr>
          <a:xfrm>
            <a:off x="6694575" y="1147897"/>
            <a:ext cx="2011680" cy="1554480"/>
          </a:xfrm>
          <a:prstGeom prst="rtTriangle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25"/>
          <p:cNvSpPr/>
          <p:nvPr/>
        </p:nvSpPr>
        <p:spPr>
          <a:xfrm>
            <a:off x="3128933" y="2130552"/>
            <a:ext cx="94327" cy="114822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164592" cy="50794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4" name="Shape 2"/>
          <p:cNvSpPr/>
          <p:nvPr/>
        </p:nvSpPr>
        <p:spPr>
          <a:xfrm>
            <a:off x="292608" y="137160"/>
            <a:ext cx="1828800" cy="274320"/>
          </a:xfrm>
          <a:prstGeom prst="roundRect">
            <a:avLst>
              <a:gd name="adj" fmla="val 13333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5" name="Text 3"/>
          <p:cNvSpPr/>
          <p:nvPr/>
        </p:nvSpPr>
        <p:spPr>
          <a:xfrm>
            <a:off x="292608" y="137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◆ DIAMANTE 1 · DESCUBRIR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92608" y="4754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C0392B"/>
                </a:solidFill>
              </a:rPr>
              <a:t>DESCUBRIR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92608" y="694944"/>
            <a:ext cx="8641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</a:rPr>
              <a:t>El entorno de pagos y qué protege PCI DSS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292608" y="1207008"/>
            <a:ext cx="8641080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9" name="Shape 7"/>
          <p:cNvSpPr/>
          <p:nvPr/>
        </p:nvSpPr>
        <p:spPr>
          <a:xfrm>
            <a:off x="365760" y="1417320"/>
            <a:ext cx="1828800" cy="713232"/>
          </a:xfrm>
          <a:prstGeom prst="roundRect">
            <a:avLst>
              <a:gd name="adj" fmla="val 10256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10" name="Text 8"/>
          <p:cNvSpPr/>
          <p:nvPr/>
        </p:nvSpPr>
        <p:spPr>
          <a:xfrm>
            <a:off x="365760" y="1508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TARJETAHABIENTE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5760" y="180136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DDDDD"/>
                </a:solidFill>
              </a:rPr>
              <a:t>Inicia el pago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6589" y="3278772"/>
            <a:ext cx="1828800" cy="713232"/>
          </a:xfrm>
          <a:prstGeom prst="roundRect">
            <a:avLst>
              <a:gd name="adj" fmla="val 10256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13" name="Text 11"/>
          <p:cNvSpPr/>
          <p:nvPr/>
        </p:nvSpPr>
        <p:spPr>
          <a:xfrm>
            <a:off x="376589" y="33702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COMERCIO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76589" y="366282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DDDDD"/>
                </a:solidFill>
              </a:rPr>
              <a:t>Acepta el pago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119789" y="3278772"/>
            <a:ext cx="1828800" cy="713232"/>
          </a:xfrm>
          <a:prstGeom prst="roundRect">
            <a:avLst>
              <a:gd name="adj" fmla="val 10256"/>
            </a:avLst>
          </a:prstGeom>
          <a:solidFill>
            <a:srgbClr val="3D3D3D"/>
          </a:solidFill>
          <a:ln w="12700">
            <a:solidFill>
              <a:srgbClr val="3D3D3D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16" name="Text 14"/>
          <p:cNvSpPr/>
          <p:nvPr/>
        </p:nvSpPr>
        <p:spPr>
          <a:xfrm>
            <a:off x="3119789" y="33702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PASARELA / ADQUIRENTE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119789" y="366282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DDDDD"/>
                </a:solidFill>
              </a:rPr>
              <a:t>Procesa para el comercio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08960" y="1417320"/>
            <a:ext cx="1828800" cy="713232"/>
          </a:xfrm>
          <a:prstGeom prst="roundRect">
            <a:avLst>
              <a:gd name="adj" fmla="val 10256"/>
            </a:avLst>
          </a:prstGeom>
          <a:solidFill>
            <a:srgbClr val="3D3D3D"/>
          </a:solidFill>
          <a:ln w="12700">
            <a:solidFill>
              <a:srgbClr val="3D3D3D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19" name="Text 17"/>
          <p:cNvSpPr/>
          <p:nvPr/>
        </p:nvSpPr>
        <p:spPr>
          <a:xfrm>
            <a:off x="3108960" y="1508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BANCO EMISOR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108960" y="180136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DDDDD"/>
                </a:solidFill>
              </a:rPr>
              <a:t>Emite la tarjeta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103120" y="2103120"/>
            <a:ext cx="1097280" cy="64008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22" name="Text 20"/>
          <p:cNvSpPr/>
          <p:nvPr/>
        </p:nvSpPr>
        <p:spPr>
          <a:xfrm>
            <a:off x="2103120" y="2103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RED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VISA/MC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234440" y="2130552"/>
            <a:ext cx="69164" cy="1129932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24" name="Text 22"/>
          <p:cNvSpPr/>
          <p:nvPr/>
        </p:nvSpPr>
        <p:spPr>
          <a:xfrm>
            <a:off x="1316736" y="228600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1. Compra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205389" y="3598812"/>
            <a:ext cx="914400" cy="5486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26" name="Text 24"/>
          <p:cNvSpPr/>
          <p:nvPr/>
        </p:nvSpPr>
        <p:spPr>
          <a:xfrm>
            <a:off x="2205389" y="36628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</a:rPr>
              <a:t>2. Autorización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236976" y="2298614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</a:rPr>
              <a:t>3. Aprobación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194560" y="1719072"/>
            <a:ext cx="749808" cy="5486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31" name="Text 29"/>
          <p:cNvSpPr/>
          <p:nvPr/>
        </p:nvSpPr>
        <p:spPr>
          <a:xfrm>
            <a:off x="320040" y="1261872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0392B"/>
                </a:solidFill>
              </a:rPr>
              <a:t>MODELO 4 PARTES DEL PAGO CON TARJETA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303520" y="1261872"/>
            <a:ext cx="3566160" cy="341985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33" name="Text 31"/>
          <p:cNvSpPr/>
          <p:nvPr/>
        </p:nvSpPr>
        <p:spPr>
          <a:xfrm>
            <a:off x="5486400" y="135331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¿Qué es PCI DSS?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486400" y="1664208"/>
            <a:ext cx="3246120" cy="228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35" name="Text 33"/>
          <p:cNvSpPr/>
          <p:nvPr/>
        </p:nvSpPr>
        <p:spPr>
          <a:xfrm>
            <a:off x="5486400" y="170992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</a:rPr>
              <a:t>Payment Card Industry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</a:rPr>
              <a:t>Data Security Standard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0" y="228600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🔒</a:t>
            </a: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5897880" y="2313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</a:rPr>
              <a:t>Proteger datos del titular de tarjeta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486400" y="26700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🌐</a:t>
            </a: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89788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</a:rPr>
              <a:t>Asegurar redes y sistemas de transmisión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486400" y="3054096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🛡️</a:t>
            </a: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897880" y="3081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</a:rPr>
              <a:t>Mantener un programa de gestión de vulnerabilidades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486400" y="34381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📋</a:t>
            </a: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897880" y="34655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</a:rPr>
              <a:t>Monitorear y testear redes regularmente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486400" y="3858768"/>
            <a:ext cx="3246120" cy="228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45" name="Text 43"/>
          <p:cNvSpPr/>
          <p:nvPr/>
        </p:nvSpPr>
        <p:spPr>
          <a:xfrm>
            <a:off x="5486400" y="391363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74C3C"/>
                </a:solidFill>
              </a:rPr>
              <a:t>Incumplimiento: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629400" y="391363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</a:rPr>
              <a:t>Multas · Suspensión del servicio · Daño reputacional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2608" y="4709160"/>
            <a:ext cx="8558784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48" name="Shape 4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49" name="Text 47"/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412480" y="49011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74C3C"/>
                </a:solidFill>
              </a:rPr>
              <a:t>1 / 9</a:t>
            </a:r>
            <a:endParaRPr lang="en-US" sz="1000" dirty="0"/>
          </a:p>
        </p:txBody>
      </p:sp>
      <p:pic>
        <p:nvPicPr>
          <p:cNvPr id="52" name="Gráfico 51" descr="Banco contorno">
            <a:extLst>
              <a:ext uri="{FF2B5EF4-FFF2-40B4-BE49-F238E27FC236}">
                <a16:creationId xmlns:a16="http://schemas.microsoft.com/office/drawing/2014/main" id="{16B7E598-753A-6A2A-F761-51EFE3717A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66260" y="1106424"/>
            <a:ext cx="914400" cy="914400"/>
          </a:xfrm>
          <a:prstGeom prst="rect">
            <a:avLst/>
          </a:prstGeom>
        </p:spPr>
      </p:pic>
      <p:pic>
        <p:nvPicPr>
          <p:cNvPr id="54" name="Gráfico 53" descr="Tienda contorno">
            <a:extLst>
              <a:ext uri="{FF2B5EF4-FFF2-40B4-BE49-F238E27FC236}">
                <a16:creationId xmlns:a16="http://schemas.microsoft.com/office/drawing/2014/main" id="{77A112DA-1465-9E03-3DBB-53173BAD52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269" y="3498228"/>
            <a:ext cx="914400" cy="914400"/>
          </a:xfrm>
          <a:prstGeom prst="rect">
            <a:avLst/>
          </a:prstGeom>
        </p:spPr>
      </p:pic>
      <p:pic>
        <p:nvPicPr>
          <p:cNvPr id="56" name="Gráfico 55" descr="Trabajadora de oficina contorno">
            <a:extLst>
              <a:ext uri="{FF2B5EF4-FFF2-40B4-BE49-F238E27FC236}">
                <a16:creationId xmlns:a16="http://schemas.microsoft.com/office/drawing/2014/main" id="{4D9CAB6D-1FDC-8D93-248D-081AE9D613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52" y="1559700"/>
            <a:ext cx="914400" cy="914400"/>
          </a:xfrm>
          <a:prstGeom prst="rect">
            <a:avLst/>
          </a:prstGeom>
        </p:spPr>
      </p:pic>
      <p:pic>
        <p:nvPicPr>
          <p:cNvPr id="58" name="Gráfico 57" descr="Comercio electrónico con relleno sólido">
            <a:extLst>
              <a:ext uri="{FF2B5EF4-FFF2-40B4-BE49-F238E27FC236}">
                <a16:creationId xmlns:a16="http://schemas.microsoft.com/office/drawing/2014/main" id="{3DDEC339-3ADB-031B-7288-B411F6905E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80560" y="3612528"/>
            <a:ext cx="914400" cy="914400"/>
          </a:xfrm>
          <a:prstGeom prst="rect">
            <a:avLst/>
          </a:prstGeom>
        </p:spPr>
      </p:pic>
      <p:pic>
        <p:nvPicPr>
          <p:cNvPr id="60" name="Gráfico 59" descr="Tarjeta de crédito con relleno sólido">
            <a:extLst>
              <a:ext uri="{FF2B5EF4-FFF2-40B4-BE49-F238E27FC236}">
                <a16:creationId xmlns:a16="http://schemas.microsoft.com/office/drawing/2014/main" id="{C951D91C-8695-1CBD-9154-C7B3DB502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91656" y="2292858"/>
            <a:ext cx="621792" cy="621792"/>
          </a:xfrm>
          <a:prstGeom prst="rect">
            <a:avLst/>
          </a:prstGeom>
        </p:spPr>
      </p:pic>
      <p:sp>
        <p:nvSpPr>
          <p:cNvPr id="62" name="CuadroTexto 61">
            <a:extLst>
              <a:ext uri="{FF2B5EF4-FFF2-40B4-BE49-F238E27FC236}">
                <a16:creationId xmlns:a16="http://schemas.microsoft.com/office/drawing/2014/main" id="{1A085DF4-8F0C-4222-7752-A7BEAB47386C}"/>
              </a:ext>
            </a:extLst>
          </p:cNvPr>
          <p:cNvSpPr txBox="1"/>
          <p:nvPr/>
        </p:nvSpPr>
        <p:spPr>
          <a:xfrm>
            <a:off x="3291840" y="3936492"/>
            <a:ext cx="13618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FINTECH S.A</a:t>
            </a:r>
            <a:endParaRPr lang="es-CL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164592" cy="50794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292608" y="137160"/>
            <a:ext cx="1645920" cy="274320"/>
          </a:xfrm>
          <a:prstGeom prst="roundRect">
            <a:avLst>
              <a:gd name="adj" fmla="val 13333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/>
          <p:nvPr/>
        </p:nvSpPr>
        <p:spPr>
          <a:xfrm>
            <a:off x="292608" y="137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◆ DIAMANTE 1 · DESCUBRIR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92608" y="4754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0392B"/>
                </a:solidFill>
              </a:rPr>
              <a:t>DESCUBRIR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92608" y="713232"/>
            <a:ext cx="8641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</a:rPr>
              <a:t>El contexto: certificación PCI DSS obligatoria al 100%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292608" y="1261872"/>
            <a:ext cx="8641080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Shape 7"/>
          <p:cNvSpPr/>
          <p:nvPr/>
        </p:nvSpPr>
        <p:spPr>
          <a:xfrm>
            <a:off x="292608" y="1389888"/>
            <a:ext cx="272491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292608" y="1389888"/>
            <a:ext cx="54864" cy="1188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508760"/>
            <a:ext cx="384048" cy="38404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987552" y="1463040"/>
            <a:ext cx="1947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1A"/>
                </a:solidFill>
              </a:rPr>
              <a:t>5.000 colaboradores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987552" y="1773936"/>
            <a:ext cx="1947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Toda la organización debe certificarse en PCI DSS. Sin excepción.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182112" y="1389888"/>
            <a:ext cx="272491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5" name="Shape 12"/>
          <p:cNvSpPr/>
          <p:nvPr/>
        </p:nvSpPr>
        <p:spPr>
          <a:xfrm>
            <a:off x="3182112" y="1389888"/>
            <a:ext cx="54864" cy="1188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508760"/>
            <a:ext cx="384048" cy="38404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877056" y="1463040"/>
            <a:ext cx="1947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1A"/>
                </a:solidFill>
              </a:rPr>
              <a:t>3 Proveedores de e-learning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3877056" y="1773936"/>
            <a:ext cx="1947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Coexisten simultáneamente. Asignación por cupos de área, no por efectividad.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071616" y="1389888"/>
            <a:ext cx="272491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0" name="Shape 16"/>
          <p:cNvSpPr/>
          <p:nvPr/>
        </p:nvSpPr>
        <p:spPr>
          <a:xfrm>
            <a:off x="6071616" y="1389888"/>
            <a:ext cx="54864" cy="1188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2784" y="1508760"/>
            <a:ext cx="384048" cy="38404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766560" y="1463040"/>
            <a:ext cx="1947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1A"/>
                </a:solidFill>
              </a:rPr>
              <a:t>Obligación normativa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6766560" y="1773936"/>
            <a:ext cx="1947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Incumplir implica multas (10.000 UF) e impacto reputacional estimado de 20.000 UF.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292608" y="2724912"/>
            <a:ext cx="8558784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5" name="Text 20"/>
          <p:cNvSpPr/>
          <p:nvPr/>
        </p:nvSpPr>
        <p:spPr>
          <a:xfrm>
            <a:off x="411480" y="27797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C0392B"/>
                </a:solidFill>
              </a:rPr>
              <a:t>ACTORES Y FLUJO ACTUAL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502920" y="3090672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7" name="Text 22"/>
          <p:cNvSpPr/>
          <p:nvPr/>
        </p:nvSpPr>
        <p:spPr>
          <a:xfrm>
            <a:off x="502920" y="312724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1A1A"/>
                </a:solidFill>
              </a:rPr>
              <a:t>Área de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A1A1A"/>
                </a:solidFill>
              </a:rPr>
              <a:t>Capacitación</a:t>
            </a:r>
            <a:endParaRPr lang="en-US" sz="950" dirty="0"/>
          </a:p>
        </p:txBody>
      </p:sp>
      <p:sp>
        <p:nvSpPr>
          <p:cNvPr id="28" name="Text 23"/>
          <p:cNvSpPr/>
          <p:nvPr/>
        </p:nvSpPr>
        <p:spPr>
          <a:xfrm>
            <a:off x="502920" y="343814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</a:rPr>
              <a:t>Asigna por cupos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1920240" y="3401568"/>
            <a:ext cx="237744" cy="5486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0" name="Shape 25"/>
          <p:cNvSpPr/>
          <p:nvPr/>
        </p:nvSpPr>
        <p:spPr>
          <a:xfrm>
            <a:off x="2331720" y="3090672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1" name="Text 26"/>
          <p:cNvSpPr/>
          <p:nvPr/>
        </p:nvSpPr>
        <p:spPr>
          <a:xfrm>
            <a:off x="2331720" y="312724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1A1A"/>
                </a:solidFill>
              </a:rPr>
              <a:t>Área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A1A1A"/>
                </a:solidFill>
              </a:rPr>
              <a:t>Funcional</a:t>
            </a:r>
            <a:endParaRPr lang="en-US" sz="950" dirty="0"/>
          </a:p>
        </p:txBody>
      </p:sp>
      <p:sp>
        <p:nvSpPr>
          <p:cNvPr id="32" name="Text 27"/>
          <p:cNvSpPr/>
          <p:nvPr/>
        </p:nvSpPr>
        <p:spPr>
          <a:xfrm>
            <a:off x="2331720" y="343814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</a:rPr>
              <a:t>Recibe cupos</a:t>
            </a:r>
            <a:endParaRPr lang="en-US" sz="800" dirty="0"/>
          </a:p>
        </p:txBody>
      </p:sp>
      <p:sp>
        <p:nvSpPr>
          <p:cNvPr id="33" name="Shape 28"/>
          <p:cNvSpPr/>
          <p:nvPr/>
        </p:nvSpPr>
        <p:spPr>
          <a:xfrm>
            <a:off x="3749040" y="3401568"/>
            <a:ext cx="237744" cy="5486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4" name="Shape 29"/>
          <p:cNvSpPr/>
          <p:nvPr/>
        </p:nvSpPr>
        <p:spPr>
          <a:xfrm>
            <a:off x="4160520" y="3090672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5" name="Text 30"/>
          <p:cNvSpPr/>
          <p:nvPr/>
        </p:nvSpPr>
        <p:spPr>
          <a:xfrm>
            <a:off x="4160520" y="312724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1A1A"/>
                </a:solidFill>
              </a:rPr>
              <a:t>Colaborador</a:t>
            </a:r>
            <a:endParaRPr lang="en-US" sz="950" dirty="0"/>
          </a:p>
        </p:txBody>
      </p:sp>
      <p:sp>
        <p:nvSpPr>
          <p:cNvPr id="36" name="Text 31"/>
          <p:cNvSpPr/>
          <p:nvPr/>
        </p:nvSpPr>
        <p:spPr>
          <a:xfrm>
            <a:off x="4160520" y="343814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</a:rPr>
              <a:t>Toma el curso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5577840" y="3401568"/>
            <a:ext cx="237744" cy="5486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8" name="Shape 33"/>
          <p:cNvSpPr/>
          <p:nvPr/>
        </p:nvSpPr>
        <p:spPr>
          <a:xfrm>
            <a:off x="5989320" y="3090672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9" name="Text 34"/>
          <p:cNvSpPr/>
          <p:nvPr/>
        </p:nvSpPr>
        <p:spPr>
          <a:xfrm>
            <a:off x="5989320" y="312724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1A1A"/>
                </a:solidFill>
              </a:rPr>
              <a:t>Proveedor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A1A1A"/>
                </a:solidFill>
              </a:rPr>
              <a:t>A / B / C</a:t>
            </a:r>
            <a:endParaRPr lang="en-US" sz="950" dirty="0"/>
          </a:p>
        </p:txBody>
      </p:sp>
      <p:sp>
        <p:nvSpPr>
          <p:cNvPr id="40" name="Text 35"/>
          <p:cNvSpPr/>
          <p:nvPr/>
        </p:nvSpPr>
        <p:spPr>
          <a:xfrm>
            <a:off x="5989320" y="343814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</a:rPr>
              <a:t>Imparte el curso</a:t>
            </a:r>
            <a:endParaRPr lang="en-US" sz="800" dirty="0"/>
          </a:p>
        </p:txBody>
      </p:sp>
      <p:sp>
        <p:nvSpPr>
          <p:cNvPr id="41" name="Shape 36"/>
          <p:cNvSpPr/>
          <p:nvPr/>
        </p:nvSpPr>
        <p:spPr>
          <a:xfrm>
            <a:off x="7406640" y="3401568"/>
            <a:ext cx="237744" cy="5486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2" name="Shape 37"/>
          <p:cNvSpPr/>
          <p:nvPr/>
        </p:nvSpPr>
        <p:spPr>
          <a:xfrm>
            <a:off x="7635240" y="3090672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FF0F0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3" name="Text 38"/>
          <p:cNvSpPr/>
          <p:nvPr/>
        </p:nvSpPr>
        <p:spPr>
          <a:xfrm>
            <a:off x="7635240" y="312724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1A1A"/>
                </a:solidFill>
              </a:rPr>
              <a:t>Resultado: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A1A1A"/>
                </a:solidFill>
              </a:rPr>
              <a:t>% Cobertura</a:t>
            </a:r>
            <a:endParaRPr lang="en-US" sz="950" dirty="0"/>
          </a:p>
        </p:txBody>
      </p:sp>
      <p:sp>
        <p:nvSpPr>
          <p:cNvPr id="44" name="Text 39"/>
          <p:cNvSpPr/>
          <p:nvPr/>
        </p:nvSpPr>
        <p:spPr>
          <a:xfrm>
            <a:off x="7635240" y="343814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</a:rPr>
              <a:t>Métrica actual</a:t>
            </a:r>
            <a:endParaRPr lang="en-US" sz="800" dirty="0"/>
          </a:p>
        </p:txBody>
      </p:sp>
      <p:sp>
        <p:nvSpPr>
          <p:cNvPr id="45" name="Text 40"/>
          <p:cNvSpPr/>
          <p:nvPr/>
        </p:nvSpPr>
        <p:spPr>
          <a:xfrm>
            <a:off x="411480" y="38587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392B"/>
                </a:solidFill>
              </a:rPr>
              <a:t>⚠  La métrica de salida (% cobertura) es la que cuestionaremos en el siguiente paso.</a:t>
            </a:r>
            <a:endParaRPr lang="en-US" sz="950" dirty="0"/>
          </a:p>
        </p:txBody>
      </p:sp>
      <p:sp>
        <p:nvSpPr>
          <p:cNvPr id="46" name="Shape 4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7" name="Text 42"/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800" dirty="0"/>
          </a:p>
        </p:txBody>
      </p:sp>
      <p:sp>
        <p:nvSpPr>
          <p:cNvPr id="48" name="Text 43"/>
          <p:cNvSpPr/>
          <p:nvPr/>
        </p:nvSpPr>
        <p:spPr>
          <a:xfrm>
            <a:off x="8412480" y="49011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E74C3C"/>
                </a:solidFill>
              </a:rPr>
              <a:t>2/ 9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164592" cy="50794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" name="Shape 2"/>
          <p:cNvSpPr/>
          <p:nvPr/>
        </p:nvSpPr>
        <p:spPr>
          <a:xfrm>
            <a:off x="292608" y="137160"/>
            <a:ext cx="1645920" cy="274320"/>
          </a:xfrm>
          <a:prstGeom prst="roundRect">
            <a:avLst>
              <a:gd name="adj" fmla="val 13333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" name="Text 3"/>
          <p:cNvSpPr/>
          <p:nvPr/>
        </p:nvSpPr>
        <p:spPr>
          <a:xfrm>
            <a:off x="292608" y="137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◆ DIAMANTE 1 · DESCUBRIR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92608" y="4754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0392B"/>
                </a:solidFill>
              </a:rPr>
              <a:t>DESCUBRIR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2608" y="713232"/>
            <a:ext cx="8641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</a:rPr>
              <a:t>Situación actual: tres problemas con la métrica de cobertura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92608" y="1261872"/>
            <a:ext cx="8641080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9" name="Shape 7"/>
          <p:cNvSpPr/>
          <p:nvPr/>
        </p:nvSpPr>
        <p:spPr>
          <a:xfrm>
            <a:off x="292608" y="1389888"/>
            <a:ext cx="8558784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10" name="Shape 8"/>
          <p:cNvSpPr/>
          <p:nvPr/>
        </p:nvSpPr>
        <p:spPr>
          <a:xfrm>
            <a:off x="292608" y="1389888"/>
            <a:ext cx="54864" cy="8046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1" name="Shape 9"/>
          <p:cNvSpPr/>
          <p:nvPr/>
        </p:nvSpPr>
        <p:spPr>
          <a:xfrm>
            <a:off x="457200" y="1609344"/>
            <a:ext cx="347472" cy="3474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2" name="Text 10"/>
          <p:cNvSpPr/>
          <p:nvPr/>
        </p:nvSpPr>
        <p:spPr>
          <a:xfrm>
            <a:off x="457200" y="16093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14400" y="14813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Cobertura 100% es obligatoria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175564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Si alguien reprueba debe repetir el curso. El 100% se alcanza igual, independiente del proveedor. La métrica no discrimina.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440" y="1664208"/>
            <a:ext cx="1691640" cy="256032"/>
          </a:xfrm>
          <a:prstGeom prst="roundRect">
            <a:avLst>
              <a:gd name="adj" fmla="val 14286"/>
            </a:avLst>
          </a:prstGeom>
          <a:solidFill>
            <a:srgbClr val="FFF0F0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6" name="Text 14"/>
          <p:cNvSpPr/>
          <p:nvPr/>
        </p:nvSpPr>
        <p:spPr>
          <a:xfrm>
            <a:off x="6949440" y="1664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0392B"/>
                </a:solidFill>
              </a:rPr>
              <a:t>No diferencia proveedores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92608" y="2322576"/>
            <a:ext cx="8558784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18" name="Shape 16"/>
          <p:cNvSpPr/>
          <p:nvPr/>
        </p:nvSpPr>
        <p:spPr>
          <a:xfrm>
            <a:off x="292608" y="2322576"/>
            <a:ext cx="54864" cy="8046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9" name="Shape 17"/>
          <p:cNvSpPr/>
          <p:nvPr/>
        </p:nvSpPr>
        <p:spPr>
          <a:xfrm>
            <a:off x="457200" y="2542032"/>
            <a:ext cx="347472" cy="3474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0" name="Text 18"/>
          <p:cNvSpPr/>
          <p:nvPr/>
        </p:nvSpPr>
        <p:spPr>
          <a:xfrm>
            <a:off x="457200" y="25420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14400" y="24140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Vacaciones y ausencias se reagendan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268833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Quien no completa el ciclo activo se reprograma en el siguiente. El % puntual da una imagen distorsionada del avance real.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9440" y="2596896"/>
            <a:ext cx="1691640" cy="256032"/>
          </a:xfrm>
          <a:prstGeom prst="roundRect">
            <a:avLst>
              <a:gd name="adj" fmla="val 14286"/>
            </a:avLst>
          </a:prstGeom>
          <a:solidFill>
            <a:srgbClr val="FFF0F0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4" name="Text 22"/>
          <p:cNvSpPr/>
          <p:nvPr/>
        </p:nvSpPr>
        <p:spPr>
          <a:xfrm>
            <a:off x="6949440" y="25968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0392B"/>
                </a:solidFill>
              </a:rPr>
              <a:t>Falsa imagen de avance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92608" y="3255264"/>
            <a:ext cx="8558784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26" name="Shape 24"/>
          <p:cNvSpPr/>
          <p:nvPr/>
        </p:nvSpPr>
        <p:spPr>
          <a:xfrm>
            <a:off x="292608" y="3255264"/>
            <a:ext cx="54864" cy="8046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7" name="Shape 25"/>
          <p:cNvSpPr/>
          <p:nvPr/>
        </p:nvSpPr>
        <p:spPr>
          <a:xfrm>
            <a:off x="457200" y="3474720"/>
            <a:ext cx="347472" cy="3474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8" name="Text 26"/>
          <p:cNvSpPr/>
          <p:nvPr/>
        </p:nvSpPr>
        <p:spPr>
          <a:xfrm>
            <a:off x="457200" y="3474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14400" y="334670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Completar ≠ Aprender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4400" y="3621024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El % de cobertura no mide si el colaborador adquirió conocimiento real. Reducir el riesgo normativo requiere entendimiento, no solo asistencia.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949440" y="3529584"/>
            <a:ext cx="1691640" cy="256032"/>
          </a:xfrm>
          <a:prstGeom prst="roundRect">
            <a:avLst>
              <a:gd name="adj" fmla="val 14286"/>
            </a:avLst>
          </a:prstGeom>
          <a:solidFill>
            <a:srgbClr val="FFF0F0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2" name="Text 30"/>
          <p:cNvSpPr/>
          <p:nvPr/>
        </p:nvSpPr>
        <p:spPr>
          <a:xfrm>
            <a:off x="6949440" y="352958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0392B"/>
                </a:solidFill>
              </a:rPr>
              <a:t>No mide lo que importa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92608" y="4224528"/>
            <a:ext cx="8558784" cy="47548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4" name="Text 32"/>
          <p:cNvSpPr/>
          <p:nvPr/>
        </p:nvSpPr>
        <p:spPr>
          <a:xfrm>
            <a:off x="438912" y="42702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Conclusión de la fase Descubrir: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423160" y="4270248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La cobertura en contexto de certificación obligatoria no diferencia proveedores. Necesitamos métricas que capturen ROI normativo y efectividad real de aprendizaje.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7" name="Text 35"/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412480" y="49011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74C3C"/>
                </a:solidFill>
              </a:rPr>
              <a:t>3 / 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164592" cy="50794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" name="Shape 2"/>
          <p:cNvSpPr/>
          <p:nvPr/>
        </p:nvSpPr>
        <p:spPr>
          <a:xfrm>
            <a:off x="292608" y="137160"/>
            <a:ext cx="1645920" cy="274320"/>
          </a:xfrm>
          <a:prstGeom prst="roundRect">
            <a:avLst>
              <a:gd name="adj" fmla="val 13333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" name="Text 3"/>
          <p:cNvSpPr/>
          <p:nvPr/>
        </p:nvSpPr>
        <p:spPr>
          <a:xfrm>
            <a:off x="292608" y="137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◆ DIAMANTE 1 · DEFINIR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92608" y="4754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0392B"/>
                </a:solidFill>
              </a:rPr>
              <a:t>DEFINIR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2608" y="713232"/>
            <a:ext cx="8641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</a:rPr>
              <a:t>Definición del problema y caso de negocio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92608" y="1261872"/>
            <a:ext cx="8641080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9" name="Shape 7"/>
          <p:cNvSpPr/>
          <p:nvPr/>
        </p:nvSpPr>
        <p:spPr>
          <a:xfrm>
            <a:off x="292608" y="1389888"/>
            <a:ext cx="4114800" cy="319339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10" name="Text 8"/>
          <p:cNvSpPr/>
          <p:nvPr/>
        </p:nvSpPr>
        <p:spPr>
          <a:xfrm>
            <a:off x="438912" y="14630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C0392B"/>
                </a:solidFill>
              </a:rPr>
              <a:t>PROBLEMA DEFINIDO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38912" y="173736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"¿Qué proveedor genera mayor ROI normativo y retención de conocimiento en colaboradores comparables?"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38912" y="2706624"/>
            <a:ext cx="3657600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2843784"/>
            <a:ext cx="347472" cy="34747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96112" y="282549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1A"/>
                </a:solidFill>
              </a:rPr>
              <a:t>Dimensión 1 · ROI Normativo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6112" y="306324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Costo del proveedor vs. multas y riesgo PCI DSS evitado.</a:t>
            </a:r>
            <a:endParaRPr lang="en-US" sz="9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3502152"/>
            <a:ext cx="347472" cy="34747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96112" y="348386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1A"/>
                </a:solidFill>
              </a:rPr>
              <a:t>Dimensión 2 · Conocimiento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96112" y="37216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Score post-test: ¿el colaborador realmente aprendió?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4617720" y="1273158"/>
            <a:ext cx="4224528" cy="3310128"/>
          </a:xfrm>
          <a:prstGeom prst="rect">
            <a:avLst/>
          </a:prstGeom>
          <a:solidFill>
            <a:srgbClr val="1A1A1A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20" name="Text 16"/>
          <p:cNvSpPr/>
          <p:nvPr/>
        </p:nvSpPr>
        <p:spPr>
          <a:xfrm>
            <a:off x="4773168" y="146304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C0392B"/>
                </a:solidFill>
              </a:rPr>
              <a:t>CASO DE NEGOCIO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4773168" y="17830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BBBBB"/>
                </a:solidFill>
              </a:rPr>
              <a:t>Proveedor A · costo anual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7479792" y="178308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BBBBB"/>
                </a:solidFill>
              </a:rPr>
              <a:t>625 UF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4773168" y="196012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BBBBB"/>
                </a:solidFill>
              </a:rPr>
              <a:t>Proveedor B · costo anual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7479792" y="1960125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BBBBB"/>
                </a:solidFill>
              </a:rPr>
              <a:t>605 UF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4773168" y="211771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BBBBB"/>
                </a:solidFill>
              </a:rPr>
              <a:t>Proveedor C · costo anual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79792" y="2117715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BBBBB"/>
                </a:solidFill>
              </a:rPr>
              <a:t>595 UF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4773168" y="292445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Exposición total al riesgo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7479792" y="2924455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74C3C"/>
                </a:solidFill>
              </a:rPr>
              <a:t>~30.000 UF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4773168" y="319877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88888"/>
                </a:solidFill>
              </a:rPr>
              <a:t>VPN costos · 3 años · 15%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4773168" y="347309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BBBBB"/>
                </a:solidFill>
              </a:rPr>
              <a:t>  · Proveedor A (más caro)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7479792" y="3473095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BBBBB"/>
                </a:solidFill>
              </a:rPr>
              <a:t>1.427 UF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4773168" y="374741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BBBBB"/>
                </a:solidFill>
              </a:rPr>
              <a:t>  · Proveedor C (más barato)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7479792" y="3747415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BBBBB"/>
                </a:solidFill>
              </a:rPr>
              <a:t>1.359 UF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4773168" y="402173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Diferencia VPN A vs C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7479792" y="4021735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74C3C"/>
                </a:solidFill>
              </a:rPr>
              <a:t>Solo 68 UF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4773168" y="4407408"/>
            <a:ext cx="3931920" cy="2286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7" name="Text 33"/>
          <p:cNvSpPr/>
          <p:nvPr/>
        </p:nvSpPr>
        <p:spPr>
          <a:xfrm>
            <a:off x="1579383" y="4653760"/>
            <a:ext cx="6997430" cy="170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E74C3C"/>
                </a:solidFill>
              </a:rPr>
              <a:t>Hipótesis</a:t>
            </a:r>
            <a:r>
              <a:rPr lang="en-US" sz="1400" b="1" dirty="0">
                <a:solidFill>
                  <a:srgbClr val="E74C3C"/>
                </a:solidFill>
              </a:rPr>
              <a:t>: El precio no distingue proveedores. La decisión debe basarse </a:t>
            </a:r>
            <a:r>
              <a:rPr lang="en-US" sz="1400" b="1" dirty="0" err="1">
                <a:solidFill>
                  <a:srgbClr val="E74C3C"/>
                </a:solidFill>
              </a:rPr>
              <a:t>en</a:t>
            </a:r>
            <a:r>
              <a:rPr lang="en-US" sz="1400" b="1" dirty="0">
                <a:solidFill>
                  <a:srgbClr val="E74C3C"/>
                </a:solidFill>
              </a:rPr>
              <a:t> </a:t>
            </a:r>
            <a:r>
              <a:rPr lang="en-US" sz="1400" b="1" dirty="0" err="1">
                <a:solidFill>
                  <a:srgbClr val="E74C3C"/>
                </a:solidFill>
              </a:rPr>
              <a:t>efectividad</a:t>
            </a:r>
            <a:r>
              <a:rPr lang="en-US" sz="1400" b="1" dirty="0">
                <a:solidFill>
                  <a:srgbClr val="E74C3C"/>
                </a:solidFill>
              </a:rPr>
              <a:t>!!!</a:t>
            </a:r>
            <a:endParaRPr lang="en-US" sz="1400" b="1" dirty="0"/>
          </a:p>
        </p:txBody>
      </p:sp>
      <p:sp>
        <p:nvSpPr>
          <p:cNvPr id="38" name="Shape 3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9" name="Text 35"/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8412480" y="49011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74C3C"/>
                </a:solidFill>
              </a:rPr>
              <a:t>4 / 9</a:t>
            </a:r>
            <a:endParaRPr lang="en-US" sz="900" dirty="0"/>
          </a:p>
        </p:txBody>
      </p:sp>
      <p:sp>
        <p:nvSpPr>
          <p:cNvPr id="41" name="Text 19">
            <a:extLst>
              <a:ext uri="{FF2B5EF4-FFF2-40B4-BE49-F238E27FC236}">
                <a16:creationId xmlns:a16="http://schemas.microsoft.com/office/drawing/2014/main" id="{F15848FA-19D0-E0DD-415A-608BF448E133}"/>
              </a:ext>
            </a:extLst>
          </p:cNvPr>
          <p:cNvSpPr/>
          <p:nvPr/>
        </p:nvSpPr>
        <p:spPr>
          <a:xfrm>
            <a:off x="4745736" y="253626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BBBBBB"/>
                </a:solidFill>
              </a:rPr>
              <a:t>Multa</a:t>
            </a:r>
            <a:r>
              <a:rPr lang="en-US" sz="1000" dirty="0">
                <a:solidFill>
                  <a:srgbClr val="BBBBBB"/>
                </a:solidFill>
              </a:rPr>
              <a:t> </a:t>
            </a:r>
            <a:r>
              <a:rPr lang="en-US" sz="1000" dirty="0" err="1">
                <a:solidFill>
                  <a:srgbClr val="BBBBBB"/>
                </a:solidFill>
              </a:rPr>
              <a:t>incumplimiento</a:t>
            </a:r>
            <a:r>
              <a:rPr lang="en-US" sz="1000" dirty="0">
                <a:solidFill>
                  <a:srgbClr val="BBBBBB"/>
                </a:solidFill>
              </a:rPr>
              <a:t> PCI </a:t>
            </a:r>
            <a:endParaRPr lang="en-US" sz="1000" dirty="0"/>
          </a:p>
        </p:txBody>
      </p:sp>
      <p:sp>
        <p:nvSpPr>
          <p:cNvPr id="42" name="Text 20">
            <a:extLst>
              <a:ext uri="{FF2B5EF4-FFF2-40B4-BE49-F238E27FC236}">
                <a16:creationId xmlns:a16="http://schemas.microsoft.com/office/drawing/2014/main" id="{672BB1F5-CB52-B49D-7D3C-6F36016B3840}"/>
              </a:ext>
            </a:extLst>
          </p:cNvPr>
          <p:cNvSpPr/>
          <p:nvPr/>
        </p:nvSpPr>
        <p:spPr>
          <a:xfrm>
            <a:off x="7452360" y="2536265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BBBBB"/>
                </a:solidFill>
              </a:rPr>
              <a:t>~10.000 UF</a:t>
            </a:r>
            <a:endParaRPr lang="en-US" sz="1000" dirty="0"/>
          </a:p>
        </p:txBody>
      </p:sp>
      <p:sp>
        <p:nvSpPr>
          <p:cNvPr id="43" name="Text 21">
            <a:extLst>
              <a:ext uri="{FF2B5EF4-FFF2-40B4-BE49-F238E27FC236}">
                <a16:creationId xmlns:a16="http://schemas.microsoft.com/office/drawing/2014/main" id="{6F3F760E-4B27-6382-6D17-9384E23F90CA}"/>
              </a:ext>
            </a:extLst>
          </p:cNvPr>
          <p:cNvSpPr/>
          <p:nvPr/>
        </p:nvSpPr>
        <p:spPr>
          <a:xfrm>
            <a:off x="4745736" y="269385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BBBBB"/>
                </a:solidFill>
              </a:rPr>
              <a:t>Riesgo </a:t>
            </a:r>
            <a:r>
              <a:rPr lang="en-US" sz="1000" dirty="0" err="1">
                <a:solidFill>
                  <a:srgbClr val="BBBBBB"/>
                </a:solidFill>
              </a:rPr>
              <a:t>Reputacional</a:t>
            </a:r>
            <a:endParaRPr lang="en-US" sz="1000" dirty="0"/>
          </a:p>
        </p:txBody>
      </p:sp>
      <p:sp>
        <p:nvSpPr>
          <p:cNvPr id="44" name="Text 22">
            <a:extLst>
              <a:ext uri="{FF2B5EF4-FFF2-40B4-BE49-F238E27FC236}">
                <a16:creationId xmlns:a16="http://schemas.microsoft.com/office/drawing/2014/main" id="{93EA59EB-8749-5831-D7E4-0039B6053E0C}"/>
              </a:ext>
            </a:extLst>
          </p:cNvPr>
          <p:cNvSpPr/>
          <p:nvPr/>
        </p:nvSpPr>
        <p:spPr>
          <a:xfrm>
            <a:off x="7452360" y="2693855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BBBBB"/>
                </a:solidFill>
              </a:rPr>
              <a:t>~20.000 UF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164592" cy="5079492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" name="Shape 2"/>
          <p:cNvSpPr/>
          <p:nvPr/>
        </p:nvSpPr>
        <p:spPr>
          <a:xfrm>
            <a:off x="292608" y="137160"/>
            <a:ext cx="1645920" cy="274320"/>
          </a:xfrm>
          <a:prstGeom prst="roundRect">
            <a:avLst>
              <a:gd name="adj" fmla="val 13333"/>
            </a:avLst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" name="Text 3"/>
          <p:cNvSpPr/>
          <p:nvPr/>
        </p:nvSpPr>
        <p:spPr>
          <a:xfrm>
            <a:off x="292608" y="137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◆ DIAMANTE 2 · DESARROLLAR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92608" y="4754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2C2C2C"/>
                </a:solidFill>
              </a:rPr>
              <a:t>DESARROLLAR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2608" y="713232"/>
            <a:ext cx="8641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</a:rPr>
              <a:t>Diseño metodológico: A/B Testing con grupos homogéneos vía ML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92608" y="1261872"/>
            <a:ext cx="8641080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9" name="Shape 7"/>
          <p:cNvSpPr/>
          <p:nvPr/>
        </p:nvSpPr>
        <p:spPr>
          <a:xfrm>
            <a:off x="292608" y="1389888"/>
            <a:ext cx="2084832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CCCC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10" name="Shape 8"/>
          <p:cNvSpPr/>
          <p:nvPr/>
        </p:nvSpPr>
        <p:spPr>
          <a:xfrm>
            <a:off x="292608" y="1389888"/>
            <a:ext cx="2084832" cy="56692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1" name="Text 9"/>
          <p:cNvSpPr/>
          <p:nvPr/>
        </p:nvSpPr>
        <p:spPr>
          <a:xfrm>
            <a:off x="365760" y="1444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01</a:t>
            </a:r>
            <a:endParaRPr lang="en-US" sz="280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20" y="1481328"/>
            <a:ext cx="384048" cy="38404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02336" y="1993392"/>
            <a:ext cx="1865376" cy="274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4" name="Text 11"/>
          <p:cNvSpPr/>
          <p:nvPr/>
        </p:nvSpPr>
        <p:spPr>
          <a:xfrm>
            <a:off x="402336" y="2048256"/>
            <a:ext cx="18836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Recolección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de Datos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02336" y="2670048"/>
            <a:ext cx="188366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000" dirty="0">
                <a:solidFill>
                  <a:srgbClr val="666666"/>
                </a:solidFill>
              </a:rPr>
              <a:t>22 variables: demografía, cargo, área, antigüedad, historial de capacitación y resultado PCI baseline.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542032" y="1389888"/>
            <a:ext cx="2084832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17" name="Shape 14"/>
          <p:cNvSpPr/>
          <p:nvPr/>
        </p:nvSpPr>
        <p:spPr>
          <a:xfrm>
            <a:off x="2542032" y="1389888"/>
            <a:ext cx="2084832" cy="566928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8" name="Text 15"/>
          <p:cNvSpPr/>
          <p:nvPr/>
        </p:nvSpPr>
        <p:spPr>
          <a:xfrm>
            <a:off x="2615184" y="1444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02</a:t>
            </a:r>
            <a:endParaRPr lang="en-US" sz="280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3944" y="1481328"/>
            <a:ext cx="384048" cy="384048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2651760" y="1993392"/>
            <a:ext cx="1865376" cy="27432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1" name="Text 17"/>
          <p:cNvSpPr/>
          <p:nvPr/>
        </p:nvSpPr>
        <p:spPr>
          <a:xfrm>
            <a:off x="2651760" y="2048256"/>
            <a:ext cx="18836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Clustering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K-Means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2651760" y="2670048"/>
            <a:ext cx="188366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000" dirty="0">
                <a:solidFill>
                  <a:srgbClr val="666666"/>
                </a:solidFill>
              </a:rPr>
              <a:t>ML agrupa colaboradores en perfiles homogéneos. Elimina sesgos de selección en la asignación.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4791456" y="1389888"/>
            <a:ext cx="2084832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CCCC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24" name="Shape 20"/>
          <p:cNvSpPr/>
          <p:nvPr/>
        </p:nvSpPr>
        <p:spPr>
          <a:xfrm>
            <a:off x="4791456" y="1389888"/>
            <a:ext cx="2084832" cy="56692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5" name="Text 21"/>
          <p:cNvSpPr/>
          <p:nvPr/>
        </p:nvSpPr>
        <p:spPr>
          <a:xfrm>
            <a:off x="4864608" y="1444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03</a:t>
            </a:r>
            <a:endParaRPr lang="en-US" sz="28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1481328"/>
            <a:ext cx="384048" cy="384048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4901184" y="1993392"/>
            <a:ext cx="1865376" cy="274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8" name="Text 23"/>
          <p:cNvSpPr/>
          <p:nvPr/>
        </p:nvSpPr>
        <p:spPr>
          <a:xfrm>
            <a:off x="4901184" y="2048256"/>
            <a:ext cx="18836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Asignación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A/B Testing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4901184" y="2670048"/>
            <a:ext cx="188366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000" dirty="0">
                <a:solidFill>
                  <a:srgbClr val="666666"/>
                </a:solidFill>
              </a:rPr>
              <a:t>Sub-grupos de cada cluster se asignan aleatoriamente a Proveedor A, B o C. Comparabilidad garantizada.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7040880" y="1389888"/>
            <a:ext cx="2084832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31" name="Shape 26"/>
          <p:cNvSpPr/>
          <p:nvPr/>
        </p:nvSpPr>
        <p:spPr>
          <a:xfrm>
            <a:off x="7040880" y="1389888"/>
            <a:ext cx="2084832" cy="566928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2" name="Text 27"/>
          <p:cNvSpPr/>
          <p:nvPr/>
        </p:nvSpPr>
        <p:spPr>
          <a:xfrm>
            <a:off x="7114032" y="1444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04</a:t>
            </a:r>
            <a:endParaRPr lang="en-US" sz="2800" dirty="0"/>
          </a:p>
        </p:txBody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2792" y="1481328"/>
            <a:ext cx="384048" cy="384048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7150608" y="1993392"/>
            <a:ext cx="1865376" cy="27432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5" name="Text 29"/>
          <p:cNvSpPr/>
          <p:nvPr/>
        </p:nvSpPr>
        <p:spPr>
          <a:xfrm>
            <a:off x="7150608" y="2048256"/>
            <a:ext cx="18836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Evaluación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de Resultados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7150608" y="2670048"/>
            <a:ext cx="188366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000" dirty="0">
                <a:solidFill>
                  <a:srgbClr val="666666"/>
                </a:solidFill>
              </a:rPr>
              <a:t>Se compara score post-test y ROI normativo por proveedor con pruebas de significancia estadística.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292608" y="4709160"/>
            <a:ext cx="8558784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8" name="Shape 3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9" name="Text 33"/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900" dirty="0"/>
          </a:p>
        </p:txBody>
      </p:sp>
      <p:sp>
        <p:nvSpPr>
          <p:cNvPr id="40" name="Text 34"/>
          <p:cNvSpPr/>
          <p:nvPr/>
        </p:nvSpPr>
        <p:spPr>
          <a:xfrm>
            <a:off x="8412480" y="49011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74C3C"/>
                </a:solidFill>
              </a:rPr>
              <a:t>5/ 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164592" cy="5079492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4" name="Shape 2"/>
          <p:cNvSpPr/>
          <p:nvPr/>
        </p:nvSpPr>
        <p:spPr>
          <a:xfrm>
            <a:off x="292608" y="137160"/>
            <a:ext cx="1645920" cy="274320"/>
          </a:xfrm>
          <a:prstGeom prst="roundRect">
            <a:avLst>
              <a:gd name="adj" fmla="val 13333"/>
            </a:avLst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5" name="Text 3"/>
          <p:cNvSpPr/>
          <p:nvPr/>
        </p:nvSpPr>
        <p:spPr>
          <a:xfrm>
            <a:off x="292608" y="137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◆ DIAMANTE 2 · DESARROLLAR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92608" y="4754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C2C2C"/>
                </a:solidFill>
              </a:rPr>
              <a:t>DESARROLLAR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92608" y="713232"/>
            <a:ext cx="8641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</a:rPr>
              <a:t>EDA y Clustering: segmentación de 5.000 colaboradores en 3 perfiles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92608" y="1261872"/>
            <a:ext cx="8641080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9" name="Shape 7"/>
          <p:cNvSpPr/>
          <p:nvPr/>
        </p:nvSpPr>
        <p:spPr>
          <a:xfrm>
            <a:off x="292608" y="1389888"/>
            <a:ext cx="8558784" cy="594360"/>
          </a:xfrm>
          <a:prstGeom prst="rect">
            <a:avLst/>
          </a:prstGeom>
          <a:solidFill>
            <a:srgbClr val="F2F2F2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400"/>
          </a:p>
        </p:txBody>
      </p:sp>
      <p:sp>
        <p:nvSpPr>
          <p:cNvPr id="10" name="Text 8"/>
          <p:cNvSpPr/>
          <p:nvPr/>
        </p:nvSpPr>
        <p:spPr>
          <a:xfrm>
            <a:off x="438912" y="144475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1A"/>
                </a:solidFill>
              </a:rPr>
              <a:t>Dataset: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97280" y="1444752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5.000 colaboradores · 22 variables (demografía, cargo, ingresos, historial, resultado_capacitacion_pci)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97280" y="1673352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</a:rPr>
              <a:t>Preprocesamiento: StandardScaler + LabelEncoder · Variables seleccionadas: Age, Monthly_Income, Years_At_Company, Training_Hours_Last_Year, Job_Satisfaction, resultado_capacitacion_pci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2608" y="2084832"/>
            <a:ext cx="420624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400"/>
          </a:p>
        </p:txBody>
      </p:sp>
      <p:sp>
        <p:nvSpPr>
          <p:cNvPr id="14" name="Text 12"/>
          <p:cNvSpPr/>
          <p:nvPr/>
        </p:nvSpPr>
        <p:spPr>
          <a:xfrm>
            <a:off x="438912" y="214884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C0392B"/>
                </a:solidFill>
              </a:rPr>
              <a:t>COMPARACIÓN DE ALGORITMOS DE CLUSTERING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8912" y="246888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</a:rPr>
              <a:t>Algoritmo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19072" y="246888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</a:rPr>
              <a:t>Silhouette ↑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633472" y="246888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CH ↑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46120" y="246888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</a:rPr>
              <a:t>DB ↓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8912" y="2697480"/>
            <a:ext cx="3913632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20" name="Shape 18"/>
          <p:cNvSpPr/>
          <p:nvPr/>
        </p:nvSpPr>
        <p:spPr>
          <a:xfrm>
            <a:off x="292608" y="2724912"/>
            <a:ext cx="4206240" cy="320040"/>
          </a:xfrm>
          <a:prstGeom prst="rect">
            <a:avLst/>
          </a:prstGeom>
          <a:solidFill>
            <a:srgbClr val="FFF5F5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21" name="Shape 19"/>
          <p:cNvSpPr/>
          <p:nvPr/>
        </p:nvSpPr>
        <p:spPr>
          <a:xfrm>
            <a:off x="292608" y="2724912"/>
            <a:ext cx="54864" cy="3200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22" name="Text 20"/>
          <p:cNvSpPr/>
          <p:nvPr/>
        </p:nvSpPr>
        <p:spPr>
          <a:xfrm>
            <a:off x="457200" y="27432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0392B"/>
                </a:solidFill>
              </a:rPr>
              <a:t>K-Means ✓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719072" y="27432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0392B"/>
                </a:solidFill>
              </a:rPr>
              <a:t>0.1346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633472" y="2743200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0392B"/>
                </a:solidFill>
              </a:rPr>
              <a:t>711.4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246120" y="2743200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0392B"/>
                </a:solidFill>
              </a:rPr>
              <a:t>2.59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2608" y="3072384"/>
            <a:ext cx="42062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27" name="Text 25"/>
          <p:cNvSpPr/>
          <p:nvPr/>
        </p:nvSpPr>
        <p:spPr>
          <a:xfrm>
            <a:off x="457200" y="309067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Hierarchical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719072" y="30906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0.1306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633472" y="309067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692.9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246120" y="309067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2.66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92608" y="3419856"/>
            <a:ext cx="42062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32" name="Text 30"/>
          <p:cNvSpPr/>
          <p:nvPr/>
        </p:nvSpPr>
        <p:spPr>
          <a:xfrm>
            <a:off x="457200" y="343814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SOM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719072" y="343814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0.1006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633472" y="3438144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589.0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246120" y="3438144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3.29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38912" y="3858768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K-Means seleccionado: mejor Silhouette (0.13), mayor cohesión intra-cluster (CH=711) y menor dispersión (DB=2.59)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709160" y="2084832"/>
            <a:ext cx="41148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400"/>
          </a:p>
        </p:txBody>
      </p:sp>
      <p:sp>
        <p:nvSpPr>
          <p:cNvPr id="38" name="Text 36"/>
          <p:cNvSpPr/>
          <p:nvPr/>
        </p:nvSpPr>
        <p:spPr>
          <a:xfrm>
            <a:off x="4846320" y="21488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C2C2C"/>
                </a:solidFill>
              </a:rPr>
              <a:t>3 PERFILES IDENTIFICADOS (K-Means)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09160" y="2468880"/>
            <a:ext cx="73152" cy="71323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40" name="Text 38"/>
          <p:cNvSpPr/>
          <p:nvPr/>
        </p:nvSpPr>
        <p:spPr>
          <a:xfrm>
            <a:off x="4864608" y="24871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Cluster 1</a:t>
            </a:r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41" name="Text 39"/>
          <p:cNvSpPr/>
          <p:nvPr/>
        </p:nvSpPr>
        <p:spPr>
          <a:xfrm>
            <a:off x="6126480" y="24871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1.939 colab.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995160" y="2487168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Dist. A/B/C: A:676  B:633  C:630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864608" y="272491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Perfil base</a:t>
            </a:r>
            <a:r>
              <a:rPr lang="en-US" sz="1000" dirty="0">
                <a:solidFill>
                  <a:srgbClr val="666666"/>
                </a:solidFill>
              </a:rPr>
              <a:t>: analistas y operativos con experiencia media.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64608" y="3182112"/>
            <a:ext cx="3794760" cy="16459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45" name="Shape 43"/>
          <p:cNvSpPr/>
          <p:nvPr/>
        </p:nvSpPr>
        <p:spPr>
          <a:xfrm>
            <a:off x="4709160" y="3255264"/>
            <a:ext cx="73152" cy="713232"/>
          </a:xfrm>
          <a:prstGeom prst="rect">
            <a:avLst/>
          </a:prstGeom>
          <a:solidFill>
            <a:srgbClr val="FF0000"/>
          </a:solidFill>
          <a:ln w="12700">
            <a:solidFill>
              <a:srgbClr val="3D3D3D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46" name="Text 44"/>
          <p:cNvSpPr/>
          <p:nvPr/>
        </p:nvSpPr>
        <p:spPr>
          <a:xfrm>
            <a:off x="4864608" y="32735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0000"/>
                </a:solidFill>
              </a:rPr>
              <a:t>Cluster 2</a:t>
            </a:r>
            <a:endParaRPr lang="en-US" sz="1100" dirty="0">
              <a:solidFill>
                <a:srgbClr val="FF0000"/>
              </a:solidFill>
            </a:endParaRPr>
          </a:p>
        </p:txBody>
      </p:sp>
      <p:sp>
        <p:nvSpPr>
          <p:cNvPr id="47" name="Text 45"/>
          <p:cNvSpPr/>
          <p:nvPr/>
        </p:nvSpPr>
        <p:spPr>
          <a:xfrm>
            <a:off x="6126480" y="32735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1.000 colab.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995160" y="327355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Dist. A/B/C: A:338  B:352  C:310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864608" y="3511296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0000"/>
                </a:solidFill>
              </a:rPr>
              <a:t>Perfil especialista</a:t>
            </a:r>
            <a:r>
              <a:rPr lang="en-US" sz="1000" dirty="0">
                <a:solidFill>
                  <a:srgbClr val="666666"/>
                </a:solidFill>
              </a:rPr>
              <a:t>: menor volumen, cargos técnicos y líderes.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864608" y="3968496"/>
            <a:ext cx="3794760" cy="16459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51" name="Shape 49"/>
          <p:cNvSpPr/>
          <p:nvPr/>
        </p:nvSpPr>
        <p:spPr>
          <a:xfrm>
            <a:off x="4709160" y="4041648"/>
            <a:ext cx="73152" cy="71323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52" name="Text 50"/>
          <p:cNvSpPr/>
          <p:nvPr/>
        </p:nvSpPr>
        <p:spPr>
          <a:xfrm>
            <a:off x="4864608" y="405993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</a:rPr>
              <a:t>Cluster 3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126480" y="40599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2.061 colab.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6995160" y="4059936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Dist. A/B/C: A:724  B:655  C:682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4864608" y="429768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</a:rPr>
              <a:t>Perfil sénior</a:t>
            </a:r>
            <a:r>
              <a:rPr lang="en-US" sz="1000" dirty="0">
                <a:solidFill>
                  <a:srgbClr val="666666"/>
                </a:solidFill>
              </a:rPr>
              <a:t>: mayor ingreso y años en la empresa.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864608" y="4754880"/>
            <a:ext cx="3794760" cy="16459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57" name="Text 55"/>
          <p:cNvSpPr/>
          <p:nvPr/>
        </p:nvSpPr>
        <p:spPr>
          <a:xfrm>
            <a:off x="4892040" y="459943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Distribución balanceada entre proveedores dentro de cada cluster garantiza comparabilidad del A/B Testing.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59" name="Text 57"/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412480" y="49011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74C3C"/>
                </a:solidFill>
              </a:rPr>
              <a:t>6 / 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164592" cy="5079492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" name="Shape 2"/>
          <p:cNvSpPr/>
          <p:nvPr/>
        </p:nvSpPr>
        <p:spPr>
          <a:xfrm>
            <a:off x="292608" y="137160"/>
            <a:ext cx="1920240" cy="274320"/>
          </a:xfrm>
          <a:prstGeom prst="roundRect">
            <a:avLst>
              <a:gd name="adj" fmla="val 13333"/>
            </a:avLst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" name="Text 3"/>
          <p:cNvSpPr/>
          <p:nvPr/>
        </p:nvSpPr>
        <p:spPr>
          <a:xfrm>
            <a:off x="292608" y="137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◆ DIAMANTE 2 · ENTREGAR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92608" y="4754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2C2C2C"/>
                </a:solidFill>
              </a:rPr>
              <a:t>ENTREGAR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2608" y="694944"/>
            <a:ext cx="8641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</a:rPr>
              <a:t>Resultados del A/B Testing: efectividad y análisis económico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92608" y="1188720"/>
            <a:ext cx="8641080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9" name="Shape 7"/>
          <p:cNvSpPr/>
          <p:nvPr/>
        </p:nvSpPr>
        <p:spPr>
          <a:xfrm>
            <a:off x="292608" y="1261872"/>
            <a:ext cx="8558784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10" name="Text 8"/>
          <p:cNvSpPr/>
          <p:nvPr/>
        </p:nvSpPr>
        <p:spPr>
          <a:xfrm>
            <a:off x="438912" y="13350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2C2C2C"/>
                </a:solidFill>
              </a:rPr>
              <a:t>SCORE DE CONOCIMIENTO Y ANÁLISIS ECONÓMICO POR PROVEEDOR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157276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66666"/>
                </a:solidFill>
              </a:rPr>
              <a:t>Proveedor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920240" y="157276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66666"/>
                </a:solidFill>
              </a:rPr>
              <a:t>Score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666666"/>
                </a:solidFill>
              </a:rPr>
              <a:t>Post-Test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108960" y="157276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66666"/>
                </a:solidFill>
              </a:rPr>
              <a:t>Costo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666666"/>
                </a:solidFill>
              </a:rPr>
              <a:t>Directo/año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297680" y="157276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66666"/>
                </a:solidFill>
              </a:rPr>
              <a:t>Costo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666666"/>
                </a:solidFill>
              </a:rPr>
              <a:t>Riesgo/año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440680" y="157276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66666"/>
                </a:solidFill>
              </a:rPr>
              <a:t>VPN Total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666666"/>
                </a:solidFill>
              </a:rPr>
              <a:t>3a·15%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629400" y="157276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66666"/>
                </a:solidFill>
              </a:rPr>
              <a:t>Reducción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666666"/>
                </a:solidFill>
              </a:rPr>
              <a:t>Riesgo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18120" y="157276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66666"/>
                </a:solidFill>
              </a:rPr>
              <a:t>Ranking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38912" y="1847088"/>
            <a:ext cx="8321040" cy="20117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9" name="Shape 17"/>
          <p:cNvSpPr/>
          <p:nvPr/>
        </p:nvSpPr>
        <p:spPr>
          <a:xfrm>
            <a:off x="292608" y="1874520"/>
            <a:ext cx="8558784" cy="338328"/>
          </a:xfrm>
          <a:prstGeom prst="rect">
            <a:avLst/>
          </a:prstGeom>
          <a:solidFill>
            <a:srgbClr val="FFF5F5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0" name="Shape 18"/>
          <p:cNvSpPr/>
          <p:nvPr/>
        </p:nvSpPr>
        <p:spPr>
          <a:xfrm>
            <a:off x="292608" y="1874520"/>
            <a:ext cx="54864" cy="33832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1" name="Text 19"/>
          <p:cNvSpPr/>
          <p:nvPr/>
        </p:nvSpPr>
        <p:spPr>
          <a:xfrm>
            <a:off x="457200" y="192024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0392B"/>
                </a:solidFill>
              </a:rPr>
              <a:t>Proveedor 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920240" y="192024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0392B"/>
                </a:solidFill>
              </a:rPr>
              <a:t>94,6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108960" y="192024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2.725 UF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297680" y="192024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155 UF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40680" y="192024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392B"/>
                </a:solidFill>
              </a:rPr>
              <a:t>6.577 UF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29400" y="192024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Alta ✓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818120" y="192024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🥇 1°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2608" y="2240280"/>
            <a:ext cx="8558784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9" name="Text 27"/>
          <p:cNvSpPr/>
          <p:nvPr/>
        </p:nvSpPr>
        <p:spPr>
          <a:xfrm>
            <a:off x="457200" y="22860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Proveedor 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920240" y="22860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92,1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108960" y="22860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2.705 UF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297680" y="22860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5100"/>
                </a:solidFill>
              </a:rPr>
              <a:t>759 UF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40680" y="22860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7.909 UF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29400" y="22860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Media ✓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818120" y="22860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🥈 2°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92608" y="2606040"/>
            <a:ext cx="8558784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7" name="Text 35"/>
          <p:cNvSpPr/>
          <p:nvPr/>
        </p:nvSpPr>
        <p:spPr>
          <a:xfrm>
            <a:off x="457200" y="26517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Proveedor C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920240" y="26517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90,0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108960" y="26517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2.695 UF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297680" y="26517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392B"/>
                </a:solidFill>
              </a:rPr>
              <a:t>2.319 UF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40680" y="26517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11.449 UF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629400" y="26517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Baja X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818120" y="26517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🥉 3°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92608" y="3063240"/>
            <a:ext cx="420624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45" name="Text 43"/>
          <p:cNvSpPr/>
          <p:nvPr/>
        </p:nvSpPr>
        <p:spPr>
          <a:xfrm>
            <a:off x="438912" y="313639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2C2C2C"/>
                </a:solidFill>
              </a:rPr>
              <a:t>SCORE POST-TEST POR PROVEEDOR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58368" y="3983126"/>
            <a:ext cx="804672" cy="54315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7" name="Text 45"/>
          <p:cNvSpPr/>
          <p:nvPr/>
        </p:nvSpPr>
        <p:spPr>
          <a:xfrm>
            <a:off x="658368" y="3763670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0392B"/>
                </a:solidFill>
              </a:rPr>
              <a:t>94.6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58368" y="455371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</a:rPr>
              <a:t>Prov. 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755648" y="4188866"/>
            <a:ext cx="804672" cy="337414"/>
          </a:xfrm>
          <a:prstGeom prst="rect">
            <a:avLst/>
          </a:prstGeom>
          <a:solidFill>
            <a:srgbClr val="3D3D3D"/>
          </a:solidFill>
          <a:ln w="12700">
            <a:solidFill>
              <a:srgbClr val="3D3D3D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0" name="Text 48"/>
          <p:cNvSpPr/>
          <p:nvPr/>
        </p:nvSpPr>
        <p:spPr>
          <a:xfrm>
            <a:off x="1755648" y="3969410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D3D3D"/>
                </a:solidFill>
              </a:rPr>
              <a:t>92.1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1755648" y="455371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</a:rPr>
              <a:t>Prov. B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852928" y="4361688"/>
            <a:ext cx="804672" cy="164592"/>
          </a:xfrm>
          <a:prstGeom prst="rect">
            <a:avLst/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3" name="Text 51"/>
          <p:cNvSpPr/>
          <p:nvPr/>
        </p:nvSpPr>
        <p:spPr>
          <a:xfrm>
            <a:off x="2852928" y="4142232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AAAAAA"/>
                </a:solidFill>
              </a:rPr>
              <a:t>90.0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2852928" y="455371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</a:rPr>
              <a:t>Prov. C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02920" y="4526280"/>
            <a:ext cx="3291840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6" name="Text 54"/>
          <p:cNvSpPr/>
          <p:nvPr/>
        </p:nvSpPr>
        <p:spPr>
          <a:xfrm>
            <a:off x="438912" y="475488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Diferencia A−C: +4,6 puntos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709160" y="2985420"/>
            <a:ext cx="4114800" cy="17190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8" name="Shape 56"/>
          <p:cNvSpPr/>
          <p:nvPr/>
        </p:nvSpPr>
        <p:spPr>
          <a:xfrm>
            <a:off x="4709160" y="3063240"/>
            <a:ext cx="4114800" cy="320040"/>
          </a:xfrm>
          <a:prstGeom prst="rect">
            <a:avLst/>
          </a:prstGeom>
          <a:solidFill>
            <a:srgbClr val="3D3D3D"/>
          </a:solidFill>
          <a:ln w="12700">
            <a:solidFill>
              <a:srgbClr val="3D3D3D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9" name="Text 57"/>
          <p:cNvSpPr/>
          <p:nvPr/>
        </p:nvSpPr>
        <p:spPr>
          <a:xfrm>
            <a:off x="4846320" y="31089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E74C3C"/>
                </a:solidFill>
              </a:rPr>
              <a:t>ARGUMENTO ECONÓMICO ACTUALIZADO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4846320" y="34381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BBBBB"/>
                </a:solidFill>
              </a:rPr>
              <a:t>Diferencia score A vs C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7589520" y="343814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</a:rPr>
              <a:t>+4,6 pts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4846320" y="3596155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BBBBB"/>
                </a:solidFill>
              </a:rPr>
              <a:t>Prob. multa Prov. A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589520" y="3596155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</a:rPr>
              <a:t>1,4%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4846320" y="3760651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74C3C"/>
                </a:solidFill>
              </a:rPr>
              <a:t>Prob. multa Prov. C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589520" y="3760651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E74C3C"/>
                </a:solidFill>
              </a:rPr>
              <a:t>21,1%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4846320" y="402540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VPN Total Prov. A (directo + riesgo)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7589520" y="402540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chemeClr val="bg1"/>
                </a:solidFill>
              </a:rPr>
              <a:t>6.577 UF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8" name="Text 66"/>
          <p:cNvSpPr/>
          <p:nvPr/>
        </p:nvSpPr>
        <p:spPr>
          <a:xfrm>
            <a:off x="4846320" y="42028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74C3C"/>
                </a:solidFill>
              </a:rPr>
              <a:t>VPN</a:t>
            </a:r>
            <a:r>
              <a:rPr lang="en-US" sz="900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en-US" sz="900" b="1" dirty="0">
                <a:solidFill>
                  <a:srgbClr val="E74C3C"/>
                </a:solidFill>
              </a:rPr>
              <a:t>Total</a:t>
            </a:r>
            <a:r>
              <a:rPr lang="en-US" sz="900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en-US" sz="900" b="1" dirty="0">
                <a:solidFill>
                  <a:srgbClr val="E74C3C"/>
                </a:solidFill>
              </a:rPr>
              <a:t>Prov. C (directo + riesgo)</a:t>
            </a:r>
          </a:p>
        </p:txBody>
      </p:sp>
      <p:sp>
        <p:nvSpPr>
          <p:cNvPr id="69" name="Text 67"/>
          <p:cNvSpPr/>
          <p:nvPr/>
        </p:nvSpPr>
        <p:spPr>
          <a:xfrm>
            <a:off x="7589520" y="420287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74C3C"/>
                </a:solidFill>
              </a:rPr>
              <a:t>11.449 UF</a:t>
            </a:r>
          </a:p>
        </p:txBody>
      </p:sp>
      <p:sp>
        <p:nvSpPr>
          <p:cNvPr id="70" name="Text 68"/>
          <p:cNvSpPr/>
          <p:nvPr/>
        </p:nvSpPr>
        <p:spPr>
          <a:xfrm>
            <a:off x="4846320" y="444518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Diferencia VPN Total A vs C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6889129" y="445313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4846320" y="4440616"/>
            <a:ext cx="3840480" cy="18288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74" name="Shape 7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75" name="Text 73"/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8412480" y="49011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74C3C"/>
                </a:solidFill>
              </a:rPr>
              <a:t>7 / 9</a:t>
            </a:r>
            <a:endParaRPr lang="en-US" sz="900" dirty="0"/>
          </a:p>
        </p:txBody>
      </p:sp>
      <p:sp>
        <p:nvSpPr>
          <p:cNvPr id="78" name="CuadroTexto 77">
            <a:extLst>
              <a:ext uri="{FF2B5EF4-FFF2-40B4-BE49-F238E27FC236}">
                <a16:creationId xmlns:a16="http://schemas.microsoft.com/office/drawing/2014/main" id="{4ECCFCDA-60C8-731E-6DE3-D136127C87D6}"/>
              </a:ext>
            </a:extLst>
          </p:cNvPr>
          <p:cNvSpPr txBox="1"/>
          <p:nvPr/>
        </p:nvSpPr>
        <p:spPr>
          <a:xfrm>
            <a:off x="7807290" y="4402834"/>
            <a:ext cx="10441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74C3C"/>
                </a:solidFill>
              </a:rPr>
              <a:t>4.872 UF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164592" cy="5079492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" name="Shape 2"/>
          <p:cNvSpPr/>
          <p:nvPr/>
        </p:nvSpPr>
        <p:spPr>
          <a:xfrm>
            <a:off x="292608" y="137160"/>
            <a:ext cx="1645920" cy="274320"/>
          </a:xfrm>
          <a:prstGeom prst="roundRect">
            <a:avLst>
              <a:gd name="adj" fmla="val 13333"/>
            </a:avLst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" name="Text 3"/>
          <p:cNvSpPr/>
          <p:nvPr/>
        </p:nvSpPr>
        <p:spPr>
          <a:xfrm>
            <a:off x="292608" y="137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◆ DIAMANTE 2 · ENTREGAR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92608" y="4754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2C2C2C"/>
                </a:solidFill>
              </a:rPr>
              <a:t>ENTREGAR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2608" y="713232"/>
            <a:ext cx="8641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</a:rPr>
              <a:t>Recomendación y próximos pasos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92608" y="1261872"/>
            <a:ext cx="8641080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9" name="Shape 7"/>
          <p:cNvSpPr/>
          <p:nvPr/>
        </p:nvSpPr>
        <p:spPr>
          <a:xfrm>
            <a:off x="292608" y="1389888"/>
            <a:ext cx="8558784" cy="9601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" y="1517904"/>
            <a:ext cx="658368" cy="65836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051560" y="14447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FCCCC"/>
                </a:solidFill>
              </a:rPr>
              <a:t>RECOMENDACIÓN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51560" y="1682496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</a:rPr>
              <a:t>Seleccionar Proveedor A como proveedor principal de capacitación PCI DSS</a:t>
            </a: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292608" y="246888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15" name="Text 12"/>
          <p:cNvSpPr/>
          <p:nvPr/>
        </p:nvSpPr>
        <p:spPr>
          <a:xfrm>
            <a:off x="438912" y="253288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C2C2C"/>
                </a:solidFill>
              </a:rPr>
              <a:t>JUSTIFICACIÓN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38912" y="2843784"/>
            <a:ext cx="128016" cy="12801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7" name="Text 14"/>
          <p:cNvSpPr/>
          <p:nvPr/>
        </p:nvSpPr>
        <p:spPr>
          <a:xfrm>
            <a:off x="640080" y="27889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Mayor score de conocimiento: 94,6 vs 92,1 (B) y 90,0 (C).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38912" y="3118104"/>
            <a:ext cx="128016" cy="12801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9" name="Text 16"/>
          <p:cNvSpPr/>
          <p:nvPr/>
        </p:nvSpPr>
        <p:spPr>
          <a:xfrm>
            <a:off x="640080" y="30632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La diferencia de costo VPN </a:t>
            </a:r>
            <a:r>
              <a:rPr lang="en-US" sz="900" dirty="0" err="1">
                <a:solidFill>
                  <a:srgbClr val="666666"/>
                </a:solidFill>
              </a:rPr>
              <a:t>pasa</a:t>
            </a:r>
            <a:r>
              <a:rPr lang="en-US" sz="900" dirty="0">
                <a:solidFill>
                  <a:srgbClr val="666666"/>
                </a:solidFill>
              </a:rPr>
              <a:t> de 68 UF </a:t>
            </a:r>
            <a:r>
              <a:rPr lang="en-US" sz="900" dirty="0" err="1">
                <a:solidFill>
                  <a:srgbClr val="666666"/>
                </a:solidFill>
              </a:rPr>
              <a:t>por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costo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duro</a:t>
            </a:r>
            <a:r>
              <a:rPr lang="en-US" sz="900" dirty="0">
                <a:solidFill>
                  <a:srgbClr val="666666"/>
                </a:solidFill>
              </a:rPr>
              <a:t> a ~5.000 UF </a:t>
            </a:r>
            <a:r>
              <a:rPr lang="en-US" sz="900" dirty="0" err="1">
                <a:solidFill>
                  <a:srgbClr val="666666"/>
                </a:solidFill>
              </a:rPr>
              <a:t>por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riesgo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38912" y="3392424"/>
            <a:ext cx="128016" cy="12801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1" name="Text 18"/>
          <p:cNvSpPr/>
          <p:nvPr/>
        </p:nvSpPr>
        <p:spPr>
          <a:xfrm>
            <a:off x="640080" y="3337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Por </a:t>
            </a:r>
            <a:r>
              <a:rPr lang="en-US" sz="900" dirty="0" err="1">
                <a:solidFill>
                  <a:srgbClr val="666666"/>
                </a:solidFill>
              </a:rPr>
              <a:t>los</a:t>
            </a:r>
            <a:r>
              <a:rPr lang="en-US" sz="900" dirty="0">
                <a:solidFill>
                  <a:srgbClr val="666666"/>
                </a:solidFill>
              </a:rPr>
              <a:t> 30.000 UF de exposición al riesgo, invertir en el mejor proveedor es la decisión correcta.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38912" y="3666744"/>
            <a:ext cx="128016" cy="12801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3" name="Text 20"/>
          <p:cNvSpPr/>
          <p:nvPr/>
        </p:nvSpPr>
        <p:spPr>
          <a:xfrm>
            <a:off x="640080" y="36118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Distribución homogénea por cluster valida la comparabilidad del experimento.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709160" y="246888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25" name="Text 22"/>
          <p:cNvSpPr/>
          <p:nvPr/>
        </p:nvSpPr>
        <p:spPr>
          <a:xfrm>
            <a:off x="4846320" y="253288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C2C2C"/>
                </a:solidFill>
              </a:rPr>
              <a:t>PRÓXIMOS PASOS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846320" y="2825496"/>
            <a:ext cx="182880" cy="182880"/>
          </a:xfrm>
          <a:prstGeom prst="ellipse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7" name="Text 24"/>
          <p:cNvSpPr/>
          <p:nvPr/>
        </p:nvSpPr>
        <p:spPr>
          <a:xfrm>
            <a:off x="4846320" y="282549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5093208" y="278892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Formalizar contrato principal con Proveedor A.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4846320" y="3099816"/>
            <a:ext cx="182880" cy="182880"/>
          </a:xfrm>
          <a:prstGeom prst="ellipse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0" name="Text 27"/>
          <p:cNvSpPr/>
          <p:nvPr/>
        </p:nvSpPr>
        <p:spPr>
          <a:xfrm>
            <a:off x="4846320" y="309981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5093208" y="306324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Establecer evaluación anual de re-testing por cluster.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846320" y="3374136"/>
            <a:ext cx="182880" cy="182880"/>
          </a:xfrm>
          <a:prstGeom prst="ellipse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3" name="Text 30"/>
          <p:cNvSpPr/>
          <p:nvPr/>
        </p:nvSpPr>
        <p:spPr>
          <a:xfrm>
            <a:off x="4846320" y="337413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5093208" y="333756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Monitorear score post-test como KPI de capacitación.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4846320" y="3648456"/>
            <a:ext cx="182880" cy="182880"/>
          </a:xfrm>
          <a:prstGeom prst="ellipse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6" name="Text 33"/>
          <p:cNvSpPr/>
          <p:nvPr/>
        </p:nvSpPr>
        <p:spPr>
          <a:xfrm>
            <a:off x="4846320" y="36484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4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5093208" y="361188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Revisar metodología si el score cae &gt;2 puntos.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292608" y="3977640"/>
            <a:ext cx="8558784" cy="713232"/>
          </a:xfrm>
          <a:prstGeom prst="rect">
            <a:avLst/>
          </a:prstGeom>
          <a:solidFill>
            <a:srgbClr val="F2F2F2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39" name="Text 36"/>
          <p:cNvSpPr/>
          <p:nvPr/>
        </p:nvSpPr>
        <p:spPr>
          <a:xfrm>
            <a:off x="438912" y="40416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1A"/>
                </a:solidFill>
              </a:rPr>
              <a:t>Recorrido metodológico completado: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2697480" y="4041648"/>
            <a:ext cx="1234440" cy="566928"/>
          </a:xfrm>
          <a:prstGeom prst="roundRect">
            <a:avLst>
              <a:gd name="adj" fmla="val 806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1" name="Text 38"/>
          <p:cNvSpPr/>
          <p:nvPr/>
        </p:nvSpPr>
        <p:spPr>
          <a:xfrm>
            <a:off x="2697480" y="407822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Descubrir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2697480" y="42611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EEEEEE"/>
                </a:solidFill>
              </a:rPr>
              <a:t>Contexto 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EEEEE"/>
                </a:solidFill>
              </a:rPr>
              <a:t>operación actual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3931920" y="4315968"/>
            <a:ext cx="91440" cy="54864"/>
          </a:xfrm>
          <a:prstGeom prst="rect">
            <a:avLst/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4" name="Shape 41"/>
          <p:cNvSpPr/>
          <p:nvPr/>
        </p:nvSpPr>
        <p:spPr>
          <a:xfrm>
            <a:off x="4069080" y="4041648"/>
            <a:ext cx="1234440" cy="566928"/>
          </a:xfrm>
          <a:prstGeom prst="roundRect">
            <a:avLst>
              <a:gd name="adj" fmla="val 806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5" name="Text 42"/>
          <p:cNvSpPr/>
          <p:nvPr/>
        </p:nvSpPr>
        <p:spPr>
          <a:xfrm>
            <a:off x="4069080" y="407822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Definir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4069080" y="42611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EEEEEE"/>
                </a:solidFill>
              </a:rPr>
              <a:t>Problema 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EEEEE"/>
                </a:solidFill>
              </a:rPr>
              <a:t>caso de negocio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5303520" y="4315968"/>
            <a:ext cx="91440" cy="54864"/>
          </a:xfrm>
          <a:prstGeom prst="rect">
            <a:avLst/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8" name="Shape 45"/>
          <p:cNvSpPr/>
          <p:nvPr/>
        </p:nvSpPr>
        <p:spPr>
          <a:xfrm>
            <a:off x="5440680" y="4041648"/>
            <a:ext cx="1234440" cy="566928"/>
          </a:xfrm>
          <a:prstGeom prst="roundRect">
            <a:avLst>
              <a:gd name="adj" fmla="val 8065"/>
            </a:avLst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9" name="Text 46"/>
          <p:cNvSpPr/>
          <p:nvPr/>
        </p:nvSpPr>
        <p:spPr>
          <a:xfrm>
            <a:off x="5440680" y="407822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Desarrollar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40680" y="42611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EEEEEE"/>
                </a:solidFill>
              </a:rPr>
              <a:t>Metodología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EEEEE"/>
                </a:solidFill>
              </a:rPr>
              <a:t>y clustering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6675120" y="4315968"/>
            <a:ext cx="91440" cy="54864"/>
          </a:xfrm>
          <a:prstGeom prst="rect">
            <a:avLst/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2" name="Shape 49"/>
          <p:cNvSpPr/>
          <p:nvPr/>
        </p:nvSpPr>
        <p:spPr>
          <a:xfrm>
            <a:off x="6812280" y="4041648"/>
            <a:ext cx="1234440" cy="566928"/>
          </a:xfrm>
          <a:prstGeom prst="roundRect">
            <a:avLst>
              <a:gd name="adj" fmla="val 8065"/>
            </a:avLst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3" name="Text 50"/>
          <p:cNvSpPr/>
          <p:nvPr/>
        </p:nvSpPr>
        <p:spPr>
          <a:xfrm>
            <a:off x="6812280" y="407822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Entregar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6812280" y="42611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EEEEEE"/>
                </a:solidFill>
              </a:rPr>
              <a:t>A/B Testing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EEEEE"/>
                </a:solidFill>
              </a:rPr>
              <a:t>y recomendación</a:t>
            </a:r>
            <a:endParaRPr lang="en-US" sz="800" dirty="0"/>
          </a:p>
        </p:txBody>
      </p:sp>
      <p:sp>
        <p:nvSpPr>
          <p:cNvPr id="55" name="Shape 5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6" name="Text 53"/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900" dirty="0"/>
          </a:p>
        </p:txBody>
      </p:sp>
      <p:sp>
        <p:nvSpPr>
          <p:cNvPr id="57" name="Text 54"/>
          <p:cNvSpPr/>
          <p:nvPr/>
        </p:nvSpPr>
        <p:spPr>
          <a:xfrm>
            <a:off x="8412480" y="49011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74C3C"/>
                </a:solidFill>
              </a:rPr>
              <a:t>8 / 9</a:t>
            </a:r>
            <a:endParaRPr lang="en-US" sz="900" dirty="0"/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A83BD4ED-9FB8-2BC6-D9C9-F02FFE36930D}"/>
              </a:ext>
            </a:extLst>
          </p:cNvPr>
          <p:cNvSpPr/>
          <p:nvPr/>
        </p:nvSpPr>
        <p:spPr>
          <a:xfrm>
            <a:off x="6537960" y="1389888"/>
            <a:ext cx="2313431" cy="97840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</a:rPr>
              <a:t>Eficiencia</a:t>
            </a:r>
            <a:r>
              <a:rPr lang="en-US" b="1" dirty="0">
                <a:solidFill>
                  <a:srgbClr val="FFFFFF"/>
                </a:solidFill>
              </a:rPr>
              <a:t> </a:t>
            </a:r>
            <a:r>
              <a:rPr lang="en-US" b="1" dirty="0" err="1">
                <a:solidFill>
                  <a:srgbClr val="FFFFFF"/>
                </a:solidFill>
              </a:rPr>
              <a:t>Analítica</a:t>
            </a:r>
            <a:r>
              <a:rPr lang="en-US" b="1" dirty="0">
                <a:solidFill>
                  <a:srgbClr val="FFFFFF"/>
                </a:solidFill>
              </a:rPr>
              <a:t> 4.872 UF</a:t>
            </a:r>
            <a:endParaRPr lang="es-CL" b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7F482-38B6-1395-56D4-8DA9CDB5A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F71627C-C450-F74F-7E5D-5B6B811502CD}"/>
              </a:ext>
            </a:extLst>
          </p:cNvPr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F0EA4BD-A78E-1F71-5469-5650E66C1276}"/>
              </a:ext>
            </a:extLst>
          </p:cNvPr>
          <p:cNvSpPr/>
          <p:nvPr/>
        </p:nvSpPr>
        <p:spPr>
          <a:xfrm>
            <a:off x="274320" y="0"/>
            <a:ext cx="886968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C5B3BC5-5925-6D9D-3066-0F8C8373C6D3}"/>
              </a:ext>
            </a:extLst>
          </p:cNvPr>
          <p:cNvSpPr/>
          <p:nvPr/>
        </p:nvSpPr>
        <p:spPr>
          <a:xfrm>
            <a:off x="502920" y="182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0392B"/>
                </a:solidFill>
              </a:rPr>
              <a:t>PROYECTO PEOPLE ANALYTICS</a:t>
            </a:r>
            <a:endParaRPr lang="en-US" sz="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893220F-06EC-4CD5-55C5-DBE9E85EAF5D}"/>
              </a:ext>
            </a:extLst>
          </p:cNvPr>
          <p:cNvSpPr/>
          <p:nvPr/>
        </p:nvSpPr>
        <p:spPr>
          <a:xfrm>
            <a:off x="502920" y="5029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bg2">
                    <a:lumMod val="25000"/>
                  </a:schemeClr>
                </a:solidFill>
              </a:rPr>
              <a:t>Evaluación Inteligente de</a:t>
            </a:r>
            <a:endParaRPr lang="en-US" sz="3400" dirty="0">
              <a:solidFill>
                <a:schemeClr val="bg2">
                  <a:lumMod val="25000"/>
                </a:schemeClr>
              </a:solidFill>
            </a:endParaRPr>
          </a:p>
          <a:p>
            <a:pPr marL="0" indent="0" algn="l">
              <a:buNone/>
            </a:pPr>
            <a:r>
              <a:rPr lang="en-US" sz="3400" b="1" dirty="0">
                <a:solidFill>
                  <a:schemeClr val="bg2">
                    <a:lumMod val="25000"/>
                  </a:schemeClr>
                </a:solidFill>
              </a:rPr>
              <a:t>Proveedores de Capacitación</a:t>
            </a:r>
            <a:endParaRPr lang="en-US" sz="3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0E988E6-6592-A607-F677-E01189DED686}"/>
              </a:ext>
            </a:extLst>
          </p:cNvPr>
          <p:cNvSpPr/>
          <p:nvPr/>
        </p:nvSpPr>
        <p:spPr>
          <a:xfrm>
            <a:off x="645592" y="2018846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</a:rPr>
              <a:t>Certificación PCI DSS · Metodología Doble Diamante</a:t>
            </a:r>
            <a:endParaRPr lang="en-US" sz="13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2254D29-9E54-F66F-25BA-AC97EA42C51D}"/>
              </a:ext>
            </a:extLst>
          </p:cNvPr>
          <p:cNvSpPr/>
          <p:nvPr/>
        </p:nvSpPr>
        <p:spPr>
          <a:xfrm>
            <a:off x="645592" y="1744169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0000"/>
                </a:solidFill>
              </a:rPr>
              <a:t>Autores: Osvaldo Ceballos · Yerko Fuentes · Paloma San Martin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26FBEC5-7A37-E0B8-2E16-080471063BE0}"/>
              </a:ext>
            </a:extLst>
          </p:cNvPr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358D3B9D-76F0-B79B-4606-E52E6089ED8B}"/>
              </a:ext>
            </a:extLst>
          </p:cNvPr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800" dirty="0"/>
          </a:p>
        </p:txBody>
      </p:sp>
      <p:pic>
        <p:nvPicPr>
          <p:cNvPr id="17" name="Imagen 16" descr="Archivo:Logo Universidad Diego Portales.png">
            <a:extLst>
              <a:ext uri="{FF2B5EF4-FFF2-40B4-BE49-F238E27FC236}">
                <a16:creationId xmlns:a16="http://schemas.microsoft.com/office/drawing/2014/main" id="{D8078DE4-8F73-5E52-C68F-A15843D56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9906" y="116944"/>
            <a:ext cx="2243846" cy="546254"/>
          </a:xfrm>
          <a:prstGeom prst="rect">
            <a:avLst/>
          </a:prstGeom>
        </p:spPr>
      </p:pic>
      <p:sp>
        <p:nvSpPr>
          <p:cNvPr id="7" name="Text 3">
            <a:extLst>
              <a:ext uri="{FF2B5EF4-FFF2-40B4-BE49-F238E27FC236}">
                <a16:creationId xmlns:a16="http://schemas.microsoft.com/office/drawing/2014/main" id="{363B22B3-E736-3F34-BEB7-BCFAB2580B1C}"/>
              </a:ext>
            </a:extLst>
          </p:cNvPr>
          <p:cNvSpPr/>
          <p:nvPr/>
        </p:nvSpPr>
        <p:spPr>
          <a:xfrm>
            <a:off x="2931592" y="3139428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 err="1">
                <a:solidFill>
                  <a:schemeClr val="bg2">
                    <a:lumMod val="25000"/>
                  </a:schemeClr>
                </a:solidFill>
              </a:rPr>
              <a:t>Muchas</a:t>
            </a:r>
            <a:r>
              <a:rPr lang="en-US" sz="3400" b="1" dirty="0">
                <a:solidFill>
                  <a:schemeClr val="bg2">
                    <a:lumMod val="25000"/>
                  </a:schemeClr>
                </a:solidFill>
              </a:rPr>
              <a:t> gracias </a:t>
            </a:r>
            <a:r>
              <a:rPr lang="en-US" sz="3400" b="1" dirty="0" err="1">
                <a:solidFill>
                  <a:schemeClr val="bg2">
                    <a:lumMod val="25000"/>
                  </a:schemeClr>
                </a:solidFill>
              </a:rPr>
              <a:t>por</a:t>
            </a:r>
            <a:r>
              <a:rPr lang="en-US" sz="3400" b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sz="3400" b="1" dirty="0" err="1">
                <a:solidFill>
                  <a:schemeClr val="bg2">
                    <a:lumMod val="25000"/>
                  </a:schemeClr>
                </a:solidFill>
              </a:rPr>
              <a:t>su</a:t>
            </a:r>
            <a:r>
              <a:rPr lang="en-US" sz="3400" b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sz="3400" b="1" dirty="0" err="1">
                <a:solidFill>
                  <a:schemeClr val="bg2">
                    <a:lumMod val="25000"/>
                  </a:schemeClr>
                </a:solidFill>
              </a:rPr>
              <a:t>atención</a:t>
            </a:r>
            <a:r>
              <a:rPr lang="en-US" sz="3400" b="1" dirty="0">
                <a:solidFill>
                  <a:schemeClr val="bg2">
                    <a:lumMod val="25000"/>
                  </a:schemeClr>
                </a:solidFill>
              </a:rPr>
              <a:t>…</a:t>
            </a:r>
            <a:endParaRPr lang="en-US" sz="3400" dirty="0">
              <a:solidFill>
                <a:schemeClr val="bg2">
                  <a:lumMod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41343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974D4-CB15-B0B8-570E-C274D3A67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BD5EDA5-180F-067B-7B54-D048E768423F}"/>
              </a:ext>
            </a:extLst>
          </p:cNvPr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0A258B5-54FC-DAF3-27BA-9B26F4BBC8CB}"/>
              </a:ext>
            </a:extLst>
          </p:cNvPr>
          <p:cNvSpPr/>
          <p:nvPr/>
        </p:nvSpPr>
        <p:spPr>
          <a:xfrm>
            <a:off x="274320" y="0"/>
            <a:ext cx="886968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09CBCAD-3398-FAF6-F9A0-1283B2B71A53}"/>
              </a:ext>
            </a:extLst>
          </p:cNvPr>
          <p:cNvSpPr/>
          <p:nvPr/>
        </p:nvSpPr>
        <p:spPr>
          <a:xfrm>
            <a:off x="502920" y="182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0392B"/>
                </a:solidFill>
              </a:rPr>
              <a:t>PROYECTO PEOPLE ANALYTICS</a:t>
            </a:r>
            <a:endParaRPr lang="en-US" sz="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77FA7BF-10C6-D817-FC8A-762900424637}"/>
              </a:ext>
            </a:extLst>
          </p:cNvPr>
          <p:cNvSpPr/>
          <p:nvPr/>
        </p:nvSpPr>
        <p:spPr>
          <a:xfrm>
            <a:off x="502920" y="5029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bg2">
                    <a:lumMod val="25000"/>
                  </a:schemeClr>
                </a:solidFill>
              </a:rPr>
              <a:t>Evaluación Inteligente de</a:t>
            </a:r>
            <a:endParaRPr lang="en-US" sz="3400" dirty="0">
              <a:solidFill>
                <a:schemeClr val="bg2">
                  <a:lumMod val="25000"/>
                </a:schemeClr>
              </a:solidFill>
            </a:endParaRPr>
          </a:p>
          <a:p>
            <a:pPr marL="0" indent="0" algn="l">
              <a:buNone/>
            </a:pPr>
            <a:r>
              <a:rPr lang="en-US" sz="3400" b="1" dirty="0">
                <a:solidFill>
                  <a:schemeClr val="bg2">
                    <a:lumMod val="25000"/>
                  </a:schemeClr>
                </a:solidFill>
              </a:rPr>
              <a:t>Proveedores de Capacitación</a:t>
            </a:r>
            <a:endParaRPr lang="en-US" sz="3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5873623-27AB-4B57-2274-1AF9AE38B77B}"/>
              </a:ext>
            </a:extLst>
          </p:cNvPr>
          <p:cNvSpPr/>
          <p:nvPr/>
        </p:nvSpPr>
        <p:spPr>
          <a:xfrm>
            <a:off x="645592" y="1744169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0000"/>
                </a:solidFill>
              </a:rPr>
              <a:t>ANEXOS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667E888B-3E17-DDF4-BE3C-C199B7C50230}"/>
              </a:ext>
            </a:extLst>
          </p:cNvPr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BB1C0F3-C1B1-72A7-3049-7402C9927749}"/>
              </a:ext>
            </a:extLst>
          </p:cNvPr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800" dirty="0"/>
          </a:p>
        </p:txBody>
      </p:sp>
      <p:pic>
        <p:nvPicPr>
          <p:cNvPr id="17" name="Imagen 16" descr="Archivo:Logo Universidad Diego Portales.png">
            <a:extLst>
              <a:ext uri="{FF2B5EF4-FFF2-40B4-BE49-F238E27FC236}">
                <a16:creationId xmlns:a16="http://schemas.microsoft.com/office/drawing/2014/main" id="{1046428F-2049-1793-E4A9-988859AE94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9906" y="116944"/>
            <a:ext cx="2243846" cy="546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745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CE0143-2E06-2E96-F433-4F0AE765C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7774114-E166-5370-9A70-B55B76787251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0032DFE-DD84-21ED-8E43-D9712362DBD4}"/>
              </a:ext>
            </a:extLst>
          </p:cNvPr>
          <p:cNvSpPr/>
          <p:nvPr/>
        </p:nvSpPr>
        <p:spPr>
          <a:xfrm>
            <a:off x="0" y="64008"/>
            <a:ext cx="164592" cy="5079492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7C74B33-8B5D-019B-70A4-700AB1C2BCF5}"/>
              </a:ext>
            </a:extLst>
          </p:cNvPr>
          <p:cNvSpPr/>
          <p:nvPr/>
        </p:nvSpPr>
        <p:spPr>
          <a:xfrm>
            <a:off x="292608" y="137160"/>
            <a:ext cx="1645920" cy="274320"/>
          </a:xfrm>
          <a:prstGeom prst="roundRect">
            <a:avLst>
              <a:gd name="adj" fmla="val 13333"/>
            </a:avLst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F66122E-3602-22D4-0569-20CFB7C286F9}"/>
              </a:ext>
            </a:extLst>
          </p:cNvPr>
          <p:cNvSpPr/>
          <p:nvPr/>
        </p:nvSpPr>
        <p:spPr>
          <a:xfrm>
            <a:off x="292608" y="137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◆ ANEXOS</a:t>
            </a:r>
            <a:endParaRPr lang="en-US" sz="9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F0BC93A-60C4-17A8-0A69-A3DBFF8D9E8C}"/>
              </a:ext>
            </a:extLst>
          </p:cNvPr>
          <p:cNvSpPr/>
          <p:nvPr/>
        </p:nvSpPr>
        <p:spPr>
          <a:xfrm>
            <a:off x="292608" y="4754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F756E64-7B62-AF43-A67C-879E9C52EB00}"/>
              </a:ext>
            </a:extLst>
          </p:cNvPr>
          <p:cNvSpPr/>
          <p:nvPr/>
        </p:nvSpPr>
        <p:spPr>
          <a:xfrm>
            <a:off x="292608" y="713232"/>
            <a:ext cx="8641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</a:rPr>
              <a:t>Datos de Entrada y clustering</a:t>
            </a:r>
            <a:endParaRPr lang="en-US" sz="2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CD3E7FDF-B2F8-9B9A-C819-2FC1665B484F}"/>
              </a:ext>
            </a:extLst>
          </p:cNvPr>
          <p:cNvSpPr/>
          <p:nvPr/>
        </p:nvSpPr>
        <p:spPr>
          <a:xfrm>
            <a:off x="292608" y="1261872"/>
            <a:ext cx="8641080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ED7C5585-F419-8F70-8BF4-EE63EC716DF6}"/>
              </a:ext>
            </a:extLst>
          </p:cNvPr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C7101F6B-3FDB-0310-6D36-2F38445CA05C}"/>
              </a:ext>
            </a:extLst>
          </p:cNvPr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900" dirty="0"/>
          </a:p>
        </p:txBody>
      </p:sp>
      <p:sp>
        <p:nvSpPr>
          <p:cNvPr id="57" name="Text 54">
            <a:extLst>
              <a:ext uri="{FF2B5EF4-FFF2-40B4-BE49-F238E27FC236}">
                <a16:creationId xmlns:a16="http://schemas.microsoft.com/office/drawing/2014/main" id="{5AF93C30-8458-21B0-D79D-5E2B3BB46730}"/>
              </a:ext>
            </a:extLst>
          </p:cNvPr>
          <p:cNvSpPr/>
          <p:nvPr/>
        </p:nvSpPr>
        <p:spPr>
          <a:xfrm>
            <a:off x="8412480" y="49011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74C3C"/>
                </a:solidFill>
              </a:rPr>
              <a:t>9 / 9</a:t>
            </a:r>
            <a:endParaRPr lang="en-US" sz="9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38A7FD0-A39D-6469-AA2F-C009492DA854}"/>
              </a:ext>
            </a:extLst>
          </p:cNvPr>
          <p:cNvSpPr/>
          <p:nvPr/>
        </p:nvSpPr>
        <p:spPr>
          <a:xfrm>
            <a:off x="292608" y="1705583"/>
            <a:ext cx="4114800" cy="2866417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000" dirty="0"/>
          </a:p>
        </p:txBody>
      </p:sp>
      <p:sp>
        <p:nvSpPr>
          <p:cNvPr id="59" name="Shape 11">
            <a:extLst>
              <a:ext uri="{FF2B5EF4-FFF2-40B4-BE49-F238E27FC236}">
                <a16:creationId xmlns:a16="http://schemas.microsoft.com/office/drawing/2014/main" id="{0318E390-3F7E-4CF8-18B6-FF986ADF3A08}"/>
              </a:ext>
            </a:extLst>
          </p:cNvPr>
          <p:cNvSpPr/>
          <p:nvPr/>
        </p:nvSpPr>
        <p:spPr>
          <a:xfrm>
            <a:off x="4639867" y="1705583"/>
            <a:ext cx="4114800" cy="2838985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60" name="Text 12">
            <a:extLst>
              <a:ext uri="{FF2B5EF4-FFF2-40B4-BE49-F238E27FC236}">
                <a16:creationId xmlns:a16="http://schemas.microsoft.com/office/drawing/2014/main" id="{BE060684-C51A-2C3C-A832-0A3947BFEECC}"/>
              </a:ext>
            </a:extLst>
          </p:cNvPr>
          <p:cNvSpPr/>
          <p:nvPr/>
        </p:nvSpPr>
        <p:spPr>
          <a:xfrm>
            <a:off x="438912" y="1798579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C2C2C"/>
                </a:solidFill>
              </a:rPr>
              <a:t>DOCUMENTACIÓN</a:t>
            </a:r>
            <a:endParaRPr lang="en-US" sz="900" dirty="0"/>
          </a:p>
        </p:txBody>
      </p:sp>
      <p:sp>
        <p:nvSpPr>
          <p:cNvPr id="61" name="Shape 13">
            <a:extLst>
              <a:ext uri="{FF2B5EF4-FFF2-40B4-BE49-F238E27FC236}">
                <a16:creationId xmlns:a16="http://schemas.microsoft.com/office/drawing/2014/main" id="{78C77685-E898-5A4B-A56C-2E5CCDF3E31C}"/>
              </a:ext>
            </a:extLst>
          </p:cNvPr>
          <p:cNvSpPr/>
          <p:nvPr/>
        </p:nvSpPr>
        <p:spPr>
          <a:xfrm>
            <a:off x="438912" y="2109475"/>
            <a:ext cx="128016" cy="12801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62" name="Text 14">
            <a:extLst>
              <a:ext uri="{FF2B5EF4-FFF2-40B4-BE49-F238E27FC236}">
                <a16:creationId xmlns:a16="http://schemas.microsoft.com/office/drawing/2014/main" id="{C7883233-76DF-BF0D-A641-0D923E9EB740}"/>
              </a:ext>
            </a:extLst>
          </p:cNvPr>
          <p:cNvSpPr/>
          <p:nvPr/>
        </p:nvSpPr>
        <p:spPr>
          <a:xfrm>
            <a:off x="640080" y="2054611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Data </a:t>
            </a:r>
            <a:r>
              <a:rPr lang="en-US" sz="900" dirty="0" err="1">
                <a:solidFill>
                  <a:srgbClr val="666666"/>
                </a:solidFill>
              </a:rPr>
              <a:t>simulada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basada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en</a:t>
            </a:r>
            <a:r>
              <a:rPr lang="en-US" sz="900" dirty="0">
                <a:solidFill>
                  <a:srgbClr val="666666"/>
                </a:solidFill>
              </a:rPr>
              <a:t> dataset de Kaggle </a:t>
            </a:r>
            <a:r>
              <a:rPr lang="en-US" sz="900" dirty="0" err="1">
                <a:solidFill>
                  <a:srgbClr val="666666"/>
                </a:solidFill>
              </a:rPr>
              <a:t>justinlimyin</a:t>
            </a:r>
            <a:r>
              <a:rPr lang="en-US" sz="900" dirty="0">
                <a:solidFill>
                  <a:srgbClr val="666666"/>
                </a:solidFill>
              </a:rPr>
              <a:t>/</a:t>
            </a:r>
            <a:r>
              <a:rPr lang="en-US" sz="900" dirty="0" err="1">
                <a:solidFill>
                  <a:srgbClr val="666666"/>
                </a:solidFill>
              </a:rPr>
              <a:t>hr</a:t>
            </a:r>
            <a:r>
              <a:rPr lang="en-US" sz="900" dirty="0">
                <a:solidFill>
                  <a:srgbClr val="666666"/>
                </a:solidFill>
              </a:rPr>
              <a:t>-employee-dataset</a:t>
            </a:r>
            <a:endParaRPr lang="en-US" sz="900" dirty="0"/>
          </a:p>
        </p:txBody>
      </p:sp>
      <p:sp>
        <p:nvSpPr>
          <p:cNvPr id="63" name="Shape 15">
            <a:extLst>
              <a:ext uri="{FF2B5EF4-FFF2-40B4-BE49-F238E27FC236}">
                <a16:creationId xmlns:a16="http://schemas.microsoft.com/office/drawing/2014/main" id="{D5063852-315A-BD89-322F-B0021B18F0FF}"/>
              </a:ext>
            </a:extLst>
          </p:cNvPr>
          <p:cNvSpPr/>
          <p:nvPr/>
        </p:nvSpPr>
        <p:spPr>
          <a:xfrm>
            <a:off x="438912" y="2435675"/>
            <a:ext cx="128016" cy="12801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64" name="Text 16">
            <a:extLst>
              <a:ext uri="{FF2B5EF4-FFF2-40B4-BE49-F238E27FC236}">
                <a16:creationId xmlns:a16="http://schemas.microsoft.com/office/drawing/2014/main" id="{53AECF86-3E4A-6F82-F565-BAA68893DA09}"/>
              </a:ext>
            </a:extLst>
          </p:cNvPr>
          <p:cNvSpPr/>
          <p:nvPr/>
        </p:nvSpPr>
        <p:spPr>
          <a:xfrm>
            <a:off x="640080" y="2380811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Oversampling </a:t>
            </a:r>
            <a:r>
              <a:rPr lang="en-US" sz="900" dirty="0" err="1">
                <a:solidFill>
                  <a:srgbClr val="666666"/>
                </a:solidFill>
              </a:rPr>
              <a:t>sintético</a:t>
            </a:r>
            <a:r>
              <a:rPr lang="en-US" sz="900" dirty="0">
                <a:solidFill>
                  <a:srgbClr val="666666"/>
                </a:solidFill>
              </a:rPr>
              <a:t> para </a:t>
            </a:r>
            <a:r>
              <a:rPr lang="en-US" sz="900" dirty="0" err="1">
                <a:solidFill>
                  <a:srgbClr val="666666"/>
                </a:solidFill>
              </a:rPr>
              <a:t>llegar</a:t>
            </a:r>
            <a:r>
              <a:rPr lang="en-US" sz="900" dirty="0">
                <a:solidFill>
                  <a:srgbClr val="666666"/>
                </a:solidFill>
              </a:rPr>
              <a:t> a un N total de 5.000 </a:t>
            </a:r>
            <a:r>
              <a:rPr lang="en-US" sz="900" dirty="0" err="1">
                <a:solidFill>
                  <a:srgbClr val="666666"/>
                </a:solidFill>
              </a:rPr>
              <a:t>colaboradores</a:t>
            </a:r>
            <a:r>
              <a:rPr lang="en-US" sz="900" dirty="0">
                <a:solidFill>
                  <a:srgbClr val="666666"/>
                </a:solidFill>
              </a:rPr>
              <a:t>.</a:t>
            </a:r>
            <a:endParaRPr lang="en-US" sz="900" dirty="0"/>
          </a:p>
        </p:txBody>
      </p:sp>
      <p:sp>
        <p:nvSpPr>
          <p:cNvPr id="65" name="Shape 17">
            <a:extLst>
              <a:ext uri="{FF2B5EF4-FFF2-40B4-BE49-F238E27FC236}">
                <a16:creationId xmlns:a16="http://schemas.microsoft.com/office/drawing/2014/main" id="{55878AD5-F5B8-9F0E-A698-C9BB86DBDBDC}"/>
              </a:ext>
            </a:extLst>
          </p:cNvPr>
          <p:cNvSpPr/>
          <p:nvPr/>
        </p:nvSpPr>
        <p:spPr>
          <a:xfrm>
            <a:off x="438912" y="2761875"/>
            <a:ext cx="128016" cy="12801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66" name="Text 18">
            <a:extLst>
              <a:ext uri="{FF2B5EF4-FFF2-40B4-BE49-F238E27FC236}">
                <a16:creationId xmlns:a16="http://schemas.microsoft.com/office/drawing/2014/main" id="{73F7BA6A-A816-59D0-2DE6-3CBB65C07C57}"/>
              </a:ext>
            </a:extLst>
          </p:cNvPr>
          <p:cNvSpPr/>
          <p:nvPr/>
        </p:nvSpPr>
        <p:spPr>
          <a:xfrm>
            <a:off x="640080" y="2707011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666666"/>
                </a:solidFill>
              </a:rPr>
              <a:t>Simulación</a:t>
            </a:r>
            <a:r>
              <a:rPr lang="en-US" sz="900" dirty="0">
                <a:solidFill>
                  <a:srgbClr val="666666"/>
                </a:solidFill>
              </a:rPr>
              <a:t> de </a:t>
            </a:r>
            <a:r>
              <a:rPr lang="en-US" sz="900" dirty="0" err="1">
                <a:solidFill>
                  <a:srgbClr val="666666"/>
                </a:solidFill>
              </a:rPr>
              <a:t>resultados</a:t>
            </a:r>
            <a:r>
              <a:rPr lang="en-US" sz="900" dirty="0">
                <a:solidFill>
                  <a:srgbClr val="666666"/>
                </a:solidFill>
              </a:rPr>
              <a:t> PCI </a:t>
            </a:r>
            <a:r>
              <a:rPr lang="en-US" sz="900" dirty="0" err="1">
                <a:solidFill>
                  <a:srgbClr val="666666"/>
                </a:solidFill>
              </a:rPr>
              <a:t>como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función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inversa</a:t>
            </a:r>
            <a:r>
              <a:rPr lang="en-US" sz="900" dirty="0">
                <a:solidFill>
                  <a:srgbClr val="666666"/>
                </a:solidFill>
              </a:rPr>
              <a:t> de </a:t>
            </a:r>
            <a:r>
              <a:rPr lang="en-US" sz="900" dirty="0" err="1">
                <a:solidFill>
                  <a:srgbClr val="666666"/>
                </a:solidFill>
              </a:rPr>
              <a:t>una</a:t>
            </a:r>
            <a:r>
              <a:rPr lang="en-US" sz="900" dirty="0">
                <a:solidFill>
                  <a:srgbClr val="666666"/>
                </a:solidFill>
              </a:rPr>
              <a:t> regression lineal con </a:t>
            </a:r>
            <a:r>
              <a:rPr lang="en-US" sz="900" dirty="0" err="1">
                <a:solidFill>
                  <a:srgbClr val="666666"/>
                </a:solidFill>
              </a:rPr>
              <a:t>parámetros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aleatorios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basados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en</a:t>
            </a:r>
            <a:r>
              <a:rPr lang="en-US" sz="900" dirty="0">
                <a:solidFill>
                  <a:srgbClr val="666666"/>
                </a:solidFill>
              </a:rPr>
              <a:t> las columnas del dataset. </a:t>
            </a:r>
            <a:r>
              <a:rPr lang="en-US" sz="900" dirty="0" err="1">
                <a:solidFill>
                  <a:srgbClr val="666666"/>
                </a:solidFill>
              </a:rPr>
              <a:t>Exigencia</a:t>
            </a:r>
            <a:r>
              <a:rPr lang="en-US" sz="900" dirty="0">
                <a:solidFill>
                  <a:srgbClr val="666666"/>
                </a:solidFill>
              </a:rPr>
              <a:t> de </a:t>
            </a:r>
            <a:r>
              <a:rPr lang="en-US" sz="900" dirty="0" err="1">
                <a:solidFill>
                  <a:srgbClr val="666666"/>
                </a:solidFill>
              </a:rPr>
              <a:t>distribución</a:t>
            </a:r>
            <a:r>
              <a:rPr lang="en-US" sz="900" dirty="0">
                <a:solidFill>
                  <a:srgbClr val="666666"/>
                </a:solidFill>
              </a:rPr>
              <a:t> con skewness a la </a:t>
            </a:r>
            <a:r>
              <a:rPr lang="en-US" sz="900" dirty="0" err="1">
                <a:solidFill>
                  <a:srgbClr val="666666"/>
                </a:solidFill>
              </a:rPr>
              <a:t>derecha</a:t>
            </a:r>
            <a:r>
              <a:rPr lang="en-US" sz="900" dirty="0">
                <a:solidFill>
                  <a:srgbClr val="666666"/>
                </a:solidFill>
              </a:rPr>
              <a:t> (</a:t>
            </a:r>
            <a:r>
              <a:rPr lang="en-US" sz="900" dirty="0" err="1">
                <a:solidFill>
                  <a:srgbClr val="666666"/>
                </a:solidFill>
              </a:rPr>
              <a:t>sesgo</a:t>
            </a:r>
            <a:r>
              <a:rPr lang="en-US" sz="900" dirty="0">
                <a:solidFill>
                  <a:srgbClr val="666666"/>
                </a:solidFill>
              </a:rPr>
              <a:t> a la </a:t>
            </a:r>
            <a:r>
              <a:rPr lang="en-US" sz="900" dirty="0" err="1">
                <a:solidFill>
                  <a:srgbClr val="666666"/>
                </a:solidFill>
              </a:rPr>
              <a:t>izquierda</a:t>
            </a:r>
            <a:r>
              <a:rPr lang="en-US" sz="900" dirty="0">
                <a:solidFill>
                  <a:srgbClr val="666666"/>
                </a:solidFill>
              </a:rPr>
              <a:t>) </a:t>
            </a:r>
            <a:r>
              <a:rPr lang="en-US" sz="900" dirty="0" err="1">
                <a:solidFill>
                  <a:srgbClr val="666666"/>
                </a:solidFill>
              </a:rPr>
              <a:t>por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diseño</a:t>
            </a:r>
            <a:r>
              <a:rPr lang="en-US" sz="900" dirty="0">
                <a:solidFill>
                  <a:srgbClr val="666666"/>
                </a:solidFill>
              </a:rPr>
              <a:t>.</a:t>
            </a:r>
            <a:endParaRPr lang="en-US" sz="900" dirty="0"/>
          </a:p>
        </p:txBody>
      </p:sp>
      <p:sp>
        <p:nvSpPr>
          <p:cNvPr id="67" name="Shape 19">
            <a:extLst>
              <a:ext uri="{FF2B5EF4-FFF2-40B4-BE49-F238E27FC236}">
                <a16:creationId xmlns:a16="http://schemas.microsoft.com/office/drawing/2014/main" id="{9DAAD516-D2DD-667E-4E74-EE232A581E9D}"/>
              </a:ext>
            </a:extLst>
          </p:cNvPr>
          <p:cNvSpPr/>
          <p:nvPr/>
        </p:nvSpPr>
        <p:spPr>
          <a:xfrm>
            <a:off x="438912" y="3176368"/>
            <a:ext cx="128016" cy="12801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68" name="Text 20">
            <a:extLst>
              <a:ext uri="{FF2B5EF4-FFF2-40B4-BE49-F238E27FC236}">
                <a16:creationId xmlns:a16="http://schemas.microsoft.com/office/drawing/2014/main" id="{9AA988F2-3F94-10E6-4545-0DF1ACC6E302}"/>
              </a:ext>
            </a:extLst>
          </p:cNvPr>
          <p:cNvSpPr/>
          <p:nvPr/>
        </p:nvSpPr>
        <p:spPr>
          <a:xfrm>
            <a:off x="640080" y="312150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666666"/>
                </a:solidFill>
              </a:rPr>
              <a:t>Resultado</a:t>
            </a:r>
            <a:r>
              <a:rPr lang="en-US" sz="900" dirty="0">
                <a:solidFill>
                  <a:srgbClr val="666666"/>
                </a:solidFill>
              </a:rPr>
              <a:t> de </a:t>
            </a:r>
            <a:r>
              <a:rPr lang="en-US" sz="900" dirty="0" err="1">
                <a:solidFill>
                  <a:srgbClr val="666666"/>
                </a:solidFill>
              </a:rPr>
              <a:t>datos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simulados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en</a:t>
            </a:r>
            <a:r>
              <a:rPr lang="en-US" sz="900" dirty="0">
                <a:solidFill>
                  <a:srgbClr val="666666"/>
                </a:solidFill>
              </a:rPr>
              <a:t> /data/</a:t>
            </a:r>
            <a:r>
              <a:rPr lang="en-US" sz="900" dirty="0" err="1">
                <a:solidFill>
                  <a:srgbClr val="666666"/>
                </a:solidFill>
              </a:rPr>
              <a:t>dataset_entrada</a:t>
            </a:r>
            <a:r>
              <a:rPr lang="en-US" sz="900" dirty="0">
                <a:solidFill>
                  <a:srgbClr val="666666"/>
                </a:solidFill>
              </a:rPr>
              <a:t>.</a:t>
            </a:r>
            <a:endParaRPr lang="en-US" sz="900" dirty="0"/>
          </a:p>
        </p:txBody>
      </p:sp>
      <p:sp>
        <p:nvSpPr>
          <p:cNvPr id="69" name="CuadroTexto 68">
            <a:extLst>
              <a:ext uri="{FF2B5EF4-FFF2-40B4-BE49-F238E27FC236}">
                <a16:creationId xmlns:a16="http://schemas.microsoft.com/office/drawing/2014/main" id="{4C0587DA-4D6D-FA8A-EDF4-60EB61ABEE6B}"/>
              </a:ext>
            </a:extLst>
          </p:cNvPr>
          <p:cNvSpPr txBox="1"/>
          <p:nvPr/>
        </p:nvSpPr>
        <p:spPr>
          <a:xfrm>
            <a:off x="306356" y="3692497"/>
            <a:ext cx="37922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666666"/>
                </a:solidFill>
              </a:rPr>
              <a:t>Disponible </a:t>
            </a:r>
            <a:r>
              <a:rPr lang="en-US" sz="1800" dirty="0" err="1">
                <a:solidFill>
                  <a:srgbClr val="666666"/>
                </a:solidFill>
              </a:rPr>
              <a:t>en</a:t>
            </a:r>
            <a:r>
              <a:rPr lang="en-US" sz="1800" dirty="0">
                <a:solidFill>
                  <a:srgbClr val="666666"/>
                </a:solidFill>
              </a:rPr>
              <a:t>:</a:t>
            </a:r>
          </a:p>
          <a:p>
            <a:pPr marL="0" indent="0">
              <a:buNone/>
            </a:pPr>
            <a:r>
              <a:rPr lang="en-US" dirty="0">
                <a:solidFill>
                  <a:srgbClr val="666666"/>
                </a:solidFill>
              </a:rPr>
              <a:t>src/descargar_dataset.py</a:t>
            </a:r>
            <a:endParaRPr lang="en-US" sz="1800" dirty="0"/>
          </a:p>
        </p:txBody>
      </p:sp>
      <p:sp>
        <p:nvSpPr>
          <p:cNvPr id="70" name="Text 12">
            <a:extLst>
              <a:ext uri="{FF2B5EF4-FFF2-40B4-BE49-F238E27FC236}">
                <a16:creationId xmlns:a16="http://schemas.microsoft.com/office/drawing/2014/main" id="{7F1F6ADB-A581-9106-FBDD-B6B7EDAD1295}"/>
              </a:ext>
            </a:extLst>
          </p:cNvPr>
          <p:cNvSpPr/>
          <p:nvPr/>
        </p:nvSpPr>
        <p:spPr>
          <a:xfrm>
            <a:off x="4754880" y="1798579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C2C2C"/>
                </a:solidFill>
              </a:rPr>
              <a:t>PIPELINE</a:t>
            </a:r>
            <a:endParaRPr lang="en-US" sz="900" dirty="0"/>
          </a:p>
        </p:txBody>
      </p:sp>
      <p:sp>
        <p:nvSpPr>
          <p:cNvPr id="71" name="Shape 13">
            <a:extLst>
              <a:ext uri="{FF2B5EF4-FFF2-40B4-BE49-F238E27FC236}">
                <a16:creationId xmlns:a16="http://schemas.microsoft.com/office/drawing/2014/main" id="{D0E6B0E8-948F-39E7-202B-0F296F3C17B0}"/>
              </a:ext>
            </a:extLst>
          </p:cNvPr>
          <p:cNvSpPr/>
          <p:nvPr/>
        </p:nvSpPr>
        <p:spPr>
          <a:xfrm>
            <a:off x="4754880" y="2109475"/>
            <a:ext cx="128016" cy="12801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72" name="Text 14">
            <a:extLst>
              <a:ext uri="{FF2B5EF4-FFF2-40B4-BE49-F238E27FC236}">
                <a16:creationId xmlns:a16="http://schemas.microsoft.com/office/drawing/2014/main" id="{8C6DE1DE-82F9-4C9E-8817-73E60BBAABF7}"/>
              </a:ext>
            </a:extLst>
          </p:cNvPr>
          <p:cNvSpPr/>
          <p:nvPr/>
        </p:nvSpPr>
        <p:spPr>
          <a:xfrm>
            <a:off x="4956048" y="2054611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EDA </a:t>
            </a:r>
            <a:r>
              <a:rPr lang="en-US" sz="900" dirty="0" err="1">
                <a:solidFill>
                  <a:srgbClr val="666666"/>
                </a:solidFill>
              </a:rPr>
              <a:t>exploratorio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básico</a:t>
            </a:r>
            <a:endParaRPr lang="en-US" sz="900" dirty="0"/>
          </a:p>
        </p:txBody>
      </p:sp>
      <p:sp>
        <p:nvSpPr>
          <p:cNvPr id="73" name="Shape 15">
            <a:extLst>
              <a:ext uri="{FF2B5EF4-FFF2-40B4-BE49-F238E27FC236}">
                <a16:creationId xmlns:a16="http://schemas.microsoft.com/office/drawing/2014/main" id="{CCCE7987-0D56-C35C-DB63-B199A5ED8827}"/>
              </a:ext>
            </a:extLst>
          </p:cNvPr>
          <p:cNvSpPr/>
          <p:nvPr/>
        </p:nvSpPr>
        <p:spPr>
          <a:xfrm>
            <a:off x="4754880" y="2435675"/>
            <a:ext cx="128016" cy="12801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74" name="Text 16">
            <a:extLst>
              <a:ext uri="{FF2B5EF4-FFF2-40B4-BE49-F238E27FC236}">
                <a16:creationId xmlns:a16="http://schemas.microsoft.com/office/drawing/2014/main" id="{F46EFC4E-D246-AFB7-FF86-4130A232BCE3}"/>
              </a:ext>
            </a:extLst>
          </p:cNvPr>
          <p:cNvSpPr/>
          <p:nvPr/>
        </p:nvSpPr>
        <p:spPr>
          <a:xfrm>
            <a:off x="4956048" y="2380811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666666"/>
                </a:solidFill>
              </a:rPr>
              <a:t>Preprocesamiento</a:t>
            </a:r>
            <a:r>
              <a:rPr lang="en-US" sz="900" dirty="0">
                <a:solidFill>
                  <a:srgbClr val="666666"/>
                </a:solidFill>
              </a:rPr>
              <a:t> con </a:t>
            </a:r>
            <a:r>
              <a:rPr lang="en-US" sz="900" dirty="0" err="1">
                <a:solidFill>
                  <a:srgbClr val="666666"/>
                </a:solidFill>
              </a:rPr>
              <a:t>LabelEncoder</a:t>
            </a:r>
            <a:r>
              <a:rPr lang="en-US" sz="900" dirty="0">
                <a:solidFill>
                  <a:srgbClr val="666666"/>
                </a:solidFill>
              </a:rPr>
              <a:t> y </a:t>
            </a:r>
            <a:r>
              <a:rPr lang="en-US" sz="900" dirty="0" err="1">
                <a:solidFill>
                  <a:srgbClr val="666666"/>
                </a:solidFill>
              </a:rPr>
              <a:t>StandarScaler</a:t>
            </a:r>
            <a:r>
              <a:rPr lang="en-US" sz="900" dirty="0">
                <a:solidFill>
                  <a:srgbClr val="666666"/>
                </a:solidFill>
              </a:rPr>
              <a:t> para </a:t>
            </a:r>
            <a:r>
              <a:rPr lang="en-US" sz="900" dirty="0" err="1">
                <a:solidFill>
                  <a:srgbClr val="666666"/>
                </a:solidFill>
              </a:rPr>
              <a:t>asegurar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que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datos</a:t>
            </a:r>
            <a:r>
              <a:rPr lang="en-US" sz="900" dirty="0">
                <a:solidFill>
                  <a:srgbClr val="666666"/>
                </a:solidFill>
              </a:rPr>
              <a:t> son </a:t>
            </a:r>
            <a:r>
              <a:rPr lang="en-US" sz="900" dirty="0" err="1">
                <a:solidFill>
                  <a:srgbClr val="666666"/>
                </a:solidFill>
              </a:rPr>
              <a:t>numéricos</a:t>
            </a:r>
            <a:r>
              <a:rPr lang="en-US" sz="900" dirty="0">
                <a:solidFill>
                  <a:srgbClr val="666666"/>
                </a:solidFill>
              </a:rPr>
              <a:t> y </a:t>
            </a:r>
            <a:r>
              <a:rPr lang="en-US" sz="900" dirty="0" err="1">
                <a:solidFill>
                  <a:srgbClr val="666666"/>
                </a:solidFill>
              </a:rPr>
              <a:t>escalados</a:t>
            </a:r>
            <a:r>
              <a:rPr lang="en-US" sz="900" dirty="0">
                <a:solidFill>
                  <a:srgbClr val="666666"/>
                </a:solidFill>
              </a:rPr>
              <a:t> (</a:t>
            </a:r>
            <a:r>
              <a:rPr lang="en-US" sz="900" dirty="0" err="1">
                <a:solidFill>
                  <a:srgbClr val="666666"/>
                </a:solidFill>
              </a:rPr>
              <a:t>evitar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problemas</a:t>
            </a:r>
            <a:r>
              <a:rPr lang="en-US" sz="900" dirty="0">
                <a:solidFill>
                  <a:srgbClr val="666666"/>
                </a:solidFill>
              </a:rPr>
              <a:t> de </a:t>
            </a:r>
            <a:r>
              <a:rPr lang="en-US" sz="900" dirty="0" err="1">
                <a:solidFill>
                  <a:srgbClr val="666666"/>
                </a:solidFill>
              </a:rPr>
              <a:t>distancias</a:t>
            </a:r>
            <a:r>
              <a:rPr lang="en-US" sz="900" dirty="0">
                <a:solidFill>
                  <a:srgbClr val="666666"/>
                </a:solidFill>
              </a:rPr>
              <a:t>).</a:t>
            </a:r>
            <a:endParaRPr lang="en-US" sz="900" dirty="0"/>
          </a:p>
        </p:txBody>
      </p:sp>
      <p:sp>
        <p:nvSpPr>
          <p:cNvPr id="75" name="Shape 17">
            <a:extLst>
              <a:ext uri="{FF2B5EF4-FFF2-40B4-BE49-F238E27FC236}">
                <a16:creationId xmlns:a16="http://schemas.microsoft.com/office/drawing/2014/main" id="{E4CADE24-DF84-59CB-3BB3-DC986080A039}"/>
              </a:ext>
            </a:extLst>
          </p:cNvPr>
          <p:cNvSpPr/>
          <p:nvPr/>
        </p:nvSpPr>
        <p:spPr>
          <a:xfrm>
            <a:off x="4754880" y="2839695"/>
            <a:ext cx="128016" cy="12801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76" name="Text 18">
            <a:extLst>
              <a:ext uri="{FF2B5EF4-FFF2-40B4-BE49-F238E27FC236}">
                <a16:creationId xmlns:a16="http://schemas.microsoft.com/office/drawing/2014/main" id="{05F26E47-7A47-7017-BFD3-179AF61D14DE}"/>
              </a:ext>
            </a:extLst>
          </p:cNvPr>
          <p:cNvSpPr/>
          <p:nvPr/>
        </p:nvSpPr>
        <p:spPr>
          <a:xfrm>
            <a:off x="4956048" y="2784831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666666"/>
                </a:solidFill>
              </a:rPr>
              <a:t>Entrenamiento</a:t>
            </a:r>
            <a:r>
              <a:rPr lang="en-US" sz="900" dirty="0">
                <a:solidFill>
                  <a:srgbClr val="666666"/>
                </a:solidFill>
              </a:rPr>
              <a:t> con K-Means , Clustering </a:t>
            </a:r>
            <a:r>
              <a:rPr lang="en-US" sz="900" dirty="0" err="1">
                <a:solidFill>
                  <a:srgbClr val="666666"/>
                </a:solidFill>
              </a:rPr>
              <a:t>jerárquico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Aglomerativo</a:t>
            </a:r>
            <a:r>
              <a:rPr lang="en-US" sz="900" dirty="0">
                <a:solidFill>
                  <a:srgbClr val="666666"/>
                </a:solidFill>
              </a:rPr>
              <a:t> y SOM (redes </a:t>
            </a:r>
            <a:r>
              <a:rPr lang="en-US" sz="900" dirty="0" err="1">
                <a:solidFill>
                  <a:srgbClr val="666666"/>
                </a:solidFill>
              </a:rPr>
              <a:t>neuronales</a:t>
            </a:r>
            <a:r>
              <a:rPr lang="en-US" sz="900" dirty="0">
                <a:solidFill>
                  <a:srgbClr val="666666"/>
                </a:solidFill>
              </a:rPr>
              <a:t>)  </a:t>
            </a:r>
            <a:endParaRPr lang="en-US" sz="900" dirty="0"/>
          </a:p>
        </p:txBody>
      </p:sp>
      <p:sp>
        <p:nvSpPr>
          <p:cNvPr id="77" name="Shape 19">
            <a:extLst>
              <a:ext uri="{FF2B5EF4-FFF2-40B4-BE49-F238E27FC236}">
                <a16:creationId xmlns:a16="http://schemas.microsoft.com/office/drawing/2014/main" id="{97758ADB-7B4A-0831-DE77-1A60BE787977}"/>
              </a:ext>
            </a:extLst>
          </p:cNvPr>
          <p:cNvSpPr/>
          <p:nvPr/>
        </p:nvSpPr>
        <p:spPr>
          <a:xfrm>
            <a:off x="4754880" y="3254188"/>
            <a:ext cx="128016" cy="12801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78" name="Text 20">
            <a:extLst>
              <a:ext uri="{FF2B5EF4-FFF2-40B4-BE49-F238E27FC236}">
                <a16:creationId xmlns:a16="http://schemas.microsoft.com/office/drawing/2014/main" id="{8413412B-80F5-318F-1F4A-5062FA4DF7A3}"/>
              </a:ext>
            </a:extLst>
          </p:cNvPr>
          <p:cNvSpPr/>
          <p:nvPr/>
        </p:nvSpPr>
        <p:spPr>
          <a:xfrm>
            <a:off x="4956048" y="319932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666666"/>
                </a:solidFill>
              </a:rPr>
              <a:t>Evaluación</a:t>
            </a:r>
            <a:r>
              <a:rPr lang="en-US" sz="900" dirty="0">
                <a:solidFill>
                  <a:srgbClr val="666666"/>
                </a:solidFill>
              </a:rPr>
              <a:t> de </a:t>
            </a:r>
            <a:r>
              <a:rPr lang="en-US" sz="900" dirty="0" err="1">
                <a:solidFill>
                  <a:srgbClr val="666666"/>
                </a:solidFill>
              </a:rPr>
              <a:t>resultados</a:t>
            </a:r>
            <a:r>
              <a:rPr lang="en-US" sz="900" dirty="0">
                <a:solidFill>
                  <a:srgbClr val="666666"/>
                </a:solidFill>
              </a:rPr>
              <a:t> con </a:t>
            </a:r>
            <a:r>
              <a:rPr lang="en-US" sz="900" dirty="0" err="1">
                <a:solidFill>
                  <a:srgbClr val="666666"/>
                </a:solidFill>
              </a:rPr>
              <a:t>silueta</a:t>
            </a:r>
            <a:r>
              <a:rPr lang="en-US" sz="900" dirty="0">
                <a:solidFill>
                  <a:srgbClr val="666666"/>
                </a:solidFill>
              </a:rPr>
              <a:t>, </a:t>
            </a:r>
            <a:r>
              <a:rPr lang="en-US" sz="900" dirty="0" err="1">
                <a:solidFill>
                  <a:srgbClr val="666666"/>
                </a:solidFill>
              </a:rPr>
              <a:t>Callinsky</a:t>
            </a:r>
            <a:r>
              <a:rPr lang="en-US" sz="900" dirty="0">
                <a:solidFill>
                  <a:srgbClr val="666666"/>
                </a:solidFill>
              </a:rPr>
              <a:t> – </a:t>
            </a:r>
            <a:r>
              <a:rPr lang="en-US" sz="900" dirty="0" err="1">
                <a:solidFill>
                  <a:srgbClr val="666666"/>
                </a:solidFill>
              </a:rPr>
              <a:t>Harabanz</a:t>
            </a:r>
            <a:r>
              <a:rPr lang="en-US" sz="900" dirty="0">
                <a:solidFill>
                  <a:srgbClr val="666666"/>
                </a:solidFill>
              </a:rPr>
              <a:t> y Davis </a:t>
            </a:r>
            <a:r>
              <a:rPr lang="en-US" sz="900" dirty="0" err="1">
                <a:solidFill>
                  <a:srgbClr val="666666"/>
                </a:solidFill>
              </a:rPr>
              <a:t>Bouldan</a:t>
            </a:r>
            <a:endParaRPr lang="en-US" sz="900" dirty="0"/>
          </a:p>
        </p:txBody>
      </p:sp>
      <p:sp>
        <p:nvSpPr>
          <p:cNvPr id="80" name="CuadroTexto 79">
            <a:extLst>
              <a:ext uri="{FF2B5EF4-FFF2-40B4-BE49-F238E27FC236}">
                <a16:creationId xmlns:a16="http://schemas.microsoft.com/office/drawing/2014/main" id="{17631B4F-1572-77CA-FD80-0B17BA73074F}"/>
              </a:ext>
            </a:extLst>
          </p:cNvPr>
          <p:cNvSpPr txBox="1"/>
          <p:nvPr/>
        </p:nvSpPr>
        <p:spPr>
          <a:xfrm>
            <a:off x="4682798" y="3728251"/>
            <a:ext cx="45784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666666"/>
                </a:solidFill>
              </a:rPr>
              <a:t>Disponible </a:t>
            </a:r>
            <a:r>
              <a:rPr lang="en-US" sz="1800" dirty="0" err="1">
                <a:solidFill>
                  <a:srgbClr val="666666"/>
                </a:solidFill>
              </a:rPr>
              <a:t>en</a:t>
            </a:r>
            <a:r>
              <a:rPr lang="en-US" sz="1800" dirty="0">
                <a:solidFill>
                  <a:srgbClr val="666666"/>
                </a:solidFill>
              </a:rPr>
              <a:t>:</a:t>
            </a:r>
          </a:p>
          <a:p>
            <a:pPr marL="0" indent="0">
              <a:buNone/>
            </a:pPr>
            <a:r>
              <a:rPr lang="en-US" dirty="0" err="1">
                <a:solidFill>
                  <a:srgbClr val="666666"/>
                </a:solidFill>
              </a:rPr>
              <a:t>src</a:t>
            </a:r>
            <a:r>
              <a:rPr lang="en-US" dirty="0">
                <a:solidFill>
                  <a:srgbClr val="666666"/>
                </a:solidFill>
              </a:rPr>
              <a:t>/01_eda_clustering.ipynb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4351954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FA8F03-ABE7-3D15-54D8-5B9BFE5E3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BC3C8AC-6747-7775-BD28-E94742AE2C7A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90AE912-9D82-1149-7765-BEFFA7CC4FDB}"/>
              </a:ext>
            </a:extLst>
          </p:cNvPr>
          <p:cNvSpPr/>
          <p:nvPr/>
        </p:nvSpPr>
        <p:spPr>
          <a:xfrm>
            <a:off x="0" y="64008"/>
            <a:ext cx="164592" cy="5079492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305F8E7-3AD8-89EF-CBE7-EECC5F1E5084}"/>
              </a:ext>
            </a:extLst>
          </p:cNvPr>
          <p:cNvSpPr/>
          <p:nvPr/>
        </p:nvSpPr>
        <p:spPr>
          <a:xfrm>
            <a:off x="292608" y="137160"/>
            <a:ext cx="1645920" cy="274320"/>
          </a:xfrm>
          <a:prstGeom prst="roundRect">
            <a:avLst>
              <a:gd name="adj" fmla="val 13333"/>
            </a:avLst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357459A-CC7E-AFBF-6933-50DDC3977198}"/>
              </a:ext>
            </a:extLst>
          </p:cNvPr>
          <p:cNvSpPr/>
          <p:nvPr/>
        </p:nvSpPr>
        <p:spPr>
          <a:xfrm>
            <a:off x="292608" y="137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◆ ANEXOS</a:t>
            </a:r>
            <a:endParaRPr lang="en-US" sz="9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6EDCE1C-5DCA-7DD8-C78A-73C1BCD12010}"/>
              </a:ext>
            </a:extLst>
          </p:cNvPr>
          <p:cNvSpPr/>
          <p:nvPr/>
        </p:nvSpPr>
        <p:spPr>
          <a:xfrm>
            <a:off x="292608" y="4754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F3D4EAF-3C18-DFBB-D44C-1DCB676431C1}"/>
              </a:ext>
            </a:extLst>
          </p:cNvPr>
          <p:cNvSpPr/>
          <p:nvPr/>
        </p:nvSpPr>
        <p:spPr>
          <a:xfrm>
            <a:off x="292608" y="713232"/>
            <a:ext cx="8641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1A1A1A"/>
                </a:solidFill>
              </a:rPr>
              <a:t>Resultados</a:t>
            </a:r>
            <a:r>
              <a:rPr lang="en-US" sz="2400" b="1" dirty="0">
                <a:solidFill>
                  <a:srgbClr val="1A1A1A"/>
                </a:solidFill>
              </a:rPr>
              <a:t> A-B Test</a:t>
            </a:r>
            <a:endParaRPr lang="en-US" sz="2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88FE10D-08F7-435F-7D59-9D39D6E5E230}"/>
              </a:ext>
            </a:extLst>
          </p:cNvPr>
          <p:cNvSpPr/>
          <p:nvPr/>
        </p:nvSpPr>
        <p:spPr>
          <a:xfrm>
            <a:off x="292608" y="1261872"/>
            <a:ext cx="8641080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D14AC1A4-746B-5E0B-14DA-69F267E1D718}"/>
              </a:ext>
            </a:extLst>
          </p:cNvPr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88797CDD-0EDA-CD1B-1BAB-BED137BD9170}"/>
              </a:ext>
            </a:extLst>
          </p:cNvPr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900" dirty="0"/>
          </a:p>
        </p:txBody>
      </p:sp>
      <p:sp>
        <p:nvSpPr>
          <p:cNvPr id="57" name="Text 54">
            <a:extLst>
              <a:ext uri="{FF2B5EF4-FFF2-40B4-BE49-F238E27FC236}">
                <a16:creationId xmlns:a16="http://schemas.microsoft.com/office/drawing/2014/main" id="{9FFF9E43-C85F-D189-5A5F-B788F12DFB08}"/>
              </a:ext>
            </a:extLst>
          </p:cNvPr>
          <p:cNvSpPr/>
          <p:nvPr/>
        </p:nvSpPr>
        <p:spPr>
          <a:xfrm>
            <a:off x="8412480" y="49011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74C3C"/>
                </a:solidFill>
              </a:rPr>
              <a:t>9 / 9</a:t>
            </a:r>
            <a:endParaRPr lang="en-US" sz="9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A691D145-C939-D5E7-EDD9-B5AE8002C9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930805"/>
            <a:ext cx="3432616" cy="1861468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C929AF41-317E-0E65-FBC7-38886F4E05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8735" y="1930805"/>
            <a:ext cx="5035809" cy="1759040"/>
          </a:xfrm>
          <a:prstGeom prst="rect">
            <a:avLst/>
          </a:prstGeom>
        </p:spPr>
      </p:pic>
      <p:sp>
        <p:nvSpPr>
          <p:cNvPr id="13" name="Text 4">
            <a:extLst>
              <a:ext uri="{FF2B5EF4-FFF2-40B4-BE49-F238E27FC236}">
                <a16:creationId xmlns:a16="http://schemas.microsoft.com/office/drawing/2014/main" id="{F179B3E7-2154-D08D-4773-7E9B665BA2B6}"/>
              </a:ext>
            </a:extLst>
          </p:cNvPr>
          <p:cNvSpPr/>
          <p:nvPr/>
        </p:nvSpPr>
        <p:spPr>
          <a:xfrm>
            <a:off x="1527704" y="1596255"/>
            <a:ext cx="1298318" cy="301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2C2C2C"/>
                </a:solidFill>
              </a:rPr>
              <a:t>DISTRIBUCIÓN</a:t>
            </a:r>
            <a:endParaRPr lang="en-US" sz="1000" dirty="0"/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A7A24CDE-B853-D110-B37D-82A78D24143A}"/>
              </a:ext>
            </a:extLst>
          </p:cNvPr>
          <p:cNvSpPr/>
          <p:nvPr/>
        </p:nvSpPr>
        <p:spPr>
          <a:xfrm>
            <a:off x="5149174" y="1584821"/>
            <a:ext cx="3476017" cy="301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2C2C2C"/>
                </a:solidFill>
              </a:rPr>
              <a:t>ANÁLISIS DE LOS RESULTADOS</a:t>
            </a:r>
            <a:endParaRPr lang="en-US" sz="1000" dirty="0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C63DB9E9-08B0-C724-6BFB-ABFF39DB8E86}"/>
              </a:ext>
            </a:extLst>
          </p:cNvPr>
          <p:cNvSpPr txBox="1"/>
          <p:nvPr/>
        </p:nvSpPr>
        <p:spPr>
          <a:xfrm>
            <a:off x="306355" y="4039862"/>
            <a:ext cx="66205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666666"/>
                </a:solidFill>
              </a:rPr>
              <a:t>Disponible </a:t>
            </a:r>
            <a:r>
              <a:rPr lang="en-US" sz="1800" dirty="0" err="1">
                <a:solidFill>
                  <a:srgbClr val="666666"/>
                </a:solidFill>
              </a:rPr>
              <a:t>en</a:t>
            </a:r>
            <a:r>
              <a:rPr lang="en-US" sz="1800" dirty="0">
                <a:solidFill>
                  <a:srgbClr val="666666"/>
                </a:solidFill>
              </a:rPr>
              <a:t>:</a:t>
            </a:r>
          </a:p>
          <a:p>
            <a:pPr marL="0" indent="0">
              <a:buNone/>
            </a:pPr>
            <a:r>
              <a:rPr lang="en-US" dirty="0">
                <a:solidFill>
                  <a:srgbClr val="666666"/>
                </a:solidFill>
              </a:rPr>
              <a:t>notebooks/02_ab_testing_economic.ipynb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3283549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</TotalTime>
  <Words>1696</Words>
  <Application>Microsoft Office PowerPoint</Application>
  <PresentationFormat>Presentación en pantalla (16:9)</PresentationFormat>
  <Paragraphs>349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6" baseType="lpstr"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osvaldo ceballos</cp:lastModifiedBy>
  <cp:revision>5</cp:revision>
  <dcterms:created xsi:type="dcterms:W3CDTF">2026-05-29T13:15:49Z</dcterms:created>
  <dcterms:modified xsi:type="dcterms:W3CDTF">2026-05-29T18:29:55Z</dcterms:modified>
</cp:coreProperties>
</file>